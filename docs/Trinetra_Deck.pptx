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day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India's registered factories (DGFASLI)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connected those signals in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7C6F5E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minutes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~36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of warning — while every gas sensor still reads below its setpoint.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worker &amp; zone intrusion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Graph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6-stage auditable trace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City refinery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PROACTIVE, NOT REACTIVE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Pre-mortem: the hazard that hasn't happened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searched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hazards found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cross-zone (walkdowns miss)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08792" cy="1554480"/>
          </a:xfrm>
          <a:prstGeom prst="roundRect">
            <a:avLst>
              <a:gd name="adj" fmla="val 5294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931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LARGEST-BLAST-RADIUS 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242816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methane in Coke Oven Battery #1, hot work in the bay, and the crew working next door in the Gas Cleaning Plant — compound CRITICAL by T+10. The blast radius spans the gas-cleaning plant, the confined sump and the maintenance bay. No single zone looks dangerous on its own.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 runs its own deterministic engine as an oracle across the plant's blast-radius map — discovering the cross-zone compounds a zone-by-zone walkdown rates safe, before they occur.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PREVENTION, NOT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 the permit before it’s issued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977640"/>
          </a:xfrm>
          <a:prstGeom prst="roundRect">
            <a:avLst>
              <a:gd name="adj" fmla="val 2069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 DESK · HOT-WORK REQUEST · COB-1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BLOCKED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914400" y="3584448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844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80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6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88920" y="3584448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100 · compound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2062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Issuing this hot-work permit completes the lethal compound pattern — flammable gas + ignition + personnel — minutes before any single sensor would alarm.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852160" y="2011680"/>
            <a:ext cx="5696712" cy="3977640"/>
          </a:xfrm>
          <a:prstGeom prst="roundRect">
            <a:avLst>
              <a:gd name="adj" fmla="val 206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240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CONDITIONS TO ISSUE SAFELY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697480"/>
            <a:ext cx="5166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SzPct val="100000"/>
              <a:buChar char="→"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Gas-free certificate — flammable gas below alarm and falling (OISD-STD-105)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Force-ventilate / purge the zone and re-test the atmosphere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flammable release developing in this zone or any blast-radius neighbour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entry while an ignition source is active in the blast radius (Factory Act §36 / §37)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26480" y="50292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inverse of detection: simulate the plant WITH the proposed permit, and refuse it if issuing it would create — or add people to — a compound hazard.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Vizag hot-work permit, evaluated against that same rising atmosphere, is refused before the crew ever strikes an arc.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D1206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 AUTO-INITIATED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11 hard negatives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3B2E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7C6F5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a buyer underwrites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840480"/>
          </a:xfrm>
          <a:prstGeom prst="roundRect">
            <a:avLst>
              <a:gd name="adj" fmla="val 214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PREVENTED INCIDENT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₹115.5 Cr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loss — Vizag-class 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39776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₹7.5 Cr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398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damage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43982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₹40 Cr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188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(21 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48188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₹63 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39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penalty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52395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₹5 Cr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2011680"/>
            <a:ext cx="5696712" cy="2514600"/>
          </a:xfrm>
          <a:prstGeom prst="roundRect">
            <a:avLst>
              <a:gd name="adj" fmla="val 3273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2128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ANNUAL RETURN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≈7.7×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7726680" y="25420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 on the ₹1 Cr/plant/yr platform — even at a conservative 1-in-15-year 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3.9×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264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1-in-30 yr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9552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7.7×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9552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1-in-15 yr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840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14.4×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840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1-in-8 yr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52160" y="4663440"/>
            <a:ext cx="5696712" cy="1188720"/>
          </a:xfrm>
          <a:prstGeom prst="roundRect">
            <a:avLst>
              <a:gd name="adj" fmla="val 6923"/>
            </a:avLst>
          </a:prstGeom>
          <a:solidFill>
            <a:srgbClr val="14130F"/>
          </a:solidFill>
          <a:ln w="12700">
            <a:solidFill>
              <a:srgbClr val="6B788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INSURANCE LEVER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10235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premium reduction of ₹0.4–1.2 Cr/yr (5–15% for continuous monitoring) — it offsets the platform cost whether or not an incident ever occurs.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Per-incident loss (lives + asset + downtime + penalty), every figure sourced, × a conservative event frequency — not a 116×-per-incident headline.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wedge, a buyer, a trigger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412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1284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0" y="221284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process-safety head / safety officer — owns permit-to-work and statutory compliance, carries the fatality risk.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54096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6382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43200" y="3163824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intelligence — one discrete, fundable pain — then expand to full gas + permit + CCTV + shift fusion.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05072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05072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 Cr / plant / yr — justified against a single downtime-day (~₹3 Cr) or one OISD / NGT penalty.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56048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56048"/>
            <a:ext cx="64008" cy="8412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5065776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Post-LG-Polymers / Vizag regulatory pressure — DGMS scrutiny and mandatory near-miss reporting.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43600"/>
            <a:ext cx="10908792" cy="640080"/>
          </a:xfrm>
          <a:prstGeom prst="roundRect">
            <a:avLst>
              <a:gd name="adj" fmla="val 1285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design partners (steel / refining) for a 90-day pilot on a live permit-to-work + gas feed.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 HORIZONTALLY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engine. Every plant.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plants online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852928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2928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852928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monitored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65776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65776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compound now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78624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78624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exposed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491472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1472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+6m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491472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lead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273552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273552"/>
            <a:ext cx="54864" cy="402336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27355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Visakhapatnam Steel — Coke Ovens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75120" y="32735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· COMPOUND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49840" y="32735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+6m lead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21608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721608"/>
            <a:ext cx="54864" cy="402336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21608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Paradip Refinery — Coker Unit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675120" y="372160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COMPOUND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149840" y="372160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+4m lead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169664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169664"/>
            <a:ext cx="54864" cy="402336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16966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Dahej Petrochemicals — Gas Cleaning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675120" y="416966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gas, no compound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17720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617720"/>
            <a:ext cx="54864" cy="402336"/>
          </a:xfrm>
          <a:prstGeom prst="rect">
            <a:avLst/>
          </a:prstGeom>
          <a:solidFill>
            <a:srgbClr val="EFC23C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4617720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Ennore Terminal — Utilities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675120" y="46177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C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· gas, no compound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65776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5065776"/>
            <a:ext cx="54864" cy="402336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5065776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Bhilai Steel — Blast Furnace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675120" y="50657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permits clear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13832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13832"/>
            <a:ext cx="54864" cy="402336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551383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Haldia — Pump House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675120" y="551383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transient cleared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compound engine across every site — O(zones) per plant, horizontally shardable. Digital-twin sites stand in for live OPC-UA / MQTT feeds; ingesting real plant data is a connector, not a rewrite.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EARNS ITS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plant learns its own nuisance profile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 verdict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145536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11296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Per-plant threshold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016752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82512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Fewer nuisance pages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87968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53728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45168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↑ · faster action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10908792" cy="1280160"/>
          </a:xfrm>
          <a:prstGeom prst="roundRect">
            <a:avLst>
              <a:gd name="adj" fmla="val 64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NON-COMPOUND ALERT THRESHOLD · LEARNED PER PLANT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749040"/>
            <a:ext cx="6400800" cy="548640"/>
          </a:xfrm>
          <a:prstGeom prst="roundRect">
            <a:avLst>
              <a:gd name="adj" fmla="val 833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49040"/>
            <a:ext cx="1920240" cy="54864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19" name="Shape 17"/>
          <p:cNvSpPr/>
          <p:nvPr/>
        </p:nvSpPr>
        <p:spPr>
          <a:xfrm>
            <a:off x="2825496" y="3749040"/>
            <a:ext cx="27432" cy="548640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· auto-ack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2316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3749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89520" y="3749040"/>
            <a:ext cx="3959352" cy="548640"/>
          </a:xfrm>
          <a:prstGeom prst="roundRect">
            <a:avLst>
              <a:gd name="adj" fmla="val 15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0" y="374904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≥60  HIGH / CRITICAL / COMPOUND — ALWAYS PAGES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GUARDRAIL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Compound, HIGH and CRITICAL alerts bypass the threshold entirely. Feedback can only ever damp non-compound nuisance pages — never reduce recall.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FLYWHEEL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3952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confirmed false alarm raises the threshold; a confirmed alert relaxes it. Each plant quietly auto-acknowledges its own routine excursions — fewer nuisance pages, faster action on the ones that matter.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engine is untouched — the benchmark (100% recall / 0% false-positive) is byte-identical with or without feedback.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DEPLOYS OVER YOUR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historian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MQTT / PI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CCTV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45536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pre-filter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48456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+ normalise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plant edge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91072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O(zones)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96528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16568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Control-room HMI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split-reality view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response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90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~10,000 tags @ 1 Hz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54681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single node — the engine is O(zones) per frame, one instance per plant (fleet view above). No GPU in the life-safety path.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526280"/>
            <a:ext cx="5239512" cy="1508760"/>
          </a:xfrm>
          <a:prstGeom prst="roundRect">
            <a:avLst>
              <a:gd name="adj" fmla="val 545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7823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681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 data as-is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65392" y="52395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5138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or on-prem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12280" y="53583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has to leave the plant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65392" y="56967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596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core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5815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decision a safety officer can defend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workers a day.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2026-06-23T15:35:42Z</dcterms:created>
  <dcterms:modified xsi:type="dcterms:W3CDTF">2026-06-23T15:35:42Z</dcterms:modified>
</cp:coreProperties>
</file>