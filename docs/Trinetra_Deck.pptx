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325880"/>
            <a:ext cx="457200" cy="91440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47104" y="2240280"/>
            <a:ext cx="-914400" cy="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32704" y="2240280"/>
            <a:ext cx="457200" cy="-91440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805940"/>
            <a:ext cx="384048" cy="251460"/>
          </a:xfrm>
          <a:prstGeom prst="ellipse">
            <a:avLst/>
          </a:prstGeom>
          <a:ln w="19050">
            <a:solidFill>
              <a:srgbClr val="34D3B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7900" y="1883664"/>
            <a:ext cx="82296" cy="8229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spc="1000" kern="0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0" y="3383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THIRD EYE THAT SEES THE DANGER NO SINGLE SENSOR CAN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3794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compound-risk intelligence for zero-harm industrial operations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compound recall</a:t>
            </a:r>
            <a:pPr algn="ctr" indent="0" marL="0">
              <a:buNone/>
            </a:pPr>
            <a:r>
              <a:rPr lang="en-US" sz="13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3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mean early-warning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Saud Satopay   ·   ET AI Hackathon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present. Unacted upon.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13 January 2025, eight workers died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coke-oven-battery explosion at the Visakhapatnam Steel Plant.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gas sensors had data. The permits were logged. SCADA was running.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B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layer connected those signals in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23760" y="1874520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1874520"/>
            <a:ext cx="64008" cy="1298448"/>
          </a:xfrm>
          <a:prstGeom prst="rect">
            <a:avLst/>
          </a:prstGeom>
          <a:solidFill>
            <a:srgbClr val="FB3B4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0574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235440" y="2057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killed at Vizag, Jan 2025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3355848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0" y="3355848"/>
            <a:ext cx="64008" cy="1298448"/>
          </a:xfrm>
          <a:prstGeom prst="rect">
            <a:avLst/>
          </a:prstGeom>
          <a:solidFill>
            <a:srgbClr val="E8862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353872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6,500+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235440" y="35387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 workplace accidents / year (India)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4837176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0" y="4837176"/>
            <a:ext cx="64008" cy="129844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0" y="50200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35440" y="502005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large plants rely on manual handoffs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risk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Rising flammable gas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below its alarm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hot-work permit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ignition source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3232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6092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16" name="Text 14"/>
          <p:cNvSpPr/>
          <p:nvPr/>
        </p:nvSpPr>
        <p:spPr>
          <a:xfrm>
            <a:off x="7635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Personnel present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6092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confined space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6092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3950208"/>
            <a:ext cx="301752" cy="27432"/>
          </a:xfrm>
          <a:prstGeom prst="rect">
            <a:avLst/>
          </a:prstGeom>
          <a:solidFill>
            <a:srgbClr val="6B788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16052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lethal combination no single sensor flags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0584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green lights. One lethal combination — hours before it becomes critical.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reality at T + 8 min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 SINGLE-SENSOR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3154680"/>
            <a:ext cx="292608" cy="292608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9D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CLEAR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gas reads below its setpoint.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detection only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40680" y="2971800"/>
            <a:ext cx="1325880" cy="1645920"/>
          </a:xfrm>
          <a:prstGeom prst="roundRect">
            <a:avLst>
              <a:gd name="adj" fmla="val 6207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0680" y="31546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44068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42062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76872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51192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COMPOUND 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51192" y="3154680"/>
            <a:ext cx="292608" cy="292608"/>
          </a:xfrm>
          <a:prstGeom prst="ellipse">
            <a:avLst/>
          </a:prstGeom>
          <a:solidFill>
            <a:srgbClr val="FB3B4E"/>
          </a:solidFill>
          <a:ln/>
        </p:spPr>
      </p:sp>
      <p:sp>
        <p:nvSpPr>
          <p:cNvPr id="17" name="Text 15"/>
          <p:cNvSpPr/>
          <p:nvPr/>
        </p:nvSpPr>
        <p:spPr>
          <a:xfrm>
            <a:off x="7708392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ALERT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251192" y="3840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COB-1 critical · breach predicted ~22 min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CH4 + hot-work permit + 3 personnel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51192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multi-signal fusion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minutes is the difference between an evacuation and a funeral.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multi-modal brain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94560"/>
            <a:ext cx="2112264" cy="6400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gas trend + permits + people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16936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16936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0" name="Text 8"/>
          <p:cNvSpPr/>
          <p:nvPr/>
        </p:nvSpPr>
        <p:spPr>
          <a:xfrm>
            <a:off x="3081528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81528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worker &amp; zone intrusion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93792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93792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4" name="Text 12"/>
          <p:cNvSpPr/>
          <p:nvPr/>
        </p:nvSpPr>
        <p:spPr>
          <a:xfrm>
            <a:off x="5358384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58384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6-agent pipeline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70648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70648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8" name="Text 16"/>
          <p:cNvSpPr/>
          <p:nvPr/>
        </p:nvSpPr>
        <p:spPr>
          <a:xfrm>
            <a:off x="7635240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 RAG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35240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precedent matching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47504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94560"/>
            <a:ext cx="2112264" cy="64008"/>
          </a:xfrm>
          <a:prstGeom prst="rect">
            <a:avLst/>
          </a:prstGeom>
          <a:solidFill>
            <a:srgbClr val="FB3B4E"/>
          </a:solidFill>
          <a:ln/>
        </p:spPr>
      </p:sp>
      <p:sp>
        <p:nvSpPr>
          <p:cNvPr id="22" name="Text 20"/>
          <p:cNvSpPr/>
          <p:nvPr/>
        </p:nvSpPr>
        <p:spPr>
          <a:xfrm>
            <a:off x="9912096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912096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+ multilingual alerts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by design:  </a:t>
            </a:r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backbone makes the life-safety decision — the LLM only explains, retrieves precedent, and drafts reports. No black box in the loop.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We've seen this death before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57600" cy="3383280"/>
          </a:xfrm>
          <a:prstGeom prst="roundRect">
            <a:avLst>
              <a:gd name="adj" fmla="val 2432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06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MATCH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Visakhapatnam coke-oven  explosion · 2025 · 8 killed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2103120"/>
            <a:ext cx="6976872" cy="2331720"/>
          </a:xfrm>
          <a:prstGeom prst="roundRect">
            <a:avLst>
              <a:gd name="adj" fmla="val 3529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GROUNDED BRIEFING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6446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present condition echoes the Visakhapatnam coke-oven explosion — rising CH4 alongside an active ignition source mirrors the precedent's root cause of unacted-upon warnings. The single most important action is the immediate cessation of hot-work and evacuation of personnel.”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City refinery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0296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23176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72%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854696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Hot-work ignition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308592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91472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222992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Alpha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conditions embedded with Gemini, matched against a corpus of real industrial disasters.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draft → alert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577840" cy="4023360"/>
          </a:xfrm>
          <a:prstGeom prst="roundRect">
            <a:avLst>
              <a:gd name="adj" fmla="val 204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AUTO-DRAFTED INCIDENT REPORT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Summary  ·  2. Conditions Detected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Compound Risk Assessment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Immediate Actions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Regulatory References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Factory Act 1948 §36 / §37 / §38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OISD-STD-105 (Work Permit System)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Corrective Actions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103120"/>
            <a:ext cx="5148072" cy="1874520"/>
          </a:xfrm>
          <a:prstGeom prst="roundRect">
            <a:avLst>
              <a:gd name="adj" fmla="val 4390"/>
            </a:avLst>
          </a:prstGeom>
          <a:solidFill>
            <a:srgbClr val="1A1407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EVACUATION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 in COB-1. Evacuate now. Do not operate hot-work or electrical equipment.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English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0956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Telugu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Hindi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160520"/>
            <a:ext cx="5148072" cy="1965960"/>
          </a:xfrm>
          <a:prstGeom prst="roundRect">
            <a:avLst>
              <a:gd name="adj" fmla="val 4186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 AUTO-INITIATED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47091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25000"/>
              </a:lnSpc>
              <a:buSzPct val="100000"/>
              <a:buChar char="✓"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hot-work permit PTW-7741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&amp; page response team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sensor + CCTV evidence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preliminary incident report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Measured, not claimed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recall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 hazards caught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4256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17136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false-positive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7136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11 hard negatives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28432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7.4 min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8211312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mean early-warning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11312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single-sensor baseline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VIZAG RECONSTRUCTION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5577840"/>
            <a:ext cx="10058400" cy="0"/>
          </a:xfrm>
          <a:prstGeom prst="line">
            <a:avLst/>
          </a:prstGeom>
          <a:noFill/>
          <a:ln w="19050">
            <a:solidFill>
              <a:srgbClr val="2631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" y="5513832"/>
            <a:ext cx="146304" cy="146304"/>
          </a:xfrm>
          <a:prstGeom prst="ellipse">
            <a:avLst/>
          </a:prstGeom>
          <a:solidFill>
            <a:srgbClr val="6B788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59352" y="5513832"/>
            <a:ext cx="146304" cy="146304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t8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10896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Trinetra: COMPOUND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14232" y="5513832"/>
            <a:ext cx="146304" cy="146304"/>
          </a:xfrm>
          <a:prstGeom prst="ellipse">
            <a:avLst/>
          </a:prstGeom>
          <a:solidFill>
            <a:srgbClr val="FB3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3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Legacy: gas alarm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 min lead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&amp; DEPLOY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Sits over the sensors you already have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06040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3134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715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permit-to-work data as-is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04488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40142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→ live plant swaps the data source, not the brain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45736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202936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9103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Auditable &amp; hybrid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53126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 a safety officer can defend in an audit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4325112" cy="3694176"/>
          </a:xfrm>
          <a:prstGeom prst="roundRect">
            <a:avLst>
              <a:gd name="adj" fmla="val 2228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DEPLOYS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2834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0" y="31455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 ovens, blast furnaces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3584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Refining &amp; Petrochem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8953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permit-to-work regimes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0" y="43342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645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confined-space &amp; gas hazards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840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&amp; Chemicals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5394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asset-intensive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097280"/>
            <a:ext cx="411480" cy="82296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01384" y="1920240"/>
            <a:ext cx="-822960" cy="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78424" y="1920240"/>
            <a:ext cx="411480" cy="-82296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17082" y="1529334"/>
            <a:ext cx="345643" cy="226314"/>
          </a:xfrm>
          <a:prstGeom prst="ellipse">
            <a:avLst/>
          </a:prstGeom>
          <a:ln w="19050">
            <a:solidFill>
              <a:srgbClr val="34D3B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61100" y="1599286"/>
            <a:ext cx="74066" cy="7406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6,500 deaths a year.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 already exists.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 is the layer that acts — before, not after.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recall</a:t>
            </a:r>
            <a:pPr algn="ctr" indent="0" marL="0">
              <a:buNone/>
            </a:pPr>
            <a:r>
              <a:rPr lang="en-US" sz="14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4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early-warning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  ·   Saud Satopay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</dc:title>
  <dc:subject>PptxGenJS Presentation</dc:subject>
  <dc:creator>Saud Satopay</dc:creator>
  <cp:lastModifiedBy>Saud Satopay</cp:lastModifiedBy>
  <cp:revision>1</cp:revision>
  <dcterms:created xsi:type="dcterms:W3CDTF">2026-06-22T18:29:32Z</dcterms:created>
  <dcterms:modified xsi:type="dcterms:W3CDTF">2026-06-22T18:29:32Z</dcterms:modified>
</cp:coreProperties>
</file>