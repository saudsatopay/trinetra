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1152144"/>
            <a:ext cx="475488" cy="950976"/>
          </a:xfrm>
          <a:prstGeom prst="line">
            <a:avLst/>
          </a:prstGeom>
          <a:noFill/>
          <a:ln w="28575">
            <a:solidFill>
              <a:srgbClr val="FF6A1A"/>
            </a:solidFill>
            <a:prstDash val="solid"/>
          </a:ln>
        </p:spPr>
      </p:sp>
      <p:sp>
        <p:nvSpPr>
          <p:cNvPr id="3" name="Shape 1"/>
          <p:cNvSpPr/>
          <p:nvPr/>
        </p:nvSpPr>
        <p:spPr>
          <a:xfrm>
            <a:off x="5620360" y="2103120"/>
            <a:ext cx="950976" cy="0"/>
          </a:xfrm>
          <a:prstGeom prst="line">
            <a:avLst/>
          </a:prstGeom>
          <a:noFill/>
          <a:ln w="28575">
            <a:solidFill>
              <a:srgbClr val="FF6A1A"/>
            </a:solidFill>
            <a:prstDash val="solid"/>
          </a:ln>
        </p:spPr>
      </p:sp>
      <p:sp>
        <p:nvSpPr>
          <p:cNvPr id="4" name="Shape 2"/>
          <p:cNvSpPr/>
          <p:nvPr/>
        </p:nvSpPr>
        <p:spPr>
          <a:xfrm flipH="1">
            <a:off x="5620360" y="1152144"/>
            <a:ext cx="475488" cy="950976"/>
          </a:xfrm>
          <a:prstGeom prst="line">
            <a:avLst/>
          </a:prstGeom>
          <a:noFill/>
          <a:ln w="28575">
            <a:solidFill>
              <a:srgbClr val="FF6A1A"/>
            </a:solidFill>
            <a:prstDash val="solid"/>
          </a:ln>
        </p:spPr>
      </p:sp>
      <p:sp>
        <p:nvSpPr>
          <p:cNvPr id="5" name="Shape 3"/>
          <p:cNvSpPr/>
          <p:nvPr/>
        </p:nvSpPr>
        <p:spPr>
          <a:xfrm>
            <a:off x="5896143" y="1656161"/>
            <a:ext cx="399410" cy="247254"/>
          </a:xfrm>
          <a:prstGeom prst="ellipse">
            <a:avLst/>
          </a:prstGeom>
          <a:ln w="22225">
            <a:solidFill>
              <a:srgbClr val="FF6A1A"/>
            </a:solidFill>
            <a:prstDash val="solid"/>
          </a:ln>
        </p:spPr>
      </p:sp>
      <p:sp>
        <p:nvSpPr>
          <p:cNvPr id="6" name="Shape 4"/>
          <p:cNvSpPr/>
          <p:nvPr/>
        </p:nvSpPr>
        <p:spPr>
          <a:xfrm>
            <a:off x="6055431" y="1739372"/>
            <a:ext cx="80833" cy="80833"/>
          </a:xfrm>
          <a:prstGeom prst="ellipse">
            <a:avLst/>
          </a:prstGeom>
          <a:solidFill>
            <a:srgbClr val="FF6A1A"/>
          </a:solidFill>
          <a:ln/>
        </p:spPr>
      </p:sp>
      <p:sp>
        <p:nvSpPr>
          <p:cNvPr id="7" name="Text 5"/>
          <p:cNvSpPr/>
          <p:nvPr/>
        </p:nvSpPr>
        <p:spPr>
          <a:xfrm>
            <a:off x="0" y="2331720"/>
            <a:ext cx="12191695" cy="1143000"/>
          </a:xfrm>
          <a:prstGeom prst="rect">
            <a:avLst/>
          </a:prstGeom>
          <a:noFill/>
          <a:ln/>
        </p:spPr>
        <p:txBody>
          <a:bodyPr wrap="square" lIns="0" tIns="0" rIns="0" bIns="0" rtlCol="0" anchor="t"/>
          <a:lstStyle/>
          <a:p>
            <a:pPr algn="ctr" indent="0" marL="0">
              <a:buNone/>
            </a:pPr>
            <a:r>
              <a:rPr lang="en-US" sz="8200" spc="800" kern="0" dirty="0">
                <a:solidFill>
                  <a:srgbClr val="FBF6EC"/>
                </a:solidFill>
                <a:latin typeface="Bahnschrift SemiBold" pitchFamily="34" charset="0"/>
                <a:ea typeface="Bahnschrift SemiBold" pitchFamily="34" charset="-122"/>
                <a:cs typeface="Bahnschrift SemiBold" pitchFamily="34" charset="-120"/>
              </a:rPr>
              <a:t>TRINETRA</a:t>
            </a:r>
            <a:endParaRPr lang="en-US" sz="8200" dirty="0"/>
          </a:p>
        </p:txBody>
      </p:sp>
      <p:sp>
        <p:nvSpPr>
          <p:cNvPr id="8" name="Shape 6"/>
          <p:cNvSpPr/>
          <p:nvPr/>
        </p:nvSpPr>
        <p:spPr>
          <a:xfrm>
            <a:off x="5090008" y="3584448"/>
            <a:ext cx="2011680" cy="27432"/>
          </a:xfrm>
          <a:prstGeom prst="rect">
            <a:avLst/>
          </a:prstGeom>
          <a:solidFill>
            <a:srgbClr val="FF6A1A"/>
          </a:solidFill>
          <a:ln/>
        </p:spPr>
      </p:sp>
      <p:sp>
        <p:nvSpPr>
          <p:cNvPr id="9" name="Text 7"/>
          <p:cNvSpPr/>
          <p:nvPr/>
        </p:nvSpPr>
        <p:spPr>
          <a:xfrm>
            <a:off x="0" y="3822192"/>
            <a:ext cx="12191695" cy="320040"/>
          </a:xfrm>
          <a:prstGeom prst="rect">
            <a:avLst/>
          </a:prstGeom>
          <a:noFill/>
          <a:ln/>
        </p:spPr>
        <p:txBody>
          <a:bodyPr wrap="square" lIns="0" tIns="0" rIns="0" bIns="0" rtlCol="0" anchor="t"/>
          <a:lstStyle/>
          <a:p>
            <a:pPr algn="ctr" indent="0" marL="0">
              <a:buNone/>
            </a:pPr>
            <a:r>
              <a:rPr lang="en-US" sz="1200" spc="200" kern="0" dirty="0">
                <a:solidFill>
                  <a:srgbClr val="FF6A1A"/>
                </a:solidFill>
                <a:latin typeface="Cascadia Mono" pitchFamily="34" charset="0"/>
                <a:ea typeface="Cascadia Mono" pitchFamily="34" charset="-122"/>
                <a:cs typeface="Cascadia Mono" pitchFamily="34" charset="-120"/>
              </a:rPr>
              <a:t>THE THIRD EYE THAT SEES THE DANGER NO SINGLE SENSOR CAN</a:t>
            </a:r>
            <a:endParaRPr lang="en-US" sz="1200" dirty="0"/>
          </a:p>
        </p:txBody>
      </p:sp>
      <p:sp>
        <p:nvSpPr>
          <p:cNvPr id="10" name="Text 8"/>
          <p:cNvSpPr/>
          <p:nvPr/>
        </p:nvSpPr>
        <p:spPr>
          <a:xfrm>
            <a:off x="0" y="4261104"/>
            <a:ext cx="12191695" cy="365760"/>
          </a:xfrm>
          <a:prstGeom prst="rect">
            <a:avLst/>
          </a:prstGeom>
          <a:noFill/>
          <a:ln/>
        </p:spPr>
        <p:txBody>
          <a:bodyPr wrap="square" lIns="0" tIns="0" rIns="0" bIns="0" rtlCol="0" anchor="t"/>
          <a:lstStyle/>
          <a:p>
            <a:pPr algn="ctr" indent="0" marL="0">
              <a:buNone/>
            </a:pPr>
            <a:r>
              <a:rPr lang="en-US" sz="1700" dirty="0">
                <a:solidFill>
                  <a:srgbClr val="C6B9A6"/>
                </a:solidFill>
                <a:latin typeface="Segoe UI Light" pitchFamily="34" charset="0"/>
                <a:ea typeface="Segoe UI Light" pitchFamily="34" charset="-122"/>
                <a:cs typeface="Segoe UI Light" pitchFamily="34" charset="-120"/>
              </a:rPr>
              <a:t>AI compound-risk intelligence for zero-harm industrial operations</a:t>
            </a:r>
            <a:endParaRPr lang="en-US" sz="1700" dirty="0"/>
          </a:p>
        </p:txBody>
      </p:sp>
      <p:sp>
        <p:nvSpPr>
          <p:cNvPr id="11" name="Text 9"/>
          <p:cNvSpPr/>
          <p:nvPr/>
        </p:nvSpPr>
        <p:spPr>
          <a:xfrm>
            <a:off x="0" y="544068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compound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mean lead</a:t>
            </a:r>
            <a:endParaRPr lang="en-US" sz="1400" dirty="0"/>
          </a:p>
        </p:txBody>
      </p:sp>
      <p:sp>
        <p:nvSpPr>
          <p:cNvPr id="12" name="Text 10"/>
          <p:cNvSpPr/>
          <p:nvPr/>
        </p:nvSpPr>
        <p:spPr>
          <a:xfrm>
            <a:off x="0" y="635508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SAUD SATOPAY   ·   ET AI HACKATHON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02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PROBLEM</a:t>
            </a:r>
            <a:endParaRPr lang="en-US" sz="1050" dirty="0"/>
          </a:p>
        </p:txBody>
      </p:sp>
      <p:sp>
        <p:nvSpPr>
          <p:cNvPr id="8" name="Text 6"/>
          <p:cNvSpPr/>
          <p:nvPr/>
        </p:nvSpPr>
        <p:spPr>
          <a:xfrm>
            <a:off x="777240" y="969264"/>
            <a:ext cx="6035040" cy="1645920"/>
          </a:xfrm>
          <a:prstGeom prst="rect">
            <a:avLst/>
          </a:prstGeom>
          <a:noFill/>
          <a:ln/>
        </p:spPr>
        <p:txBody>
          <a:bodyPr wrap="square" lIns="0" tIns="0" rIns="0" bIns="0" rtlCol="0" anchor="t"/>
          <a:lstStyle/>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Data present.</a:t>
            </a:r>
            <a:endParaRPr lang="en-US" sz="4000" dirty="0"/>
          </a:p>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Unacted upon.</a:t>
            </a:r>
            <a:endParaRPr lang="en-US" sz="4000" dirty="0"/>
          </a:p>
        </p:txBody>
      </p:sp>
      <p:sp>
        <p:nvSpPr>
          <p:cNvPr id="9" name="Text 7"/>
          <p:cNvSpPr/>
          <p:nvPr/>
        </p:nvSpPr>
        <p:spPr>
          <a:xfrm>
            <a:off x="777240" y="3063240"/>
            <a:ext cx="5943600" cy="2377440"/>
          </a:xfrm>
          <a:prstGeom prst="rect">
            <a:avLst/>
          </a:prstGeom>
          <a:noFill/>
          <a:ln/>
        </p:spPr>
        <p:txBody>
          <a:bodyPr wrap="square" lIns="0" tIns="0" rIns="0" bIns="0" rtlCol="0" anchor="t"/>
          <a:lstStyle/>
          <a:p>
            <a:pPr indent="0" marL="0">
              <a:lnSpc>
                <a:spcPct val="130000"/>
              </a:lnSpc>
              <a:buNone/>
            </a:pPr>
            <a:r>
              <a:rPr lang="en-US" sz="1700" b="1" dirty="0">
                <a:solidFill>
                  <a:srgbClr val="FBF6EC"/>
                </a:solidFill>
                <a:latin typeface="Segoe UI" pitchFamily="34" charset="0"/>
                <a:ea typeface="Segoe UI" pitchFamily="34" charset="-122"/>
                <a:cs typeface="Segoe UI" pitchFamily="34" charset="-120"/>
              </a:rPr>
              <a:t>On 13 January 2025, eight workers died</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in a coke-oven-battery explosion at the Visakhapatnam Steel Plant.</a:t>
            </a:r>
            <a:endParaRPr lang="en-US" sz="1700" dirty="0"/>
          </a:p>
          <a:p>
            <a:pPr indent="0" marL="0">
              <a:lnSpc>
                <a:spcPct val="130000"/>
              </a:lnSpc>
              <a:buNone/>
            </a:pPr>
            <a:r>
              <a:rPr lang="en-US" sz="800" dirty="0">
                <a:solidFill>
                  <a:srgbClr val="000000"/>
                </a:solidFill>
                <a:latin typeface="Segoe UI" pitchFamily="34" charset="0"/>
                <a:ea typeface="Segoe UI" pitchFamily="34" charset="-122"/>
                <a:cs typeface="Segoe UI" pitchFamily="34" charset="-120"/>
              </a:rPr>
              <a:t> </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The gas sensors had data. The permits were logged. SCADA was running.</a:t>
            </a:r>
            <a:endParaRPr lang="en-US" sz="1700" dirty="0"/>
          </a:p>
          <a:p>
            <a:pPr indent="0" marL="0">
              <a:lnSpc>
                <a:spcPct val="130000"/>
              </a:lnSpc>
              <a:buNone/>
            </a:pPr>
            <a:r>
              <a:rPr lang="en-US" sz="1700" b="1" dirty="0">
                <a:solidFill>
                  <a:srgbClr val="FF2B4E"/>
                </a:solidFill>
                <a:latin typeface="Segoe UI" pitchFamily="34" charset="0"/>
                <a:ea typeface="Segoe UI" pitchFamily="34" charset="-122"/>
                <a:cs typeface="Segoe UI" pitchFamily="34" charset="-120"/>
              </a:rPr>
              <a:t>No layer connected those signals in time.</a:t>
            </a:r>
            <a:endParaRPr lang="en-US" sz="1700" dirty="0"/>
          </a:p>
        </p:txBody>
      </p:sp>
      <p:sp>
        <p:nvSpPr>
          <p:cNvPr id="10" name="Shape 8"/>
          <p:cNvSpPr/>
          <p:nvPr/>
        </p:nvSpPr>
        <p:spPr>
          <a:xfrm>
            <a:off x="7269480" y="1783080"/>
            <a:ext cx="4144975" cy="0"/>
          </a:xfrm>
          <a:prstGeom prst="line">
            <a:avLst/>
          </a:prstGeom>
          <a:noFill/>
          <a:ln w="12700">
            <a:solidFill>
              <a:srgbClr val="2A2118"/>
            </a:solidFill>
            <a:prstDash val="solid"/>
          </a:ln>
        </p:spPr>
      </p:sp>
      <p:sp>
        <p:nvSpPr>
          <p:cNvPr id="11" name="Text 9"/>
          <p:cNvSpPr/>
          <p:nvPr/>
        </p:nvSpPr>
        <p:spPr>
          <a:xfrm>
            <a:off x="7269480" y="1911096"/>
            <a:ext cx="2286000" cy="868680"/>
          </a:xfrm>
          <a:prstGeom prst="rect">
            <a:avLst/>
          </a:prstGeom>
          <a:noFill/>
          <a:ln/>
        </p:spPr>
        <p:txBody>
          <a:bodyPr wrap="square" lIns="0" tIns="0" rIns="0" bIns="0" rtlCol="0" anchor="t"/>
          <a:lstStyle/>
          <a:p>
            <a:pPr indent="0" marL="0">
              <a:buNone/>
            </a:pPr>
            <a:r>
              <a:rPr lang="en-US" sz="4200" dirty="0">
                <a:solidFill>
                  <a:srgbClr val="FF2B4E"/>
                </a:solidFill>
                <a:latin typeface="Bahnschrift SemiBold" pitchFamily="34" charset="0"/>
                <a:ea typeface="Bahnschrift SemiBold" pitchFamily="34" charset="-122"/>
                <a:cs typeface="Bahnschrift SemiBold" pitchFamily="34" charset="-120"/>
              </a:rPr>
              <a:t>8</a:t>
            </a:r>
            <a:endParaRPr lang="en-US" sz="4200" dirty="0"/>
          </a:p>
        </p:txBody>
      </p:sp>
      <p:sp>
        <p:nvSpPr>
          <p:cNvPr id="12" name="Text 10"/>
          <p:cNvSpPr/>
          <p:nvPr/>
        </p:nvSpPr>
        <p:spPr>
          <a:xfrm>
            <a:off x="9601200" y="1965960"/>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workers killed at Vizag · Jan 2025</a:t>
            </a:r>
            <a:endParaRPr lang="en-US" sz="1250" dirty="0"/>
          </a:p>
        </p:txBody>
      </p:sp>
      <p:sp>
        <p:nvSpPr>
          <p:cNvPr id="13" name="Shape 11"/>
          <p:cNvSpPr/>
          <p:nvPr/>
        </p:nvSpPr>
        <p:spPr>
          <a:xfrm>
            <a:off x="7269480" y="3172968"/>
            <a:ext cx="4144975" cy="0"/>
          </a:xfrm>
          <a:prstGeom prst="line">
            <a:avLst/>
          </a:prstGeom>
          <a:noFill/>
          <a:ln w="12700">
            <a:solidFill>
              <a:srgbClr val="2A2118"/>
            </a:solidFill>
            <a:prstDash val="solid"/>
          </a:ln>
        </p:spPr>
      </p:sp>
      <p:sp>
        <p:nvSpPr>
          <p:cNvPr id="14" name="Text 12"/>
          <p:cNvSpPr/>
          <p:nvPr/>
        </p:nvSpPr>
        <p:spPr>
          <a:xfrm>
            <a:off x="7269480" y="3300984"/>
            <a:ext cx="2286000" cy="868680"/>
          </a:xfrm>
          <a:prstGeom prst="rect">
            <a:avLst/>
          </a:prstGeom>
          <a:noFill/>
          <a:ln/>
        </p:spPr>
        <p:txBody>
          <a:bodyPr wrap="square" lIns="0" tIns="0" rIns="0" bIns="0" rtlCol="0" anchor="t"/>
          <a:lstStyle/>
          <a:p>
            <a:pPr indent="0" marL="0">
              <a:buNone/>
            </a:pPr>
            <a:r>
              <a:rPr lang="en-US" sz="4200" dirty="0">
                <a:solidFill>
                  <a:srgbClr val="F5902B"/>
                </a:solidFill>
                <a:latin typeface="Bahnschrift SemiBold" pitchFamily="34" charset="0"/>
                <a:ea typeface="Bahnschrift SemiBold" pitchFamily="34" charset="-122"/>
                <a:cs typeface="Bahnschrift SemiBold" pitchFamily="34" charset="-120"/>
              </a:rPr>
              <a:t>~3 / day</a:t>
            </a:r>
            <a:endParaRPr lang="en-US" sz="4200" dirty="0"/>
          </a:p>
        </p:txBody>
      </p:sp>
      <p:sp>
        <p:nvSpPr>
          <p:cNvPr id="15" name="Text 13"/>
          <p:cNvSpPr/>
          <p:nvPr/>
        </p:nvSpPr>
        <p:spPr>
          <a:xfrm>
            <a:off x="9601200" y="3355848"/>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deaths in India's registered factories (DGFASLI)</a:t>
            </a:r>
            <a:endParaRPr lang="en-US" sz="1250" dirty="0"/>
          </a:p>
        </p:txBody>
      </p:sp>
      <p:sp>
        <p:nvSpPr>
          <p:cNvPr id="16" name="Shape 14"/>
          <p:cNvSpPr/>
          <p:nvPr/>
        </p:nvSpPr>
        <p:spPr>
          <a:xfrm>
            <a:off x="7269480" y="4562856"/>
            <a:ext cx="4144975" cy="0"/>
          </a:xfrm>
          <a:prstGeom prst="line">
            <a:avLst/>
          </a:prstGeom>
          <a:noFill/>
          <a:ln w="12700">
            <a:solidFill>
              <a:srgbClr val="2A2118"/>
            </a:solidFill>
            <a:prstDash val="solid"/>
          </a:ln>
        </p:spPr>
      </p:sp>
      <p:sp>
        <p:nvSpPr>
          <p:cNvPr id="17" name="Text 15"/>
          <p:cNvSpPr/>
          <p:nvPr/>
        </p:nvSpPr>
        <p:spPr>
          <a:xfrm>
            <a:off x="7269480" y="4690872"/>
            <a:ext cx="2286000" cy="868680"/>
          </a:xfrm>
          <a:prstGeom prst="rect">
            <a:avLst/>
          </a:prstGeom>
          <a:noFill/>
          <a:ln/>
        </p:spPr>
        <p:txBody>
          <a:bodyPr wrap="square" lIns="0" tIns="0" rIns="0" bIns="0" rtlCol="0" anchor="t"/>
          <a:lstStyle/>
          <a:p>
            <a:pPr indent="0" marL="0">
              <a:buNone/>
            </a:pPr>
            <a:r>
              <a:rPr lang="en-US" sz="4200" dirty="0">
                <a:solidFill>
                  <a:srgbClr val="FF6A1A"/>
                </a:solidFill>
                <a:latin typeface="Bahnschrift SemiBold" pitchFamily="34" charset="0"/>
                <a:ea typeface="Bahnschrift SemiBold" pitchFamily="34" charset="-122"/>
                <a:cs typeface="Bahnschrift SemiBold" pitchFamily="34" charset="-120"/>
              </a:rPr>
              <a:t>0</a:t>
            </a:r>
            <a:endParaRPr lang="en-US" sz="4200" dirty="0"/>
          </a:p>
        </p:txBody>
      </p:sp>
      <p:sp>
        <p:nvSpPr>
          <p:cNvPr id="18" name="Text 16"/>
          <p:cNvSpPr/>
          <p:nvPr/>
        </p:nvSpPr>
        <p:spPr>
          <a:xfrm>
            <a:off x="9601200" y="4745736"/>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layers connected those signals in time</a:t>
            </a:r>
            <a:endParaRPr lang="en-US" sz="1250" dirty="0"/>
          </a:p>
        </p:txBody>
      </p:sp>
      <p:sp>
        <p:nvSpPr>
          <p:cNvPr id="19" name="Shape 17"/>
          <p:cNvSpPr/>
          <p:nvPr/>
        </p:nvSpPr>
        <p:spPr>
          <a:xfrm>
            <a:off x="7269480" y="5952744"/>
            <a:ext cx="4144975" cy="0"/>
          </a:xfrm>
          <a:prstGeom prst="line">
            <a:avLst/>
          </a:prstGeom>
          <a:noFill/>
          <a:ln w="12700">
            <a:solidFill>
              <a:srgbClr val="2A211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03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VALIDATED BY THE FIELD</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pattern, in a veteran's words</a:t>
            </a:r>
            <a:endParaRPr lang="en-US" sz="3100" dirty="0"/>
          </a:p>
        </p:txBody>
      </p:sp>
      <p:sp>
        <p:nvSpPr>
          <p:cNvPr id="9" name="Shape 7"/>
          <p:cNvSpPr/>
          <p:nvPr/>
        </p:nvSpPr>
        <p:spPr>
          <a:xfrm>
            <a:off x="795528" y="1965960"/>
            <a:ext cx="0" cy="2286000"/>
          </a:xfrm>
          <a:prstGeom prst="line">
            <a:avLst/>
          </a:prstGeom>
          <a:noFill/>
          <a:ln w="38100">
            <a:solidFill>
              <a:srgbClr val="FF6A1A"/>
            </a:solidFill>
            <a:prstDash val="solid"/>
          </a:ln>
        </p:spPr>
      </p:sp>
      <p:sp>
        <p:nvSpPr>
          <p:cNvPr id="10" name="Text 8"/>
          <p:cNvSpPr/>
          <p:nvPr/>
        </p:nvSpPr>
        <p:spPr>
          <a:xfrm>
            <a:off x="1143000" y="1993392"/>
            <a:ext cx="10271455" cy="1828800"/>
          </a:xfrm>
          <a:prstGeom prst="rect">
            <a:avLst/>
          </a:prstGeom>
          <a:noFill/>
          <a:ln/>
        </p:spPr>
        <p:txBody>
          <a:bodyPr wrap="square" lIns="0" tIns="0" rIns="0" bIns="0" rtlCol="0" anchor="t"/>
          <a:lstStyle/>
          <a:p>
            <a:pPr indent="0" marL="0">
              <a:lnSpc>
                <a:spcPct val="116000"/>
              </a:lnSpc>
              <a:buNone/>
            </a:pPr>
            <a:r>
              <a:rPr lang="en-US" sz="2200" dirty="0">
                <a:solidFill>
                  <a:srgbClr val="FBF6EC"/>
                </a:solidFill>
                <a:latin typeface="Bahnschrift Light" pitchFamily="34" charset="0"/>
                <a:ea typeface="Bahnschrift Light" pitchFamily="34" charset="-122"/>
                <a:cs typeface="Bahnschrift Light"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a:t>
            </a:r>
            <a:endParaRPr lang="en-US" sz="2200" dirty="0"/>
          </a:p>
        </p:txBody>
      </p:sp>
      <p:sp>
        <p:nvSpPr>
          <p:cNvPr id="11" name="Text 9"/>
          <p:cNvSpPr/>
          <p:nvPr/>
        </p:nvSpPr>
        <p:spPr>
          <a:xfrm>
            <a:off x="1143000" y="3950208"/>
            <a:ext cx="10271455"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NISHAT MULLA   ·   PLANT MANAGER   ·   30+ YEARS ACROSS GAS &amp; HEAVY INDUSTRY</a:t>
            </a:r>
            <a:endParaRPr lang="en-US" sz="1100" dirty="0"/>
          </a:p>
        </p:txBody>
      </p:sp>
      <p:sp>
        <p:nvSpPr>
          <p:cNvPr id="12" name="Shape 10"/>
          <p:cNvSpPr/>
          <p:nvPr/>
        </p:nvSpPr>
        <p:spPr>
          <a:xfrm>
            <a:off x="777240" y="4443984"/>
            <a:ext cx="10637215" cy="1280160"/>
          </a:xfrm>
          <a:prstGeom prst="rect">
            <a:avLst/>
          </a:prstGeom>
          <a:solidFill>
            <a:srgbClr val="151009"/>
          </a:solidFill>
          <a:ln w="12700">
            <a:solidFill>
              <a:srgbClr val="2A2118"/>
            </a:solidFill>
            <a:prstDash val="solid"/>
          </a:ln>
        </p:spPr>
      </p:sp>
      <p:sp>
        <p:nvSpPr>
          <p:cNvPr id="13" name="Shape 11"/>
          <p:cNvSpPr/>
          <p:nvPr/>
        </p:nvSpPr>
        <p:spPr>
          <a:xfrm>
            <a:off x="777240" y="4443984"/>
            <a:ext cx="45720" cy="1280160"/>
          </a:xfrm>
          <a:prstGeom prst="rect">
            <a:avLst/>
          </a:prstGeom>
          <a:solidFill>
            <a:srgbClr val="FF6A1A"/>
          </a:solidFill>
          <a:ln/>
        </p:spPr>
      </p:sp>
      <p:sp>
        <p:nvSpPr>
          <p:cNvPr id="14" name="Text 12"/>
          <p:cNvSpPr/>
          <p:nvPr/>
        </p:nvSpPr>
        <p:spPr>
          <a:xfrm>
            <a:off x="1097280" y="4608576"/>
            <a:ext cx="73152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TRINETRA — OUR RESPONSE</a:t>
            </a:r>
            <a:endParaRPr lang="en-US" sz="1000" dirty="0"/>
          </a:p>
        </p:txBody>
      </p:sp>
      <p:sp>
        <p:nvSpPr>
          <p:cNvPr id="15" name="Text 13"/>
          <p:cNvSpPr/>
          <p:nvPr/>
        </p:nvSpPr>
        <p:spPr>
          <a:xfrm>
            <a:off x="1097280" y="4937760"/>
            <a:ext cx="9997135" cy="731520"/>
          </a:xfrm>
          <a:prstGeom prst="rect">
            <a:avLst/>
          </a:prstGeom>
          <a:noFill/>
          <a:ln/>
        </p:spPr>
        <p:txBody>
          <a:bodyPr wrap="square" lIns="0" tIns="0" rIns="0" bIns="0" rtlCol="0" anchor="t"/>
          <a:lstStyle/>
          <a:p>
            <a:pPr indent="0" marL="0">
              <a:lnSpc>
                <a:spcPct val="118000"/>
              </a:lnSpc>
              <a:buNone/>
            </a:pPr>
            <a:r>
              <a:rPr lang="en-US" sz="1300" b="1" dirty="0">
                <a:solidFill>
                  <a:srgbClr val="FF6A1A"/>
                </a:solidFill>
                <a:latin typeface="Segoe UI" pitchFamily="34" charset="0"/>
                <a:ea typeface="Segoe UI" pitchFamily="34" charset="-122"/>
                <a:cs typeface="Segoe UI" pitchFamily="34" charset="-120"/>
              </a:rPr>
              <a:t>Trinetra is that experience, encoded</a:t>
            </a:r>
            <a:pPr indent="0" marL="0">
              <a:lnSpc>
                <a:spcPct val="118000"/>
              </a:lnSpc>
              <a:buNone/>
            </a:pPr>
            <a:r>
              <a:rPr lang="en-US" sz="1300" dirty="0">
                <a:solidFill>
                  <a:srgbClr val="C6B9A6"/>
                </a:solidFill>
                <a:latin typeface="Segoe UI" pitchFamily="34" charset="0"/>
                <a:ea typeface="Segoe UI" pitchFamily="34" charset="-122"/>
                <a:cs typeface="Segoe UI" pitchFamily="34" charset="-120"/>
              </a:rPr>
              <a:t> — it watches every zone 24/7 and flags the combination the moment it forms, so the catch never depends on the right person paying attention at 3 a.m. We enforce safety culture consistently across every shift and handover.</a:t>
            </a:r>
            <a:endParaRPr lang="en-US" sz="1300" dirty="0"/>
          </a:p>
        </p:txBody>
      </p:sp>
      <p:sp>
        <p:nvSpPr>
          <p:cNvPr id="16" name="Text 14"/>
          <p:cNvSpPr/>
          <p:nvPr/>
        </p:nvSpPr>
        <p:spPr>
          <a:xfrm>
            <a:off x="777240" y="5961888"/>
            <a:ext cx="10637215" cy="274320"/>
          </a:xfrm>
          <a:prstGeom prst="rect">
            <a:avLst/>
          </a:prstGeom>
          <a:noFill/>
          <a:ln/>
        </p:spPr>
        <p:txBody>
          <a:bodyPr wrap="square" lIns="0" tIns="0" rIns="0" bIns="0" rtlCol="0" anchor="t"/>
          <a:lstStyle/>
          <a:p>
            <a:pPr indent="0" marL="0">
              <a:buNone/>
            </a:pPr>
            <a:r>
              <a:rPr lang="en-US" sz="1050" i="1" dirty="0">
                <a:solidFill>
                  <a:srgbClr val="8A7B68"/>
                </a:solidFill>
                <a:latin typeface="Segoe UI" pitchFamily="34" charset="0"/>
                <a:ea typeface="Segoe UI" pitchFamily="34" charset="-122"/>
                <a:cs typeface="Segoe UI" pitchFamily="34" charset="-120"/>
              </a:rPr>
              <a:t>Independent field validation of the problem — a practitioner, in his own words.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04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INSIGHT</a:t>
            </a:r>
            <a:endParaRPr lang="en-US" sz="1050" dirty="0"/>
          </a:p>
        </p:txBody>
      </p:sp>
      <p:sp>
        <p:nvSpPr>
          <p:cNvPr id="8" name="Text 6"/>
          <p:cNvSpPr/>
          <p:nvPr/>
        </p:nvSpPr>
        <p:spPr>
          <a:xfrm>
            <a:off x="777240" y="1280160"/>
            <a:ext cx="10637215" cy="1828800"/>
          </a:xfrm>
          <a:prstGeom prst="rect">
            <a:avLst/>
          </a:prstGeom>
          <a:noFill/>
          <a:ln/>
        </p:spPr>
        <p:txBody>
          <a:bodyPr wrap="square" lIns="0" tIns="0" rIns="0" bIns="0" rtlCol="0" anchor="t"/>
          <a:lstStyle/>
          <a:p>
            <a:pPr indent="0" marL="0">
              <a:lnSpc>
                <a:spcPct val="104000"/>
              </a:lnSpc>
              <a:buNone/>
            </a:pPr>
            <a:r>
              <a:rPr lang="en-US" sz="4600" dirty="0">
                <a:solidFill>
                  <a:srgbClr val="3FC77D"/>
                </a:solidFill>
                <a:latin typeface="Bahnschrift SemiBold" pitchFamily="34" charset="0"/>
                <a:ea typeface="Bahnschrift SemiBold" pitchFamily="34" charset="-122"/>
                <a:cs typeface="Bahnschrift SemiBold" pitchFamily="34" charset="-120"/>
              </a:rPr>
              <a:t>Three green lights.</a:t>
            </a:r>
            <a:endParaRPr lang="en-US" sz="4600" dirty="0"/>
          </a:p>
          <a:p>
            <a:pPr indent="0" marL="0">
              <a:lnSpc>
                <a:spcPct val="104000"/>
              </a:lnSpc>
              <a:buNone/>
            </a:pPr>
            <a:r>
              <a:rPr lang="en-US" sz="4600" dirty="0">
                <a:solidFill>
                  <a:srgbClr val="FF2B4E"/>
                </a:solidFill>
                <a:latin typeface="Bahnschrift SemiBold" pitchFamily="34" charset="0"/>
                <a:ea typeface="Bahnschrift SemiBold" pitchFamily="34" charset="-122"/>
                <a:cs typeface="Bahnschrift SemiBold" pitchFamily="34" charset="-120"/>
              </a:rPr>
              <a:t>One lethal combination.</a:t>
            </a:r>
            <a:endParaRPr lang="en-US" sz="4600" dirty="0"/>
          </a:p>
        </p:txBody>
      </p:sp>
      <p:sp>
        <p:nvSpPr>
          <p:cNvPr id="9" name="Shape 7"/>
          <p:cNvSpPr/>
          <p:nvPr/>
        </p:nvSpPr>
        <p:spPr>
          <a:xfrm>
            <a:off x="777240" y="3703320"/>
            <a:ext cx="3301898" cy="0"/>
          </a:xfrm>
          <a:prstGeom prst="line">
            <a:avLst/>
          </a:prstGeom>
          <a:noFill/>
          <a:ln w="12700">
            <a:solidFill>
              <a:srgbClr val="473726"/>
            </a:solidFill>
            <a:prstDash val="solid"/>
          </a:ln>
        </p:spPr>
      </p:sp>
      <p:sp>
        <p:nvSpPr>
          <p:cNvPr id="10" name="Shape 8"/>
          <p:cNvSpPr/>
          <p:nvPr/>
        </p:nvSpPr>
        <p:spPr>
          <a:xfrm>
            <a:off x="822960" y="3959352"/>
            <a:ext cx="128016" cy="128016"/>
          </a:xfrm>
          <a:prstGeom prst="ellipse">
            <a:avLst/>
          </a:prstGeom>
          <a:solidFill>
            <a:srgbClr val="7C8B9A"/>
          </a:solidFill>
          <a:ln/>
        </p:spPr>
      </p:sp>
      <p:sp>
        <p:nvSpPr>
          <p:cNvPr id="11" name="Text 9"/>
          <p:cNvSpPr/>
          <p:nvPr/>
        </p:nvSpPr>
        <p:spPr>
          <a:xfrm>
            <a:off x="1051560"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RISING FLAMMABLE GAS</a:t>
            </a:r>
            <a:endParaRPr lang="en-US" sz="1450" dirty="0"/>
          </a:p>
        </p:txBody>
      </p:sp>
      <p:sp>
        <p:nvSpPr>
          <p:cNvPr id="12" name="Text 10"/>
          <p:cNvSpPr/>
          <p:nvPr/>
        </p:nvSpPr>
        <p:spPr>
          <a:xfrm>
            <a:off x="1051560"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still below its alarm</a:t>
            </a:r>
            <a:endParaRPr lang="en-US" sz="1250" dirty="0"/>
          </a:p>
        </p:txBody>
      </p:sp>
      <p:sp>
        <p:nvSpPr>
          <p:cNvPr id="13" name="Text 11"/>
          <p:cNvSpPr/>
          <p:nvPr/>
        </p:nvSpPr>
        <p:spPr>
          <a:xfrm>
            <a:off x="1051560"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4" name="Shape 12"/>
          <p:cNvSpPr/>
          <p:nvPr/>
        </p:nvSpPr>
        <p:spPr>
          <a:xfrm>
            <a:off x="4444898" y="3703320"/>
            <a:ext cx="3301898" cy="0"/>
          </a:xfrm>
          <a:prstGeom prst="line">
            <a:avLst/>
          </a:prstGeom>
          <a:noFill/>
          <a:ln w="12700">
            <a:solidFill>
              <a:srgbClr val="473726"/>
            </a:solidFill>
            <a:prstDash val="solid"/>
          </a:ln>
        </p:spPr>
      </p:sp>
      <p:sp>
        <p:nvSpPr>
          <p:cNvPr id="15" name="Shape 13"/>
          <p:cNvSpPr/>
          <p:nvPr/>
        </p:nvSpPr>
        <p:spPr>
          <a:xfrm>
            <a:off x="4490618" y="3959352"/>
            <a:ext cx="128016" cy="128016"/>
          </a:xfrm>
          <a:prstGeom prst="ellipse">
            <a:avLst/>
          </a:prstGeom>
          <a:solidFill>
            <a:srgbClr val="7C8B9A"/>
          </a:solidFill>
          <a:ln/>
        </p:spPr>
      </p:sp>
      <p:sp>
        <p:nvSpPr>
          <p:cNvPr id="16" name="Text 14"/>
          <p:cNvSpPr/>
          <p:nvPr/>
        </p:nvSpPr>
        <p:spPr>
          <a:xfrm>
            <a:off x="4719218"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ACTIVE HOT-WORK PERMIT</a:t>
            </a:r>
            <a:endParaRPr lang="en-US" sz="1450" dirty="0"/>
          </a:p>
        </p:txBody>
      </p:sp>
      <p:sp>
        <p:nvSpPr>
          <p:cNvPr id="17" name="Text 15"/>
          <p:cNvSpPr/>
          <p:nvPr/>
        </p:nvSpPr>
        <p:spPr>
          <a:xfrm>
            <a:off x="4719218"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an ignition source</a:t>
            </a:r>
            <a:endParaRPr lang="en-US" sz="1250" dirty="0"/>
          </a:p>
        </p:txBody>
      </p:sp>
      <p:sp>
        <p:nvSpPr>
          <p:cNvPr id="18" name="Text 16"/>
          <p:cNvSpPr/>
          <p:nvPr/>
        </p:nvSpPr>
        <p:spPr>
          <a:xfrm>
            <a:off x="4719218"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9" name="Shape 17"/>
          <p:cNvSpPr/>
          <p:nvPr/>
        </p:nvSpPr>
        <p:spPr>
          <a:xfrm>
            <a:off x="8112557" y="3703320"/>
            <a:ext cx="3301898" cy="0"/>
          </a:xfrm>
          <a:prstGeom prst="line">
            <a:avLst/>
          </a:prstGeom>
          <a:noFill/>
          <a:ln w="12700">
            <a:solidFill>
              <a:srgbClr val="473726"/>
            </a:solidFill>
            <a:prstDash val="solid"/>
          </a:ln>
        </p:spPr>
      </p:sp>
      <p:sp>
        <p:nvSpPr>
          <p:cNvPr id="20" name="Shape 18"/>
          <p:cNvSpPr/>
          <p:nvPr/>
        </p:nvSpPr>
        <p:spPr>
          <a:xfrm>
            <a:off x="8158277" y="3959352"/>
            <a:ext cx="128016" cy="128016"/>
          </a:xfrm>
          <a:prstGeom prst="ellipse">
            <a:avLst/>
          </a:prstGeom>
          <a:solidFill>
            <a:srgbClr val="7C8B9A"/>
          </a:solidFill>
          <a:ln/>
        </p:spPr>
      </p:sp>
      <p:sp>
        <p:nvSpPr>
          <p:cNvPr id="21" name="Text 19"/>
          <p:cNvSpPr/>
          <p:nvPr/>
        </p:nvSpPr>
        <p:spPr>
          <a:xfrm>
            <a:off x="8386877"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PERSONNEL PRESENT</a:t>
            </a:r>
            <a:endParaRPr lang="en-US" sz="1450" dirty="0"/>
          </a:p>
        </p:txBody>
      </p:sp>
      <p:sp>
        <p:nvSpPr>
          <p:cNvPr id="22" name="Text 20"/>
          <p:cNvSpPr/>
          <p:nvPr/>
        </p:nvSpPr>
        <p:spPr>
          <a:xfrm>
            <a:off x="8386877"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inside a confined space</a:t>
            </a:r>
            <a:endParaRPr lang="en-US" sz="1250" dirty="0"/>
          </a:p>
        </p:txBody>
      </p:sp>
      <p:sp>
        <p:nvSpPr>
          <p:cNvPr id="23" name="Text 21"/>
          <p:cNvSpPr/>
          <p:nvPr/>
        </p:nvSpPr>
        <p:spPr>
          <a:xfrm>
            <a:off x="8386877"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24" name="Shape 22"/>
          <p:cNvSpPr/>
          <p:nvPr/>
        </p:nvSpPr>
        <p:spPr>
          <a:xfrm>
            <a:off x="777240" y="5440680"/>
            <a:ext cx="10637215" cy="566928"/>
          </a:xfrm>
          <a:prstGeom prst="rect">
            <a:avLst/>
          </a:prstGeom>
          <a:solidFill>
            <a:srgbClr val="120D08"/>
          </a:solidFill>
          <a:ln w="12700">
            <a:solidFill>
              <a:srgbClr val="FF2B4E"/>
            </a:solidFill>
            <a:prstDash val="solid"/>
          </a:ln>
        </p:spPr>
      </p:sp>
      <p:sp>
        <p:nvSpPr>
          <p:cNvPr id="25" name="Text 23"/>
          <p:cNvSpPr/>
          <p:nvPr/>
        </p:nvSpPr>
        <p:spPr>
          <a:xfrm>
            <a:off x="1097280" y="5440680"/>
            <a:ext cx="9997135" cy="566928"/>
          </a:xfrm>
          <a:prstGeom prst="rect">
            <a:avLst/>
          </a:prstGeom>
          <a:noFill/>
          <a:ln/>
        </p:spPr>
        <p:txBody>
          <a:bodyPr wrap="square" lIns="0" tIns="0" rIns="0" bIns="0" rtlCol="0" anchor="ctr"/>
          <a:lstStyle/>
          <a:p>
            <a:pPr indent="0" marL="0">
              <a:buNone/>
            </a:pPr>
            <a:r>
              <a:rPr lang="en-US" sz="1500" b="1" dirty="0">
                <a:solidFill>
                  <a:srgbClr val="FF2B4E"/>
                </a:solidFill>
                <a:latin typeface="Bahnschrift" pitchFamily="34" charset="0"/>
                <a:ea typeface="Bahnschrift" pitchFamily="34" charset="-122"/>
                <a:cs typeface="Bahnschrift" pitchFamily="34" charset="-120"/>
              </a:rPr>
              <a:t>A lethal combination no single sensor flags  </a:t>
            </a:r>
            <a:pPr indent="0" marL="0">
              <a:buNone/>
            </a:pPr>
            <a:r>
              <a:rPr lang="en-US" sz="1500" dirty="0">
                <a:solidFill>
                  <a:srgbClr val="C6B9A6"/>
                </a:solidFill>
                <a:latin typeface="Segoe UI" pitchFamily="34" charset="0"/>
                <a:ea typeface="Segoe UI" pitchFamily="34" charset="-122"/>
                <a:cs typeface="Segoe UI" pitchFamily="34" charset="-120"/>
              </a:rPr>
              <a:t>— detected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05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MOMENT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Split reality at T + 8 min</a:t>
            </a:r>
            <a:endParaRPr lang="en-US" sz="3300" dirty="0"/>
          </a:p>
        </p:txBody>
      </p:sp>
      <p:sp>
        <p:nvSpPr>
          <p:cNvPr id="9" name="Text 7"/>
          <p:cNvSpPr/>
          <p:nvPr/>
        </p:nvSpPr>
        <p:spPr>
          <a:xfrm>
            <a:off x="777240" y="2286000"/>
            <a:ext cx="4572000" cy="274320"/>
          </a:xfrm>
          <a:prstGeom prst="rect">
            <a:avLst/>
          </a:prstGeom>
          <a:noFill/>
          <a:ln/>
        </p:spPr>
        <p:txBody>
          <a:bodyPr wrap="square" lIns="0" tIns="0" rIns="0" bIns="0" rtlCol="0" anchor="t"/>
          <a:lstStyle/>
          <a:p>
            <a:pPr indent="0" marL="0">
              <a:buNone/>
            </a:pPr>
            <a:r>
              <a:rPr lang="en-US" sz="1100" spc="100" kern="0" dirty="0">
                <a:solidFill>
                  <a:srgbClr val="7C8B9A"/>
                </a:solidFill>
                <a:latin typeface="Cascadia Mono" pitchFamily="34" charset="0"/>
                <a:ea typeface="Cascadia Mono" pitchFamily="34" charset="-122"/>
                <a:cs typeface="Cascadia Mono" pitchFamily="34" charset="-120"/>
              </a:rPr>
              <a:t>LEGACY SINGLE-SENSOR</a:t>
            </a:r>
            <a:endParaRPr lang="en-US" sz="1100" dirty="0"/>
          </a:p>
        </p:txBody>
      </p:sp>
      <p:sp>
        <p:nvSpPr>
          <p:cNvPr id="10" name="Shape 8"/>
          <p:cNvSpPr/>
          <p:nvPr/>
        </p:nvSpPr>
        <p:spPr>
          <a:xfrm>
            <a:off x="777240" y="3127248"/>
            <a:ext cx="237744" cy="237744"/>
          </a:xfrm>
          <a:prstGeom prst="ellipse">
            <a:avLst/>
          </a:prstGeom>
          <a:solidFill>
            <a:srgbClr val="7C8B9A"/>
          </a:solidFill>
          <a:ln/>
        </p:spPr>
      </p:sp>
      <p:sp>
        <p:nvSpPr>
          <p:cNvPr id="11" name="Text 9"/>
          <p:cNvSpPr/>
          <p:nvPr/>
        </p:nvSpPr>
        <p:spPr>
          <a:xfrm>
            <a:off x="1161288" y="2852928"/>
            <a:ext cx="4206240" cy="731520"/>
          </a:xfrm>
          <a:prstGeom prst="rect">
            <a:avLst/>
          </a:prstGeom>
          <a:noFill/>
          <a:ln/>
        </p:spPr>
        <p:txBody>
          <a:bodyPr wrap="square" lIns="0" tIns="0" rIns="0" bIns="0" rtlCol="0" anchor="t"/>
          <a:lstStyle/>
          <a:p>
            <a:pPr indent="0" marL="0">
              <a:buNone/>
            </a:pPr>
            <a:r>
              <a:rPr lang="en-US" sz="3800" dirty="0">
                <a:solidFill>
                  <a:srgbClr val="7C8B9A"/>
                </a:solidFill>
                <a:latin typeface="Bahnschrift SemiBold" pitchFamily="34" charset="0"/>
                <a:ea typeface="Bahnschrift SemiBold" pitchFamily="34" charset="-122"/>
                <a:cs typeface="Bahnschrift SemiBold" pitchFamily="34" charset="-120"/>
              </a:rPr>
              <a:t>ALL CLEAR</a:t>
            </a:r>
            <a:endParaRPr lang="en-US" sz="3800" dirty="0"/>
          </a:p>
        </p:txBody>
      </p:sp>
      <p:sp>
        <p:nvSpPr>
          <p:cNvPr id="12" name="Text 10"/>
          <p:cNvSpPr/>
          <p:nvPr/>
        </p:nvSpPr>
        <p:spPr>
          <a:xfrm>
            <a:off x="777240" y="3886200"/>
            <a:ext cx="4389120" cy="365760"/>
          </a:xfrm>
          <a:prstGeom prst="rect">
            <a:avLst/>
          </a:prstGeom>
          <a:noFill/>
          <a:ln/>
        </p:spPr>
        <p:txBody>
          <a:bodyPr wrap="square" lIns="0" tIns="0" rIns="0" bIns="0" rtlCol="0" anchor="t"/>
          <a:lstStyle/>
          <a:p>
            <a:pPr indent="0" marL="0">
              <a:buNone/>
            </a:pPr>
            <a:r>
              <a:rPr lang="en-US" sz="1400" dirty="0">
                <a:solidFill>
                  <a:srgbClr val="C6B9A6"/>
                </a:solidFill>
                <a:latin typeface="Segoe UI" pitchFamily="34" charset="0"/>
                <a:ea typeface="Segoe UI" pitchFamily="34" charset="-122"/>
                <a:cs typeface="Segoe UI" pitchFamily="34" charset="-120"/>
              </a:rPr>
              <a:t>Every gas reads below its setpoint.</a:t>
            </a:r>
            <a:endParaRPr lang="en-US" sz="1400" dirty="0"/>
          </a:p>
        </p:txBody>
      </p:sp>
      <p:sp>
        <p:nvSpPr>
          <p:cNvPr id="13" name="Text 11"/>
          <p:cNvSpPr/>
          <p:nvPr/>
        </p:nvSpPr>
        <p:spPr>
          <a:xfrm>
            <a:off x="777240"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threshold detection only</a:t>
            </a:r>
            <a:endParaRPr lang="en-US" sz="1000" dirty="0"/>
          </a:p>
        </p:txBody>
      </p:sp>
      <p:sp>
        <p:nvSpPr>
          <p:cNvPr id="14" name="Shape 12"/>
          <p:cNvSpPr/>
          <p:nvPr/>
        </p:nvSpPr>
        <p:spPr>
          <a:xfrm>
            <a:off x="5227168" y="2331720"/>
            <a:ext cx="0" cy="3200400"/>
          </a:xfrm>
          <a:prstGeom prst="line">
            <a:avLst/>
          </a:prstGeom>
          <a:noFill/>
          <a:ln w="12700">
            <a:solidFill>
              <a:srgbClr val="2A2118"/>
            </a:solidFill>
            <a:prstDash val="solid"/>
          </a:ln>
        </p:spPr>
      </p:sp>
      <p:sp>
        <p:nvSpPr>
          <p:cNvPr id="15" name="Text 13"/>
          <p:cNvSpPr/>
          <p:nvPr/>
        </p:nvSpPr>
        <p:spPr>
          <a:xfrm>
            <a:off x="5181448" y="2743200"/>
            <a:ext cx="1828800" cy="1005840"/>
          </a:xfrm>
          <a:prstGeom prst="rect">
            <a:avLst/>
          </a:prstGeom>
          <a:noFill/>
          <a:ln/>
        </p:spPr>
        <p:txBody>
          <a:bodyPr wrap="square" lIns="0" tIns="0" rIns="0" bIns="0" rtlCol="0" anchor="t"/>
          <a:lstStyle/>
          <a:p>
            <a:pPr algn="ctr" indent="0" marL="0">
              <a:buNone/>
            </a:pPr>
            <a:r>
              <a:rPr lang="en-US" sz="8000" dirty="0">
                <a:solidFill>
                  <a:srgbClr val="FF6A1A"/>
                </a:solidFill>
                <a:latin typeface="Bahnschrift SemiBold" pitchFamily="34" charset="0"/>
                <a:ea typeface="Bahnschrift SemiBold" pitchFamily="34" charset="-122"/>
                <a:cs typeface="Bahnschrift SemiBold" pitchFamily="34" charset="-120"/>
              </a:rPr>
              <a:t>+6</a:t>
            </a:r>
            <a:endParaRPr lang="en-US" sz="8000" dirty="0"/>
          </a:p>
        </p:txBody>
      </p:sp>
      <p:sp>
        <p:nvSpPr>
          <p:cNvPr id="16" name="Text 14"/>
          <p:cNvSpPr/>
          <p:nvPr/>
        </p:nvSpPr>
        <p:spPr>
          <a:xfrm>
            <a:off x="5181448" y="3822192"/>
            <a:ext cx="1828800" cy="274320"/>
          </a:xfrm>
          <a:prstGeom prst="rect">
            <a:avLst/>
          </a:prstGeom>
          <a:noFill/>
          <a:ln/>
        </p:spPr>
        <p:txBody>
          <a:bodyPr wrap="square" lIns="0" tIns="0" rIns="0" bIns="0" rtlCol="0" anchor="t"/>
          <a:lstStyle/>
          <a:p>
            <a:pPr algn="ctr" indent="0" marL="0">
              <a:buNone/>
            </a:pPr>
            <a:r>
              <a:rPr lang="en-US" sz="1100" spc="200" kern="0" dirty="0">
                <a:solidFill>
                  <a:srgbClr val="FF6A1A"/>
                </a:solidFill>
                <a:latin typeface="Cascadia Mono" pitchFamily="34" charset="0"/>
                <a:ea typeface="Cascadia Mono" pitchFamily="34" charset="-122"/>
                <a:cs typeface="Cascadia Mono" pitchFamily="34" charset="-120"/>
              </a:rPr>
              <a:t>MIN EARLY</a:t>
            </a:r>
            <a:endParaRPr lang="en-US" sz="1100" dirty="0"/>
          </a:p>
        </p:txBody>
      </p:sp>
      <p:sp>
        <p:nvSpPr>
          <p:cNvPr id="17" name="Shape 15"/>
          <p:cNvSpPr/>
          <p:nvPr/>
        </p:nvSpPr>
        <p:spPr>
          <a:xfrm>
            <a:off x="6964528" y="2331720"/>
            <a:ext cx="0" cy="3200400"/>
          </a:xfrm>
          <a:prstGeom prst="line">
            <a:avLst/>
          </a:prstGeom>
          <a:noFill/>
          <a:ln w="12700">
            <a:solidFill>
              <a:srgbClr val="2A2118"/>
            </a:solidFill>
            <a:prstDash val="solid"/>
          </a:ln>
        </p:spPr>
      </p:sp>
      <p:sp>
        <p:nvSpPr>
          <p:cNvPr id="18" name="Shape 16"/>
          <p:cNvSpPr/>
          <p:nvPr/>
        </p:nvSpPr>
        <p:spPr>
          <a:xfrm>
            <a:off x="7101688" y="2103120"/>
            <a:ext cx="4312768" cy="3291840"/>
          </a:xfrm>
          <a:prstGeom prst="rect">
            <a:avLst/>
          </a:prstGeom>
          <a:solidFill>
            <a:srgbClr val="120D08"/>
          </a:solidFill>
          <a:ln/>
        </p:spPr>
      </p:sp>
      <p:sp>
        <p:nvSpPr>
          <p:cNvPr id="19" name="Text 17"/>
          <p:cNvSpPr/>
          <p:nvPr/>
        </p:nvSpPr>
        <p:spPr>
          <a:xfrm>
            <a:off x="7421728" y="2286000"/>
            <a:ext cx="4572000"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TRINETRA COMPOUND AI</a:t>
            </a:r>
            <a:endParaRPr lang="en-US" sz="1100" dirty="0"/>
          </a:p>
        </p:txBody>
      </p:sp>
      <p:sp>
        <p:nvSpPr>
          <p:cNvPr id="20" name="Shape 18"/>
          <p:cNvSpPr/>
          <p:nvPr/>
        </p:nvSpPr>
        <p:spPr>
          <a:xfrm>
            <a:off x="7421728" y="3127248"/>
            <a:ext cx="237744" cy="237744"/>
          </a:xfrm>
          <a:prstGeom prst="ellipse">
            <a:avLst/>
          </a:prstGeom>
          <a:solidFill>
            <a:srgbClr val="FF2B4E"/>
          </a:solidFill>
          <a:ln/>
        </p:spPr>
      </p:sp>
      <p:sp>
        <p:nvSpPr>
          <p:cNvPr id="21" name="Text 19"/>
          <p:cNvSpPr/>
          <p:nvPr/>
        </p:nvSpPr>
        <p:spPr>
          <a:xfrm>
            <a:off x="7805776" y="2907792"/>
            <a:ext cx="4480560" cy="640080"/>
          </a:xfrm>
          <a:prstGeom prst="rect">
            <a:avLst/>
          </a:prstGeom>
          <a:noFill/>
          <a:ln/>
        </p:spPr>
        <p:txBody>
          <a:bodyPr wrap="square" lIns="0" tIns="0" rIns="0" bIns="0" rtlCol="0" anchor="t"/>
          <a:lstStyle/>
          <a:p>
            <a:pPr indent="0" marL="0">
              <a:buNone/>
            </a:pPr>
            <a:r>
              <a:rPr lang="en-US" sz="2700" dirty="0">
                <a:solidFill>
                  <a:srgbClr val="FF2B4E"/>
                </a:solidFill>
                <a:latin typeface="Bahnschrift SemiBold" pitchFamily="34" charset="0"/>
                <a:ea typeface="Bahnschrift SemiBold" pitchFamily="34" charset="-122"/>
                <a:cs typeface="Bahnschrift SemiBold" pitchFamily="34" charset="-120"/>
              </a:rPr>
              <a:t>COMPOUND ALERT</a:t>
            </a:r>
            <a:endParaRPr lang="en-US" sz="2700" dirty="0"/>
          </a:p>
        </p:txBody>
      </p:sp>
      <p:sp>
        <p:nvSpPr>
          <p:cNvPr id="22" name="Text 20"/>
          <p:cNvSpPr/>
          <p:nvPr/>
        </p:nvSpPr>
        <p:spPr>
          <a:xfrm>
            <a:off x="7421728" y="3840480"/>
            <a:ext cx="3992728" cy="731520"/>
          </a:xfrm>
          <a:prstGeom prst="rect">
            <a:avLst/>
          </a:prstGeom>
          <a:noFill/>
          <a:ln/>
        </p:spPr>
        <p:txBody>
          <a:bodyPr wrap="square" lIns="0" tIns="0" rIns="0" bIns="0" rtlCol="0" anchor="t"/>
          <a:lstStyle/>
          <a:p>
            <a:pPr indent="0" marL="0">
              <a:lnSpc>
                <a:spcPct val="125000"/>
              </a:lnSpc>
              <a:buNone/>
            </a:pPr>
            <a:r>
              <a:rPr lang="en-US" sz="1350" dirty="0">
                <a:solidFill>
                  <a:srgbClr val="FBF6EC"/>
                </a:solidFill>
                <a:latin typeface="Segoe UI" pitchFamily="34" charset="0"/>
                <a:ea typeface="Segoe UI" pitchFamily="34" charset="-122"/>
                <a:cs typeface="Segoe UI" pitchFamily="34" charset="-120"/>
              </a:rPr>
              <a:t>COB-1 critical · breach predicted ~36 min</a:t>
            </a:r>
            <a:endParaRPr lang="en-US" sz="1350" dirty="0"/>
          </a:p>
          <a:p>
            <a:pPr indent="0" marL="0">
              <a:lnSpc>
                <a:spcPct val="125000"/>
              </a:lnSpc>
              <a:buNone/>
            </a:pPr>
            <a:r>
              <a:rPr lang="en-US" sz="1350" dirty="0">
                <a:solidFill>
                  <a:srgbClr val="C6B9A6"/>
                </a:solidFill>
                <a:latin typeface="Segoe UI" pitchFamily="34" charset="0"/>
                <a:ea typeface="Segoe UI" pitchFamily="34" charset="-122"/>
                <a:cs typeface="Segoe UI" pitchFamily="34" charset="-120"/>
              </a:rPr>
              <a:t>rising CH4 + hot-work permit + 3 personnel</a:t>
            </a:r>
            <a:endParaRPr lang="en-US" sz="1350" dirty="0"/>
          </a:p>
        </p:txBody>
      </p:sp>
      <p:sp>
        <p:nvSpPr>
          <p:cNvPr id="23" name="Text 21"/>
          <p:cNvSpPr/>
          <p:nvPr/>
        </p:nvSpPr>
        <p:spPr>
          <a:xfrm>
            <a:off x="7421728"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multi-signal fusion</a:t>
            </a:r>
            <a:endParaRPr lang="en-US" sz="1000" dirty="0"/>
          </a:p>
        </p:txBody>
      </p:sp>
      <p:sp>
        <p:nvSpPr>
          <p:cNvPr id="24" name="Text 2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Six minutes of warning — while every gas sensor still reads below its setpoint.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06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ARCHITECTURE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How it works</a:t>
            </a:r>
            <a:endParaRPr lang="en-US" sz="3300" dirty="0"/>
          </a:p>
        </p:txBody>
      </p:sp>
      <p:sp>
        <p:nvSpPr>
          <p:cNvPr id="9" name="Shape 7"/>
          <p:cNvSpPr/>
          <p:nvPr/>
        </p:nvSpPr>
        <p:spPr>
          <a:xfrm>
            <a:off x="777240" y="1938528"/>
            <a:ext cx="10637215" cy="676656"/>
          </a:xfrm>
          <a:prstGeom prst="rect">
            <a:avLst/>
          </a:prstGeom>
          <a:solidFill>
            <a:srgbClr val="151009"/>
          </a:solidFill>
          <a:ln w="12700">
            <a:solidFill>
              <a:srgbClr val="473726"/>
            </a:solidFill>
            <a:prstDash val="solid"/>
          </a:ln>
        </p:spPr>
      </p:sp>
      <p:sp>
        <p:nvSpPr>
          <p:cNvPr id="10" name="Text 8"/>
          <p:cNvSpPr/>
          <p:nvPr/>
        </p:nvSpPr>
        <p:spPr>
          <a:xfrm>
            <a:off x="1005840" y="2048256"/>
            <a:ext cx="7315200" cy="228600"/>
          </a:xfrm>
          <a:prstGeom prst="rect">
            <a:avLst/>
          </a:prstGeom>
          <a:noFill/>
          <a:ln/>
        </p:spPr>
        <p:txBody>
          <a:bodyPr wrap="square" lIns="0" tIns="0" rIns="0" bIns="0" rtlCol="0" anchor="t"/>
          <a:lstStyle/>
          <a:p>
            <a:pPr indent="0" marL="0">
              <a:buNone/>
            </a:pPr>
            <a:r>
              <a:rPr lang="en-US" sz="900" spc="100" kern="0" dirty="0">
                <a:solidFill>
                  <a:srgbClr val="FF6A1A"/>
                </a:solidFill>
                <a:latin typeface="Cascadia Mono" pitchFamily="34" charset="0"/>
                <a:ea typeface="Cascadia Mono" pitchFamily="34" charset="-122"/>
                <a:cs typeface="Cascadia Mono" pitchFamily="34" charset="-120"/>
              </a:rPr>
              <a:t>INTELLIGENCE LAYER · LLM-ASSISTED</a:t>
            </a:r>
            <a:endParaRPr lang="en-US" sz="900" dirty="0"/>
          </a:p>
        </p:txBody>
      </p:sp>
      <p:sp>
        <p:nvSpPr>
          <p:cNvPr id="11" name="Text 9"/>
          <p:cNvSpPr/>
          <p:nvPr/>
        </p:nvSpPr>
        <p:spPr>
          <a:xfrm>
            <a:off x="1005840" y="2276856"/>
            <a:ext cx="10180015" cy="274320"/>
          </a:xfrm>
          <a:prstGeom prst="rect">
            <a:avLst/>
          </a:prstGeom>
          <a:noFill/>
          <a:ln/>
        </p:spPr>
        <p:txBody>
          <a:bodyPr wrap="square" lIns="0" tIns="0" rIns="0" bIns="0" rtlCol="0" anchor="t"/>
          <a:lstStyle/>
          <a:p>
            <a:pPr indent="0" marL="0">
              <a:buNone/>
            </a:pPr>
            <a:r>
              <a:rPr lang="en-US" sz="1100" dirty="0">
                <a:solidFill>
                  <a:srgbClr val="C6B9A6"/>
                </a:solidFill>
                <a:latin typeface="Segoe UI" pitchFamily="34" charset="0"/>
                <a:ea typeface="Segoe UI" pitchFamily="34" charset="-122"/>
                <a:cs typeface="Segoe UI" pitchFamily="34" charset="-120"/>
              </a:rPr>
              <a:t>Vision (YOLOv8) · Disaster-Memory RAG (Gemini) · 6-stage reasoning graph · Compliance &amp; permit-gate · Pre-mortem · Knowledge graph</a:t>
            </a:r>
            <a:endParaRPr lang="en-US" sz="1100" dirty="0"/>
          </a:p>
        </p:txBody>
      </p:sp>
      <p:sp>
        <p:nvSpPr>
          <p:cNvPr id="12" name="Shape 10"/>
          <p:cNvSpPr/>
          <p:nvPr/>
        </p:nvSpPr>
        <p:spPr>
          <a:xfrm>
            <a:off x="777240" y="3310128"/>
            <a:ext cx="1847088" cy="1664208"/>
          </a:xfrm>
          <a:prstGeom prst="rect">
            <a:avLst/>
          </a:prstGeom>
          <a:solidFill>
            <a:srgbClr val="120D08"/>
          </a:solidFill>
          <a:ln w="12700">
            <a:solidFill>
              <a:srgbClr val="2A2118"/>
            </a:solidFill>
            <a:prstDash val="solid"/>
          </a:ln>
        </p:spPr>
      </p:sp>
      <p:sp>
        <p:nvSpPr>
          <p:cNvPr id="13" name="Text 11"/>
          <p:cNvSpPr/>
          <p:nvPr/>
        </p:nvSpPr>
        <p:spPr>
          <a:xfrm>
            <a:off x="923544" y="3447288"/>
            <a:ext cx="1572768"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DATA SOURCES</a:t>
            </a:r>
            <a:endParaRPr lang="en-US" sz="1250" dirty="0"/>
          </a:p>
        </p:txBody>
      </p:sp>
      <p:sp>
        <p:nvSpPr>
          <p:cNvPr id="14" name="Text 12"/>
          <p:cNvSpPr/>
          <p:nvPr/>
        </p:nvSpPr>
        <p:spPr>
          <a:xfrm>
            <a:off x="923544" y="3822192"/>
            <a:ext cx="1572768"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Gas sensors</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Permit-to-work</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CCTV · shift logs</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SCADA / historian</a:t>
            </a:r>
            <a:endParaRPr lang="en-US" sz="950" dirty="0"/>
          </a:p>
        </p:txBody>
      </p:sp>
      <p:sp>
        <p:nvSpPr>
          <p:cNvPr id="15" name="Text 13"/>
          <p:cNvSpPr/>
          <p:nvPr/>
        </p:nvSpPr>
        <p:spPr>
          <a:xfrm>
            <a:off x="2624328"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16" name="Shape 14"/>
          <p:cNvSpPr/>
          <p:nvPr/>
        </p:nvSpPr>
        <p:spPr>
          <a:xfrm>
            <a:off x="2880360" y="3310128"/>
            <a:ext cx="1719072" cy="1664208"/>
          </a:xfrm>
          <a:prstGeom prst="rect">
            <a:avLst/>
          </a:prstGeom>
          <a:solidFill>
            <a:srgbClr val="120D08"/>
          </a:solidFill>
          <a:ln w="12700">
            <a:solidFill>
              <a:srgbClr val="2A2118"/>
            </a:solidFill>
            <a:prstDash val="solid"/>
          </a:ln>
        </p:spPr>
      </p:sp>
      <p:sp>
        <p:nvSpPr>
          <p:cNvPr id="17" name="Text 15"/>
          <p:cNvSpPr/>
          <p:nvPr/>
        </p:nvSpPr>
        <p:spPr>
          <a:xfrm>
            <a:off x="3026664" y="3447288"/>
            <a:ext cx="1444752"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INGEST</a:t>
            </a:r>
            <a:endParaRPr lang="en-US" sz="1250" dirty="0"/>
          </a:p>
        </p:txBody>
      </p:sp>
      <p:sp>
        <p:nvSpPr>
          <p:cNvPr id="18" name="Text 16"/>
          <p:cNvSpPr/>
          <p:nvPr/>
        </p:nvSpPr>
        <p:spPr>
          <a:xfrm>
            <a:off x="3026664" y="3822192"/>
            <a:ext cx="1444752"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OPC-UA · MQTT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CSV connector</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Edge pre-filter</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digital twin</a:t>
            </a:r>
            <a:endParaRPr lang="en-US" sz="950" dirty="0"/>
          </a:p>
        </p:txBody>
      </p:sp>
      <p:sp>
        <p:nvSpPr>
          <p:cNvPr id="19" name="Text 17"/>
          <p:cNvSpPr/>
          <p:nvPr/>
        </p:nvSpPr>
        <p:spPr>
          <a:xfrm>
            <a:off x="4599432"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0" name="Shape 18"/>
          <p:cNvSpPr/>
          <p:nvPr/>
        </p:nvSpPr>
        <p:spPr>
          <a:xfrm>
            <a:off x="4855464" y="3310128"/>
            <a:ext cx="2487168" cy="1664208"/>
          </a:xfrm>
          <a:prstGeom prst="rect">
            <a:avLst/>
          </a:prstGeom>
          <a:solidFill>
            <a:srgbClr val="1C140C"/>
          </a:solidFill>
          <a:ln w="25400">
            <a:solidFill>
              <a:srgbClr val="FF6A1A"/>
            </a:solidFill>
            <a:prstDash val="solid"/>
          </a:ln>
        </p:spPr>
      </p:sp>
      <p:sp>
        <p:nvSpPr>
          <p:cNvPr id="21" name="Shape 19"/>
          <p:cNvSpPr/>
          <p:nvPr/>
        </p:nvSpPr>
        <p:spPr>
          <a:xfrm>
            <a:off x="4855464" y="3310128"/>
            <a:ext cx="2487168" cy="45720"/>
          </a:xfrm>
          <a:prstGeom prst="rect">
            <a:avLst/>
          </a:prstGeom>
          <a:solidFill>
            <a:srgbClr val="FF6A1A"/>
          </a:solidFill>
          <a:ln/>
        </p:spPr>
      </p:sp>
      <p:sp>
        <p:nvSpPr>
          <p:cNvPr id="22" name="Text 20"/>
          <p:cNvSpPr/>
          <p:nvPr/>
        </p:nvSpPr>
        <p:spPr>
          <a:xfrm>
            <a:off x="5001768" y="3447288"/>
            <a:ext cx="2212848" cy="292608"/>
          </a:xfrm>
          <a:prstGeom prst="rect">
            <a:avLst/>
          </a:prstGeom>
          <a:noFill/>
          <a:ln/>
        </p:spPr>
        <p:txBody>
          <a:bodyPr wrap="square" lIns="0" tIns="0" rIns="0" bIns="0" rtlCol="0" anchor="t"/>
          <a:lstStyle/>
          <a:p>
            <a:pPr indent="0" marL="0">
              <a:buNone/>
            </a:pPr>
            <a:r>
              <a:rPr lang="en-US" sz="1350" dirty="0">
                <a:solidFill>
                  <a:srgbClr val="FF6A1A"/>
                </a:solidFill>
                <a:latin typeface="Bahnschrift" pitchFamily="34" charset="0"/>
                <a:ea typeface="Bahnschrift" pitchFamily="34" charset="-122"/>
                <a:cs typeface="Bahnschrift" pitchFamily="34" charset="-120"/>
              </a:rPr>
              <a:t>COMPOUND ENGINE</a:t>
            </a:r>
            <a:endParaRPr lang="en-US" sz="1350" dirty="0"/>
          </a:p>
        </p:txBody>
      </p:sp>
      <p:sp>
        <p:nvSpPr>
          <p:cNvPr id="23" name="Text 21"/>
          <p:cNvSpPr/>
          <p:nvPr/>
        </p:nvSpPr>
        <p:spPr>
          <a:xfrm>
            <a:off x="5001768" y="3822192"/>
            <a:ext cx="2212848"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gas level + trend</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ignition + personnel</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blast-radius · O2 gate</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verdict · lead · actions</a:t>
            </a:r>
            <a:endParaRPr lang="en-US" sz="950" dirty="0"/>
          </a:p>
        </p:txBody>
      </p:sp>
      <p:sp>
        <p:nvSpPr>
          <p:cNvPr id="24" name="Text 22"/>
          <p:cNvSpPr/>
          <p:nvPr/>
        </p:nvSpPr>
        <p:spPr>
          <a:xfrm>
            <a:off x="7342632"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5" name="Shape 23"/>
          <p:cNvSpPr/>
          <p:nvPr/>
        </p:nvSpPr>
        <p:spPr>
          <a:xfrm>
            <a:off x="7598664" y="3310128"/>
            <a:ext cx="1792224" cy="1664208"/>
          </a:xfrm>
          <a:prstGeom prst="rect">
            <a:avLst/>
          </a:prstGeom>
          <a:solidFill>
            <a:srgbClr val="120D08"/>
          </a:solidFill>
          <a:ln w="12700">
            <a:solidFill>
              <a:srgbClr val="2A2118"/>
            </a:solidFill>
            <a:prstDash val="solid"/>
          </a:ln>
        </p:spPr>
      </p:sp>
      <p:sp>
        <p:nvSpPr>
          <p:cNvPr id="26" name="Text 24"/>
          <p:cNvSpPr/>
          <p:nvPr/>
        </p:nvSpPr>
        <p:spPr>
          <a:xfrm>
            <a:off x="7744968" y="3447288"/>
            <a:ext cx="1517904"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RESPONSE</a:t>
            </a:r>
            <a:endParaRPr lang="en-US" sz="1250" dirty="0"/>
          </a:p>
        </p:txBody>
      </p:sp>
      <p:sp>
        <p:nvSpPr>
          <p:cNvPr id="27" name="Text 25"/>
          <p:cNvSpPr/>
          <p:nvPr/>
        </p:nvSpPr>
        <p:spPr>
          <a:xfrm>
            <a:off x="7744968" y="3822192"/>
            <a:ext cx="1517904"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Incident report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Multilingual alert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Multi-channel dispatch</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Evidence freeze</a:t>
            </a:r>
            <a:endParaRPr lang="en-US" sz="950" dirty="0"/>
          </a:p>
        </p:txBody>
      </p:sp>
      <p:sp>
        <p:nvSpPr>
          <p:cNvPr id="28" name="Text 26"/>
          <p:cNvSpPr/>
          <p:nvPr/>
        </p:nvSpPr>
        <p:spPr>
          <a:xfrm>
            <a:off x="9390888"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9" name="Shape 27"/>
          <p:cNvSpPr/>
          <p:nvPr/>
        </p:nvSpPr>
        <p:spPr>
          <a:xfrm>
            <a:off x="9637776" y="3310128"/>
            <a:ext cx="1773936" cy="1664208"/>
          </a:xfrm>
          <a:prstGeom prst="rect">
            <a:avLst/>
          </a:prstGeom>
          <a:solidFill>
            <a:srgbClr val="120D08"/>
          </a:solidFill>
          <a:ln w="12700">
            <a:solidFill>
              <a:srgbClr val="2A2118"/>
            </a:solidFill>
            <a:prstDash val="solid"/>
          </a:ln>
        </p:spPr>
      </p:sp>
      <p:sp>
        <p:nvSpPr>
          <p:cNvPr id="30" name="Text 28"/>
          <p:cNvSpPr/>
          <p:nvPr/>
        </p:nvSpPr>
        <p:spPr>
          <a:xfrm>
            <a:off x="9784080" y="3447288"/>
            <a:ext cx="1499616"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CONTROL ROOM</a:t>
            </a:r>
            <a:endParaRPr lang="en-US" sz="1250" dirty="0"/>
          </a:p>
        </p:txBody>
      </p:sp>
      <p:sp>
        <p:nvSpPr>
          <p:cNvPr id="31" name="Text 29"/>
          <p:cNvSpPr/>
          <p:nvPr/>
        </p:nvSpPr>
        <p:spPr>
          <a:xfrm>
            <a:off x="9784080" y="3822192"/>
            <a:ext cx="1499616"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Next.js split-reality</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HMI · plant · fleet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FastAPI REST + WS</a:t>
            </a:r>
            <a:endParaRPr lang="en-US" sz="950" dirty="0"/>
          </a:p>
        </p:txBody>
      </p:sp>
      <p:sp>
        <p:nvSpPr>
          <p:cNvPr id="32" name="Shape 30"/>
          <p:cNvSpPr/>
          <p:nvPr/>
        </p:nvSpPr>
        <p:spPr>
          <a:xfrm>
            <a:off x="6099048" y="2615184"/>
            <a:ext cx="0" cy="694944"/>
          </a:xfrm>
          <a:prstGeom prst="line">
            <a:avLst/>
          </a:prstGeom>
          <a:noFill/>
          <a:ln w="12700">
            <a:solidFill>
              <a:srgbClr val="473726"/>
            </a:solidFill>
            <a:prstDash val="dash"/>
          </a:ln>
        </p:spPr>
      </p:sp>
      <p:sp>
        <p:nvSpPr>
          <p:cNvPr id="33" name="Text 31"/>
          <p:cNvSpPr/>
          <p:nvPr/>
        </p:nvSpPr>
        <p:spPr>
          <a:xfrm>
            <a:off x="4855464" y="5047488"/>
            <a:ext cx="2487168" cy="228600"/>
          </a:xfrm>
          <a:prstGeom prst="rect">
            <a:avLst/>
          </a:prstGeom>
          <a:noFill/>
          <a:ln/>
        </p:spPr>
        <p:txBody>
          <a:bodyPr wrap="square" lIns="0" tIns="0" rIns="0" bIns="0" rtlCol="0" anchor="t"/>
          <a:lstStyle/>
          <a:p>
            <a:pPr algn="ctr" indent="0" marL="0">
              <a:buNone/>
            </a:pPr>
            <a:r>
              <a:rPr lang="en-US" sz="750" spc="50" kern="0" dirty="0">
                <a:solidFill>
                  <a:srgbClr val="FF6A1A"/>
                </a:solidFill>
                <a:latin typeface="Cascadia Mono" pitchFamily="34" charset="0"/>
                <a:ea typeface="Cascadia Mono" pitchFamily="34" charset="-122"/>
                <a:cs typeface="Cascadia Mono" pitchFamily="34" charset="-120"/>
              </a:rPr>
              <a:t>DETERMINISTIC · AUDITABLE · NO LLM IN THE DECISION</a:t>
            </a:r>
            <a:endParaRPr lang="en-US" sz="750" dirty="0"/>
          </a:p>
        </p:txBody>
      </p:sp>
      <p:sp>
        <p:nvSpPr>
          <p:cNvPr id="34" name="Text 3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Hybrid by design — the deterministic engine makes every life-safety call; the LLM layer only explains it, retrieves precedent, and drafts reports.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07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DIFFERENTIATOR</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We've seen this death before</a:t>
            </a:r>
            <a:endParaRPr lang="en-US" sz="3300" dirty="0"/>
          </a:p>
        </p:txBody>
      </p:sp>
      <p:sp>
        <p:nvSpPr>
          <p:cNvPr id="9" name="Text 7"/>
          <p:cNvSpPr/>
          <p:nvPr/>
        </p:nvSpPr>
        <p:spPr>
          <a:xfrm>
            <a:off x="777240" y="2011680"/>
            <a:ext cx="3657600" cy="1828800"/>
          </a:xfrm>
          <a:prstGeom prst="rect">
            <a:avLst/>
          </a:prstGeom>
          <a:noFill/>
          <a:ln/>
        </p:spPr>
        <p:txBody>
          <a:bodyPr wrap="square" lIns="0" tIns="0" rIns="0" bIns="0" rtlCol="0" anchor="t"/>
          <a:lstStyle/>
          <a:p>
            <a:pPr indent="0" marL="0">
              <a:buNone/>
            </a:pPr>
            <a:r>
              <a:rPr lang="en-US" sz="15000" dirty="0">
                <a:solidFill>
                  <a:srgbClr val="FF2B4E"/>
                </a:solidFill>
                <a:latin typeface="Bahnschrift SemiBold" pitchFamily="34" charset="0"/>
                <a:ea typeface="Bahnschrift SemiBold" pitchFamily="34" charset="-122"/>
                <a:cs typeface="Bahnschrift SemiBold" pitchFamily="34" charset="-120"/>
              </a:rPr>
              <a:t>81</a:t>
            </a:r>
            <a:endParaRPr lang="en-US" sz="15000" dirty="0"/>
          </a:p>
        </p:txBody>
      </p:sp>
      <p:sp>
        <p:nvSpPr>
          <p:cNvPr id="10" name="Text 8"/>
          <p:cNvSpPr/>
          <p:nvPr/>
        </p:nvSpPr>
        <p:spPr>
          <a:xfrm>
            <a:off x="868680" y="3977640"/>
            <a:ext cx="3657600" cy="365760"/>
          </a:xfrm>
          <a:prstGeom prst="rect">
            <a:avLst/>
          </a:prstGeom>
          <a:noFill/>
          <a:ln/>
        </p:spPr>
        <p:txBody>
          <a:bodyPr wrap="square" lIns="0" tIns="0" rIns="0" bIns="0" rtlCol="0" anchor="t"/>
          <a:lstStyle/>
          <a:p>
            <a:pPr indent="0" marL="0">
              <a:buNone/>
            </a:pPr>
            <a:r>
              <a:rPr lang="en-US" sz="1500" spc="200" kern="0" dirty="0">
                <a:solidFill>
                  <a:srgbClr val="FF6A1A"/>
                </a:solidFill>
                <a:latin typeface="Cascadia Mono" pitchFamily="34" charset="0"/>
                <a:ea typeface="Cascadia Mono" pitchFamily="34" charset="-122"/>
                <a:cs typeface="Cascadia Mono" pitchFamily="34" charset="-120"/>
              </a:rPr>
              <a:t>% MATCH</a:t>
            </a:r>
            <a:endParaRPr lang="en-US" sz="1500" dirty="0"/>
          </a:p>
        </p:txBody>
      </p:sp>
      <p:sp>
        <p:nvSpPr>
          <p:cNvPr id="11" name="Text 9"/>
          <p:cNvSpPr/>
          <p:nvPr/>
        </p:nvSpPr>
        <p:spPr>
          <a:xfrm>
            <a:off x="777240" y="4370832"/>
            <a:ext cx="3931920" cy="548640"/>
          </a:xfrm>
          <a:prstGeom prst="rect">
            <a:avLst/>
          </a:prstGeom>
          <a:noFill/>
          <a:ln/>
        </p:spPr>
        <p:txBody>
          <a:bodyPr wrap="square" lIns="0" tIns="0" rIns="0" bIns="0" rtlCol="0" anchor="t"/>
          <a:lstStyle/>
          <a:p>
            <a:pPr indent="0" marL="0">
              <a:lnSpc>
                <a:spcPct val="115000"/>
              </a:lnSpc>
              <a:buNone/>
            </a:pPr>
            <a:r>
              <a:rPr lang="en-US" sz="1300" dirty="0">
                <a:solidFill>
                  <a:srgbClr val="C6B9A6"/>
                </a:solidFill>
                <a:latin typeface="Segoe UI" pitchFamily="34" charset="0"/>
                <a:ea typeface="Segoe UI" pitchFamily="34" charset="-122"/>
                <a:cs typeface="Segoe UI" pitchFamily="34" charset="-120"/>
              </a:rPr>
              <a:t>Visakhapatnam coke-oven explosion · 2025 · 8 killed</a:t>
            </a:r>
            <a:endParaRPr lang="en-US" sz="1300" dirty="0"/>
          </a:p>
        </p:txBody>
      </p:sp>
      <p:sp>
        <p:nvSpPr>
          <p:cNvPr id="12" name="Shape 10"/>
          <p:cNvSpPr/>
          <p:nvPr/>
        </p:nvSpPr>
        <p:spPr>
          <a:xfrm>
            <a:off x="5212080" y="2057400"/>
            <a:ext cx="0" cy="2697480"/>
          </a:xfrm>
          <a:prstGeom prst="line">
            <a:avLst/>
          </a:prstGeom>
          <a:noFill/>
          <a:ln w="12700">
            <a:solidFill>
              <a:srgbClr val="2A2118"/>
            </a:solidFill>
            <a:prstDash val="solid"/>
          </a:ln>
        </p:spPr>
      </p:sp>
      <p:sp>
        <p:nvSpPr>
          <p:cNvPr id="13" name="Text 11"/>
          <p:cNvSpPr/>
          <p:nvPr/>
        </p:nvSpPr>
        <p:spPr>
          <a:xfrm>
            <a:off x="5532120" y="2103120"/>
            <a:ext cx="59436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GROUNDED BRIEFING</a:t>
            </a:r>
            <a:endParaRPr lang="en-US" sz="1000" dirty="0"/>
          </a:p>
        </p:txBody>
      </p:sp>
      <p:sp>
        <p:nvSpPr>
          <p:cNvPr id="14" name="Text 12"/>
          <p:cNvSpPr/>
          <p:nvPr/>
        </p:nvSpPr>
        <p:spPr>
          <a:xfrm>
            <a:off x="5532120" y="2487168"/>
            <a:ext cx="5882335" cy="1920240"/>
          </a:xfrm>
          <a:prstGeom prst="rect">
            <a:avLst/>
          </a:prstGeom>
          <a:noFill/>
          <a:ln/>
        </p:spPr>
        <p:txBody>
          <a:bodyPr wrap="square" lIns="0" tIns="0" rIns="0" bIns="0" rtlCol="0" anchor="t"/>
          <a:lstStyle/>
          <a:p>
            <a:pPr indent="0" marL="0">
              <a:lnSpc>
                <a:spcPct val="122000"/>
              </a:lnSpc>
              <a:buNone/>
            </a:pPr>
            <a:r>
              <a:rPr lang="en-US" sz="1600" dirty="0">
                <a:solidFill>
                  <a:srgbClr val="FBF6EC"/>
                </a:solidFill>
                <a:latin typeface="Segoe UI Light" pitchFamily="34" charset="0"/>
                <a:ea typeface="Segoe UI Light" pitchFamily="34" charset="-122"/>
                <a:cs typeface="Segoe UI Light"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5" name="Text 13"/>
          <p:cNvSpPr/>
          <p:nvPr/>
        </p:nvSpPr>
        <p:spPr>
          <a:xfrm>
            <a:off x="553212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73%</a:t>
            </a:r>
            <a:endParaRPr lang="en-US" sz="2400" dirty="0"/>
          </a:p>
        </p:txBody>
      </p:sp>
      <p:sp>
        <p:nvSpPr>
          <p:cNvPr id="16" name="Text 14"/>
          <p:cNvSpPr/>
          <p:nvPr/>
        </p:nvSpPr>
        <p:spPr>
          <a:xfrm>
            <a:off x="553212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Texas City refinery</a:t>
            </a:r>
            <a:endParaRPr lang="en-US" sz="950" dirty="0"/>
          </a:p>
        </p:txBody>
      </p:sp>
      <p:sp>
        <p:nvSpPr>
          <p:cNvPr id="17" name="Text 15"/>
          <p:cNvSpPr/>
          <p:nvPr/>
        </p:nvSpPr>
        <p:spPr>
          <a:xfrm>
            <a:off x="768096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71%</a:t>
            </a:r>
            <a:endParaRPr lang="en-US" sz="2400" dirty="0"/>
          </a:p>
        </p:txBody>
      </p:sp>
      <p:sp>
        <p:nvSpPr>
          <p:cNvPr id="18" name="Text 16"/>
          <p:cNvSpPr/>
          <p:nvPr/>
        </p:nvSpPr>
        <p:spPr>
          <a:xfrm>
            <a:off x="768096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Hot-work ignition</a:t>
            </a:r>
            <a:endParaRPr lang="en-US" sz="950" dirty="0"/>
          </a:p>
        </p:txBody>
      </p:sp>
      <p:sp>
        <p:nvSpPr>
          <p:cNvPr id="19" name="Text 17"/>
          <p:cNvSpPr/>
          <p:nvPr/>
        </p:nvSpPr>
        <p:spPr>
          <a:xfrm>
            <a:off x="982980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a:t>
            </a:r>
            <a:endParaRPr lang="en-US" sz="2400" dirty="0"/>
          </a:p>
        </p:txBody>
      </p:sp>
      <p:sp>
        <p:nvSpPr>
          <p:cNvPr id="20" name="Text 18"/>
          <p:cNvSpPr/>
          <p:nvPr/>
        </p:nvSpPr>
        <p:spPr>
          <a:xfrm>
            <a:off x="982980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Piper Alpha</a:t>
            </a:r>
            <a:endParaRPr lang="en-US" sz="950" dirty="0"/>
          </a:p>
        </p:txBody>
      </p:sp>
      <p:sp>
        <p:nvSpPr>
          <p:cNvPr id="21" name="Text 19"/>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Live conditions embedded with Gemini, matched against a corpus of real industrial disasters.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08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PROACTIVE, NOT REACTIVE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hazard that hasn't happened yet</a:t>
            </a:r>
            <a:endParaRPr lang="en-US" sz="3100" dirty="0"/>
          </a:p>
        </p:txBody>
      </p:sp>
      <p:sp>
        <p:nvSpPr>
          <p:cNvPr id="9" name="Shape 7"/>
          <p:cNvSpPr/>
          <p:nvPr/>
        </p:nvSpPr>
        <p:spPr>
          <a:xfrm>
            <a:off x="777240" y="2148840"/>
            <a:ext cx="2384984" cy="0"/>
          </a:xfrm>
          <a:prstGeom prst="line">
            <a:avLst/>
          </a:prstGeom>
          <a:noFill/>
          <a:ln w="12700">
            <a:solidFill>
              <a:srgbClr val="473726"/>
            </a:solidFill>
            <a:prstDash val="solid"/>
          </a:ln>
        </p:spPr>
      </p:sp>
      <p:sp>
        <p:nvSpPr>
          <p:cNvPr id="10" name="Text 8"/>
          <p:cNvSpPr/>
          <p:nvPr/>
        </p:nvSpPr>
        <p:spPr>
          <a:xfrm>
            <a:off x="777240" y="2286000"/>
            <a:ext cx="2384984" cy="868680"/>
          </a:xfrm>
          <a:prstGeom prst="rect">
            <a:avLst/>
          </a:prstGeom>
          <a:noFill/>
          <a:ln/>
        </p:spPr>
        <p:txBody>
          <a:bodyPr wrap="square" lIns="0" tIns="0" rIns="0" bIns="0" rtlCol="0" anchor="t"/>
          <a:lstStyle/>
          <a:p>
            <a:pPr indent="0" marL="0">
              <a:buNone/>
            </a:pPr>
            <a:r>
              <a:rPr lang="en-US" sz="5200" dirty="0">
                <a:solidFill>
                  <a:srgbClr val="C6B9A6"/>
                </a:solidFill>
                <a:latin typeface="Bahnschrift SemiBold" pitchFamily="34" charset="0"/>
                <a:ea typeface="Bahnschrift SemiBold" pitchFamily="34" charset="-122"/>
                <a:cs typeface="Bahnschrift SemiBold" pitchFamily="34" charset="-120"/>
              </a:rPr>
              <a:t>228</a:t>
            </a:r>
            <a:endParaRPr lang="en-US" sz="5200" dirty="0"/>
          </a:p>
        </p:txBody>
      </p:sp>
      <p:sp>
        <p:nvSpPr>
          <p:cNvPr id="11" name="Text 9"/>
          <p:cNvSpPr/>
          <p:nvPr/>
        </p:nvSpPr>
        <p:spPr>
          <a:xfrm>
            <a:off x="777240"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placements searched</a:t>
            </a:r>
            <a:endParaRPr lang="en-US" sz="1200" dirty="0"/>
          </a:p>
        </p:txBody>
      </p:sp>
      <p:sp>
        <p:nvSpPr>
          <p:cNvPr id="12" name="Shape 10"/>
          <p:cNvSpPr/>
          <p:nvPr/>
        </p:nvSpPr>
        <p:spPr>
          <a:xfrm>
            <a:off x="3436544" y="2148840"/>
            <a:ext cx="2384984" cy="0"/>
          </a:xfrm>
          <a:prstGeom prst="line">
            <a:avLst/>
          </a:prstGeom>
          <a:noFill/>
          <a:ln w="12700">
            <a:solidFill>
              <a:srgbClr val="473726"/>
            </a:solidFill>
            <a:prstDash val="solid"/>
          </a:ln>
        </p:spPr>
      </p:sp>
      <p:sp>
        <p:nvSpPr>
          <p:cNvPr id="13" name="Text 11"/>
          <p:cNvSpPr/>
          <p:nvPr/>
        </p:nvSpPr>
        <p:spPr>
          <a:xfrm>
            <a:off x="3436544" y="2286000"/>
            <a:ext cx="2384984" cy="868680"/>
          </a:xfrm>
          <a:prstGeom prst="rect">
            <a:avLst/>
          </a:prstGeom>
          <a:noFill/>
          <a:ln/>
        </p:spPr>
        <p:txBody>
          <a:bodyPr wrap="square" lIns="0" tIns="0" rIns="0" bIns="0" rtlCol="0" anchor="t"/>
          <a:lstStyle/>
          <a:p>
            <a:pPr indent="0" marL="0">
              <a:buNone/>
            </a:pPr>
            <a:r>
              <a:rPr lang="en-US" sz="5200" dirty="0">
                <a:solidFill>
                  <a:srgbClr val="FF2B4E"/>
                </a:solidFill>
                <a:latin typeface="Bahnschrift SemiBold" pitchFamily="34" charset="0"/>
                <a:ea typeface="Bahnschrift SemiBold" pitchFamily="34" charset="-122"/>
                <a:cs typeface="Bahnschrift SemiBold" pitchFamily="34" charset="-120"/>
              </a:rPr>
              <a:t>136</a:t>
            </a:r>
            <a:endParaRPr lang="en-US" sz="5200" dirty="0"/>
          </a:p>
        </p:txBody>
      </p:sp>
      <p:sp>
        <p:nvSpPr>
          <p:cNvPr id="14" name="Text 12"/>
          <p:cNvSpPr/>
          <p:nvPr/>
        </p:nvSpPr>
        <p:spPr>
          <a:xfrm>
            <a:off x="3436544"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compound hazards found</a:t>
            </a:r>
            <a:endParaRPr lang="en-US" sz="1200" dirty="0"/>
          </a:p>
        </p:txBody>
      </p:sp>
      <p:sp>
        <p:nvSpPr>
          <p:cNvPr id="15" name="Shape 13"/>
          <p:cNvSpPr/>
          <p:nvPr/>
        </p:nvSpPr>
        <p:spPr>
          <a:xfrm>
            <a:off x="6095848" y="2148840"/>
            <a:ext cx="2384984" cy="0"/>
          </a:xfrm>
          <a:prstGeom prst="line">
            <a:avLst/>
          </a:prstGeom>
          <a:noFill/>
          <a:ln w="12700">
            <a:solidFill>
              <a:srgbClr val="473726"/>
            </a:solidFill>
            <a:prstDash val="solid"/>
          </a:ln>
        </p:spPr>
      </p:sp>
      <p:sp>
        <p:nvSpPr>
          <p:cNvPr id="16" name="Text 14"/>
          <p:cNvSpPr/>
          <p:nvPr/>
        </p:nvSpPr>
        <p:spPr>
          <a:xfrm>
            <a:off x="6095848" y="2286000"/>
            <a:ext cx="2384984" cy="868680"/>
          </a:xfrm>
          <a:prstGeom prst="rect">
            <a:avLst/>
          </a:prstGeom>
          <a:noFill/>
          <a:ln/>
        </p:spPr>
        <p:txBody>
          <a:bodyPr wrap="square" lIns="0" tIns="0" rIns="0" bIns="0" rtlCol="0" anchor="t"/>
          <a:lstStyle/>
          <a:p>
            <a:pPr indent="0" marL="0">
              <a:buNone/>
            </a:pPr>
            <a:r>
              <a:rPr lang="en-US" sz="5200" dirty="0">
                <a:solidFill>
                  <a:srgbClr val="F5902B"/>
                </a:solidFill>
                <a:latin typeface="Bahnschrift SemiBold" pitchFamily="34" charset="0"/>
                <a:ea typeface="Bahnschrift SemiBold" pitchFamily="34" charset="-122"/>
                <a:cs typeface="Bahnschrift SemiBold" pitchFamily="34" charset="-120"/>
              </a:rPr>
              <a:t>124</a:t>
            </a:r>
            <a:endParaRPr lang="en-US" sz="5200" dirty="0"/>
          </a:p>
        </p:txBody>
      </p:sp>
      <p:sp>
        <p:nvSpPr>
          <p:cNvPr id="17" name="Text 15"/>
          <p:cNvSpPr/>
          <p:nvPr/>
        </p:nvSpPr>
        <p:spPr>
          <a:xfrm>
            <a:off x="6095848"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cross-zone (walkdowns miss)</a:t>
            </a:r>
            <a:endParaRPr lang="en-US" sz="1200" dirty="0"/>
          </a:p>
        </p:txBody>
      </p:sp>
      <p:sp>
        <p:nvSpPr>
          <p:cNvPr id="18" name="Shape 16"/>
          <p:cNvSpPr/>
          <p:nvPr/>
        </p:nvSpPr>
        <p:spPr>
          <a:xfrm>
            <a:off x="8755151" y="2148840"/>
            <a:ext cx="2384984" cy="0"/>
          </a:xfrm>
          <a:prstGeom prst="line">
            <a:avLst/>
          </a:prstGeom>
          <a:noFill/>
          <a:ln w="12700">
            <a:solidFill>
              <a:srgbClr val="473726"/>
            </a:solidFill>
            <a:prstDash val="solid"/>
          </a:ln>
        </p:spPr>
      </p:sp>
      <p:sp>
        <p:nvSpPr>
          <p:cNvPr id="19" name="Text 17"/>
          <p:cNvSpPr/>
          <p:nvPr/>
        </p:nvSpPr>
        <p:spPr>
          <a:xfrm>
            <a:off x="8755151" y="2286000"/>
            <a:ext cx="2384984" cy="868680"/>
          </a:xfrm>
          <a:prstGeom prst="rect">
            <a:avLst/>
          </a:prstGeom>
          <a:noFill/>
          <a:ln/>
        </p:spPr>
        <p:txBody>
          <a:bodyPr wrap="square" lIns="0" tIns="0" rIns="0" bIns="0" rtlCol="0" anchor="t"/>
          <a:lstStyle/>
          <a:p>
            <a:pPr indent="0" marL="0">
              <a:buNone/>
            </a:pPr>
            <a:r>
              <a:rPr lang="en-US" sz="5200" dirty="0">
                <a:solidFill>
                  <a:srgbClr val="7C8B9A"/>
                </a:solidFill>
                <a:latin typeface="Bahnschrift SemiBold" pitchFamily="34" charset="0"/>
                <a:ea typeface="Bahnschrift SemiBold" pitchFamily="34" charset="-122"/>
                <a:cs typeface="Bahnschrift SemiBold" pitchFamily="34" charset="-120"/>
              </a:rPr>
              <a:t>92</a:t>
            </a:r>
            <a:endParaRPr lang="en-US" sz="5200" dirty="0"/>
          </a:p>
        </p:txBody>
      </p:sp>
      <p:sp>
        <p:nvSpPr>
          <p:cNvPr id="20" name="Text 18"/>
          <p:cNvSpPr/>
          <p:nvPr/>
        </p:nvSpPr>
        <p:spPr>
          <a:xfrm>
            <a:off x="8755151" y="3200400"/>
            <a:ext cx="2339264" cy="54864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correctly cleared</a:t>
            </a:r>
            <a:endParaRPr lang="en-US" sz="1200" dirty="0"/>
          </a:p>
        </p:txBody>
      </p:sp>
      <p:sp>
        <p:nvSpPr>
          <p:cNvPr id="21" name="Shape 19"/>
          <p:cNvSpPr/>
          <p:nvPr/>
        </p:nvSpPr>
        <p:spPr>
          <a:xfrm>
            <a:off x="777240" y="4114800"/>
            <a:ext cx="10637215" cy="1234440"/>
          </a:xfrm>
          <a:prstGeom prst="rect">
            <a:avLst/>
          </a:prstGeom>
          <a:solidFill>
            <a:srgbClr val="120D08"/>
          </a:solidFill>
          <a:ln w="12700">
            <a:solidFill>
              <a:srgbClr val="FF2B4E"/>
            </a:solidFill>
            <a:prstDash val="solid"/>
          </a:ln>
        </p:spPr>
      </p:sp>
      <p:sp>
        <p:nvSpPr>
          <p:cNvPr id="22" name="Shape 20"/>
          <p:cNvSpPr/>
          <p:nvPr/>
        </p:nvSpPr>
        <p:spPr>
          <a:xfrm>
            <a:off x="777240" y="4114800"/>
            <a:ext cx="45720" cy="1234440"/>
          </a:xfrm>
          <a:prstGeom prst="rect">
            <a:avLst/>
          </a:prstGeom>
          <a:solidFill>
            <a:srgbClr val="FF2B4E"/>
          </a:solidFill>
          <a:ln/>
        </p:spPr>
      </p:sp>
      <p:sp>
        <p:nvSpPr>
          <p:cNvPr id="23" name="Text 21"/>
          <p:cNvSpPr/>
          <p:nvPr/>
        </p:nvSpPr>
        <p:spPr>
          <a:xfrm>
            <a:off x="1097280" y="4279392"/>
            <a:ext cx="1005840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LARGEST-BLAST-RADIUS DISCOVERY</a:t>
            </a:r>
            <a:endParaRPr lang="en-US" sz="1000" dirty="0"/>
          </a:p>
        </p:txBody>
      </p:sp>
      <p:sp>
        <p:nvSpPr>
          <p:cNvPr id="24" name="Text 22"/>
          <p:cNvSpPr/>
          <p:nvPr/>
        </p:nvSpPr>
        <p:spPr>
          <a:xfrm>
            <a:off x="1097280" y="4590288"/>
            <a:ext cx="9997135" cy="731520"/>
          </a:xfrm>
          <a:prstGeom prst="rect">
            <a:avLst/>
          </a:prstGeom>
          <a:noFill/>
          <a:ln/>
        </p:spPr>
        <p:txBody>
          <a:bodyPr wrap="square" lIns="0" tIns="0" rIns="0" bIns="0" rtlCol="0" anchor="t"/>
          <a:lstStyle/>
          <a:p>
            <a:pPr indent="0" marL="0">
              <a:lnSpc>
                <a:spcPct val="118000"/>
              </a:lnSpc>
              <a:buNone/>
            </a:pPr>
            <a:r>
              <a:rPr lang="en-US" sz="1350" dirty="0">
                <a:solidFill>
                  <a:srgbClr val="FBF6EC"/>
                </a:solidFill>
                <a:latin typeface="Segoe UI" pitchFamily="34" charset="0"/>
                <a:ea typeface="Segoe UI" pitchFamily="34" charset="-122"/>
                <a:cs typeface="Segoe UI" pitchFamily="34" charset="-120"/>
              </a:rPr>
              <a:t>Rising methane in Coke Oven Battery #1, hot work in the bay, and the crew working next door in the Gas Cleaning Plant — compound CRITICAL by T+10. The blast radius spans the gas-cleaning plant, the confined sump and the maintenance bay. No single zone looks dangerous on its own.</a:t>
            </a:r>
            <a:endParaRPr lang="en-US" sz="1350" dirty="0"/>
          </a:p>
        </p:txBody>
      </p:sp>
      <p:sp>
        <p:nvSpPr>
          <p:cNvPr id="25" name="Text 23"/>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engine runs as an oracle across the plant's blast-radius map — discovering cross-zone compounds a zone-by-zone walkdown rates safe, before they occur.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09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PREVENTION, NOT DETECTION</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Block the permit before it's issued</a:t>
            </a:r>
            <a:endParaRPr lang="en-US" sz="3100" dirty="0"/>
          </a:p>
        </p:txBody>
      </p:sp>
      <p:sp>
        <p:nvSpPr>
          <p:cNvPr id="9" name="Text 7"/>
          <p:cNvSpPr/>
          <p:nvPr/>
        </p:nvSpPr>
        <p:spPr>
          <a:xfrm>
            <a:off x="777240" y="2240280"/>
            <a:ext cx="54864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PERMIT DESK · HOT-WORK REQUEST · COB-1</a:t>
            </a:r>
            <a:endParaRPr lang="en-US" sz="1000" dirty="0"/>
          </a:p>
        </p:txBody>
      </p:sp>
      <p:sp>
        <p:nvSpPr>
          <p:cNvPr id="10" name="Text 8"/>
          <p:cNvSpPr/>
          <p:nvPr/>
        </p:nvSpPr>
        <p:spPr>
          <a:xfrm>
            <a:off x="749808" y="2514600"/>
            <a:ext cx="4937760" cy="1005840"/>
          </a:xfrm>
          <a:prstGeom prst="rect">
            <a:avLst/>
          </a:prstGeom>
          <a:noFill/>
          <a:ln/>
        </p:spPr>
        <p:txBody>
          <a:bodyPr wrap="square" lIns="0" tIns="0" rIns="0" bIns="0" rtlCol="0" anchor="t"/>
          <a:lstStyle/>
          <a:p>
            <a:pPr indent="0" marL="0">
              <a:buNone/>
            </a:pPr>
            <a:r>
              <a:rPr lang="en-US" sz="6600" dirty="0">
                <a:solidFill>
                  <a:srgbClr val="FF2B4E"/>
                </a:solidFill>
                <a:latin typeface="Bahnschrift SemiBold" pitchFamily="34" charset="0"/>
                <a:ea typeface="Bahnschrift SemiBold" pitchFamily="34" charset="-122"/>
                <a:cs typeface="Bahnschrift SemiBold" pitchFamily="34" charset="-120"/>
              </a:rPr>
              <a:t>BLOCKED</a:t>
            </a:r>
            <a:endParaRPr lang="en-US" sz="6600" dirty="0"/>
          </a:p>
        </p:txBody>
      </p:sp>
      <p:sp>
        <p:nvSpPr>
          <p:cNvPr id="11" name="Shape 9"/>
          <p:cNvSpPr/>
          <p:nvPr/>
        </p:nvSpPr>
        <p:spPr>
          <a:xfrm>
            <a:off x="777240" y="3703320"/>
            <a:ext cx="1371600" cy="457200"/>
          </a:xfrm>
          <a:prstGeom prst="rect">
            <a:avLst/>
          </a:prstGeom>
          <a:solidFill>
            <a:srgbClr val="120D08"/>
          </a:solidFill>
          <a:ln w="12700">
            <a:solidFill>
              <a:srgbClr val="F5902B"/>
            </a:solidFill>
            <a:prstDash val="solid"/>
          </a:ln>
        </p:spPr>
      </p:sp>
      <p:sp>
        <p:nvSpPr>
          <p:cNvPr id="12" name="Text 10"/>
          <p:cNvSpPr/>
          <p:nvPr/>
        </p:nvSpPr>
        <p:spPr>
          <a:xfrm>
            <a:off x="777240" y="3703320"/>
            <a:ext cx="1371600" cy="457200"/>
          </a:xfrm>
          <a:prstGeom prst="rect">
            <a:avLst/>
          </a:prstGeom>
          <a:noFill/>
          <a:ln/>
        </p:spPr>
        <p:txBody>
          <a:bodyPr wrap="square" lIns="0" tIns="0" rIns="0" bIns="0" rtlCol="0" anchor="ctr"/>
          <a:lstStyle/>
          <a:p>
            <a:pPr algn="ctr" indent="0" marL="0">
              <a:buNone/>
            </a:pPr>
            <a:r>
              <a:rPr lang="en-US" sz="1200" dirty="0">
                <a:solidFill>
                  <a:srgbClr val="F5902B"/>
                </a:solidFill>
                <a:latin typeface="Cascadia Mono" pitchFamily="34" charset="0"/>
                <a:ea typeface="Cascadia Mono" pitchFamily="34" charset="-122"/>
                <a:cs typeface="Cascadia Mono" pitchFamily="34" charset="-120"/>
              </a:rPr>
              <a:t>HIGH 80</a:t>
            </a:r>
            <a:endParaRPr lang="en-US" sz="1200" dirty="0"/>
          </a:p>
        </p:txBody>
      </p:sp>
      <p:sp>
        <p:nvSpPr>
          <p:cNvPr id="13" name="Text 11"/>
          <p:cNvSpPr/>
          <p:nvPr/>
        </p:nvSpPr>
        <p:spPr>
          <a:xfrm>
            <a:off x="2194560" y="3703320"/>
            <a:ext cx="457200" cy="457200"/>
          </a:xfrm>
          <a:prstGeom prst="rect">
            <a:avLst/>
          </a:prstGeom>
          <a:noFill/>
          <a:ln/>
        </p:spPr>
        <p:txBody>
          <a:bodyPr wrap="square" lIns="0" tIns="0" rIns="0" bIns="0" rtlCol="0" anchor="ctr"/>
          <a:lstStyle/>
          <a:p>
            <a:pPr algn="ctr" indent="0" marL="0">
              <a:buNone/>
            </a:pPr>
            <a:r>
              <a:rPr lang="en-US" sz="1800" dirty="0">
                <a:solidFill>
                  <a:srgbClr val="8A7B68"/>
                </a:solidFill>
                <a:latin typeface="Bahnschrift" pitchFamily="34" charset="0"/>
                <a:ea typeface="Bahnschrift" pitchFamily="34" charset="-122"/>
                <a:cs typeface="Bahnschrift" pitchFamily="34" charset="-120"/>
              </a:rPr>
              <a:t>→</a:t>
            </a:r>
            <a:endParaRPr lang="en-US" sz="1800" dirty="0"/>
          </a:p>
        </p:txBody>
      </p:sp>
      <p:sp>
        <p:nvSpPr>
          <p:cNvPr id="14" name="Shape 12"/>
          <p:cNvSpPr/>
          <p:nvPr/>
        </p:nvSpPr>
        <p:spPr>
          <a:xfrm>
            <a:off x="2651760" y="3703320"/>
            <a:ext cx="2651760" cy="457200"/>
          </a:xfrm>
          <a:prstGeom prst="rect">
            <a:avLst/>
          </a:prstGeom>
          <a:solidFill>
            <a:srgbClr val="120D08"/>
          </a:solidFill>
          <a:ln w="12700">
            <a:solidFill>
              <a:srgbClr val="FF2B4E"/>
            </a:solidFill>
            <a:prstDash val="solid"/>
          </a:ln>
        </p:spPr>
      </p:sp>
      <p:sp>
        <p:nvSpPr>
          <p:cNvPr id="15" name="Text 13"/>
          <p:cNvSpPr/>
          <p:nvPr/>
        </p:nvSpPr>
        <p:spPr>
          <a:xfrm>
            <a:off x="2651760" y="3703320"/>
            <a:ext cx="2651760" cy="457200"/>
          </a:xfrm>
          <a:prstGeom prst="rect">
            <a:avLst/>
          </a:prstGeom>
          <a:noFill/>
          <a:ln/>
        </p:spPr>
        <p:txBody>
          <a:bodyPr wrap="square" lIns="0" tIns="0" rIns="0" bIns="0" rtlCol="0" anchor="ctr"/>
          <a:lstStyle/>
          <a:p>
            <a:pPr algn="ctr" indent="0" marL="0">
              <a:buNone/>
            </a:pPr>
            <a:r>
              <a:rPr lang="en-US" sz="1100" dirty="0">
                <a:solidFill>
                  <a:srgbClr val="FF2B4E"/>
                </a:solidFill>
                <a:latin typeface="Cascadia Mono" pitchFamily="34" charset="0"/>
                <a:ea typeface="Cascadia Mono" pitchFamily="34" charset="-122"/>
                <a:cs typeface="Cascadia Mono" pitchFamily="34" charset="-120"/>
              </a:rPr>
              <a:t>CRITICAL 100 · compound</a:t>
            </a:r>
            <a:endParaRPr lang="en-US" sz="1100" dirty="0"/>
          </a:p>
        </p:txBody>
      </p:sp>
      <p:sp>
        <p:nvSpPr>
          <p:cNvPr id="16" name="Text 14"/>
          <p:cNvSpPr/>
          <p:nvPr/>
        </p:nvSpPr>
        <p:spPr>
          <a:xfrm>
            <a:off x="777240" y="4434840"/>
            <a:ext cx="4754880" cy="1280160"/>
          </a:xfrm>
          <a:prstGeom prst="rect">
            <a:avLst/>
          </a:prstGeom>
          <a:noFill/>
          <a:ln/>
        </p:spPr>
        <p:txBody>
          <a:bodyPr wrap="square" lIns="0" tIns="0" rIns="0" bIns="0" rtlCol="0" anchor="t"/>
          <a:lstStyle/>
          <a:p>
            <a:pPr indent="0" marL="0">
              <a:lnSpc>
                <a:spcPct val="125000"/>
              </a:lnSpc>
              <a:buNone/>
            </a:pPr>
            <a:r>
              <a:rPr lang="en-US" sz="1400" dirty="0">
                <a:solidFill>
                  <a:srgbClr val="FBF6EC"/>
                </a:solidFill>
                <a:latin typeface="Segoe UI" pitchFamily="34" charset="0"/>
                <a:ea typeface="Segoe UI" pitchFamily="34" charset="-122"/>
                <a:cs typeface="Segoe UI" pitchFamily="34" charset="-120"/>
              </a:rPr>
              <a:t>Issuing this hot-work permit completes the lethal compound pattern — flammable gas + ignition + personnel — minutes before any single sensor would alarm.</a:t>
            </a:r>
            <a:endParaRPr lang="en-US" sz="1400" dirty="0"/>
          </a:p>
        </p:txBody>
      </p:sp>
      <p:sp>
        <p:nvSpPr>
          <p:cNvPr id="17" name="Shape 15"/>
          <p:cNvSpPr/>
          <p:nvPr/>
        </p:nvSpPr>
        <p:spPr>
          <a:xfrm>
            <a:off x="5989320" y="2194560"/>
            <a:ext cx="0" cy="3520440"/>
          </a:xfrm>
          <a:prstGeom prst="line">
            <a:avLst/>
          </a:prstGeom>
          <a:noFill/>
          <a:ln w="12700">
            <a:solidFill>
              <a:srgbClr val="2A2118"/>
            </a:solidFill>
            <a:prstDash val="solid"/>
          </a:ln>
        </p:spPr>
      </p:sp>
      <p:sp>
        <p:nvSpPr>
          <p:cNvPr id="18" name="Text 16"/>
          <p:cNvSpPr/>
          <p:nvPr/>
        </p:nvSpPr>
        <p:spPr>
          <a:xfrm>
            <a:off x="630936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CONDITIONS TO ISSUE SAFELY</a:t>
            </a:r>
            <a:endParaRPr lang="en-US" sz="1000" dirty="0"/>
          </a:p>
        </p:txBody>
      </p:sp>
      <p:sp>
        <p:nvSpPr>
          <p:cNvPr id="19" name="Text 17"/>
          <p:cNvSpPr/>
          <p:nvPr/>
        </p:nvSpPr>
        <p:spPr>
          <a:xfrm>
            <a:off x="6309360" y="2743200"/>
            <a:ext cx="5105095" cy="2377440"/>
          </a:xfrm>
          <a:prstGeom prst="rect">
            <a:avLst/>
          </a:prstGeom>
          <a:noFill/>
          <a:ln/>
        </p:spPr>
        <p:txBody>
          <a:bodyPr wrap="square" lIns="0" tIns="0" rIns="0" bIns="0" rtlCol="0" anchor="t"/>
          <a:lstStyle/>
          <a:p>
            <a:pPr marL="228600" indent="-228600">
              <a:lnSpc>
                <a:spcPct val="140000"/>
              </a:lnSpc>
              <a:buSzPct val="100000"/>
              <a:buChar char="→"/>
            </a:pPr>
            <a:r>
              <a:rPr lang="en-US" sz="1400" dirty="0">
                <a:solidFill>
                  <a:srgbClr val="C6B9A6"/>
                </a:solidFill>
                <a:latin typeface="Segoe UI" pitchFamily="34" charset="0"/>
                <a:ea typeface="Segoe UI" pitchFamily="34" charset="-122"/>
                <a:cs typeface="Segoe UI" pitchFamily="34" charset="-120"/>
              </a:rPr>
              <a:t>Gas-free certificate — flammable gas below alarm and falling (OISD-STD-105)</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Force-ventilate / purge the zone and re-test the atmosphere</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No flammable release developing in this zone or any blast-radius neighbour</a:t>
            </a:r>
            <a:endParaRPr lang="en-US" sz="1400" dirty="0"/>
          </a:p>
          <a:p>
            <a:pPr indent="0" marL="0">
              <a:lnSpc>
                <a:spcPct val="140000"/>
              </a:lnSpc>
              <a:buNone/>
            </a:pPr>
            <a:r>
              <a:rPr lang="en-US" sz="1400" dirty="0">
                <a:solidFill>
                  <a:srgbClr val="C6B9A6"/>
                </a:solidFill>
                <a:latin typeface="Segoe UI" pitchFamily="34" charset="0"/>
                <a:ea typeface="Segoe UI" pitchFamily="34" charset="-122"/>
                <a:cs typeface="Segoe UI" pitchFamily="34" charset="-120"/>
              </a:rPr>
              <a:t>No entry while an ignition source is active in the blast radius (Factory Act §36 / §37)</a:t>
            </a:r>
            <a:endParaRPr lang="en-US" sz="1400" dirty="0"/>
          </a:p>
        </p:txBody>
      </p:sp>
      <p:sp>
        <p:nvSpPr>
          <p:cNvPr id="20" name="Text 1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inverse of detection: simulate the plant WITH the proposed permit, and refuse it if issuing it would create — or add people to — a compound hazard.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10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AUTONOMOUS RESPONSE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Detect → draft → alert</a:t>
            </a:r>
            <a:endParaRPr lang="en-US" sz="3300" dirty="0"/>
          </a:p>
        </p:txBody>
      </p:sp>
      <p:sp>
        <p:nvSpPr>
          <p:cNvPr id="9" name="Text 7"/>
          <p:cNvSpPr/>
          <p:nvPr/>
        </p:nvSpPr>
        <p:spPr>
          <a:xfrm>
            <a:off x="77724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AUTO-DRAFTED INCIDENT REPORT</a:t>
            </a:r>
            <a:endParaRPr lang="en-US" sz="1000" dirty="0"/>
          </a:p>
        </p:txBody>
      </p:sp>
      <p:sp>
        <p:nvSpPr>
          <p:cNvPr id="10" name="Text 8"/>
          <p:cNvSpPr/>
          <p:nvPr/>
        </p:nvSpPr>
        <p:spPr>
          <a:xfrm>
            <a:off x="777240" y="2697480"/>
            <a:ext cx="5120640" cy="3108960"/>
          </a:xfrm>
          <a:prstGeom prst="rect">
            <a:avLst/>
          </a:prstGeom>
          <a:noFill/>
          <a:ln/>
        </p:spPr>
        <p:txBody>
          <a:bodyPr wrap="square" lIns="0" tIns="0" rIns="0" bIns="0" rtlCol="0" anchor="t"/>
          <a:lstStyle/>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1   Summary</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2   Conditions Detected</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3   Compound Risk Assessment</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4   Immediate Actions</a:t>
            </a:r>
            <a:endParaRPr lang="en-US" sz="1550" dirty="0"/>
          </a:p>
          <a:p>
            <a:pPr indent="0" marL="0">
              <a:lnSpc>
                <a:spcPct val="142000"/>
              </a:lnSpc>
              <a:buNone/>
            </a:pPr>
            <a:r>
              <a:rPr lang="en-US" sz="1550" b="1" dirty="0">
                <a:solidFill>
                  <a:srgbClr val="FBF6EC"/>
                </a:solidFill>
                <a:latin typeface="Bahnschrift" pitchFamily="34" charset="0"/>
                <a:ea typeface="Bahnschrift" pitchFamily="34" charset="-122"/>
                <a:cs typeface="Bahnschrift" pitchFamily="34" charset="-120"/>
              </a:rPr>
              <a:t>5   Regulatory References</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Factory Act 1948 §36 / §37 / §38</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OISD-STD-105 (Work Permit System)</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6   Corrective Actions</a:t>
            </a:r>
            <a:endParaRPr lang="en-US" sz="1550" dirty="0"/>
          </a:p>
        </p:txBody>
      </p:sp>
      <p:sp>
        <p:nvSpPr>
          <p:cNvPr id="11" name="Shape 9"/>
          <p:cNvSpPr/>
          <p:nvPr/>
        </p:nvSpPr>
        <p:spPr>
          <a:xfrm>
            <a:off x="6309360" y="2194560"/>
            <a:ext cx="0" cy="3611880"/>
          </a:xfrm>
          <a:prstGeom prst="line">
            <a:avLst/>
          </a:prstGeom>
          <a:noFill/>
          <a:ln w="12700">
            <a:solidFill>
              <a:srgbClr val="2A2118"/>
            </a:solidFill>
            <a:prstDash val="solid"/>
          </a:ln>
        </p:spPr>
      </p:sp>
      <p:sp>
        <p:nvSpPr>
          <p:cNvPr id="12" name="Text 10"/>
          <p:cNvSpPr/>
          <p:nvPr/>
        </p:nvSpPr>
        <p:spPr>
          <a:xfrm>
            <a:off x="6629400" y="2286000"/>
            <a:ext cx="4572000" cy="274320"/>
          </a:xfrm>
          <a:prstGeom prst="rect">
            <a:avLst/>
          </a:prstGeom>
          <a:noFill/>
          <a:ln/>
        </p:spPr>
        <p:txBody>
          <a:bodyPr wrap="square" lIns="0" tIns="0" rIns="0" bIns="0" rtlCol="0" anchor="t"/>
          <a:lstStyle/>
          <a:p>
            <a:pPr indent="0" marL="0">
              <a:buNone/>
            </a:pPr>
            <a:r>
              <a:rPr lang="en-US" sz="1000" spc="100" kern="0" dirty="0">
                <a:solidFill>
                  <a:srgbClr val="F5902B"/>
                </a:solidFill>
                <a:latin typeface="Cascadia Mono" pitchFamily="34" charset="0"/>
                <a:ea typeface="Cascadia Mono" pitchFamily="34" charset="-122"/>
                <a:cs typeface="Cascadia Mono" pitchFamily="34" charset="-120"/>
              </a:rPr>
              <a:t>EVACUATION ALERT</a:t>
            </a:r>
            <a:endParaRPr lang="en-US" sz="1000" dirty="0"/>
          </a:p>
        </p:txBody>
      </p:sp>
      <p:sp>
        <p:nvSpPr>
          <p:cNvPr id="13" name="Text 11"/>
          <p:cNvSpPr/>
          <p:nvPr/>
        </p:nvSpPr>
        <p:spPr>
          <a:xfrm>
            <a:off x="6629400" y="2606040"/>
            <a:ext cx="4785055" cy="731520"/>
          </a:xfrm>
          <a:prstGeom prst="rect">
            <a:avLst/>
          </a:prstGeom>
          <a:noFill/>
          <a:ln/>
        </p:spPr>
        <p:txBody>
          <a:bodyPr wrap="square" lIns="0" tIns="0" rIns="0" bIns="0" rtlCol="0" anchor="t"/>
          <a:lstStyle/>
          <a:p>
            <a:pPr indent="0" marL="0">
              <a:lnSpc>
                <a:spcPct val="120000"/>
              </a:lnSpc>
              <a:buNone/>
            </a:pPr>
            <a:r>
              <a:rPr lang="en-US" sz="1400" dirty="0">
                <a:solidFill>
                  <a:srgbClr val="FBF6EC"/>
                </a:solidFill>
                <a:latin typeface="Segoe UI" pitchFamily="34" charset="0"/>
                <a:ea typeface="Segoe UI" pitchFamily="34" charset="-122"/>
                <a:cs typeface="Segoe UI" pitchFamily="34" charset="-120"/>
              </a:rPr>
              <a:t>Compound hazard in COB-1. Evacuate now. Do not operate hot-work or electrical equipment.</a:t>
            </a:r>
            <a:endParaRPr lang="en-US" sz="1400" dirty="0"/>
          </a:p>
        </p:txBody>
      </p:sp>
      <p:sp>
        <p:nvSpPr>
          <p:cNvPr id="14" name="Shape 12"/>
          <p:cNvSpPr/>
          <p:nvPr/>
        </p:nvSpPr>
        <p:spPr>
          <a:xfrm>
            <a:off x="6629400" y="3429000"/>
            <a:ext cx="1280160" cy="384048"/>
          </a:xfrm>
          <a:prstGeom prst="rect">
            <a:avLst/>
          </a:prstGeom>
          <a:solidFill>
            <a:srgbClr val="120D08"/>
          </a:solidFill>
          <a:ln w="12700">
            <a:solidFill>
              <a:srgbClr val="F5902B"/>
            </a:solidFill>
            <a:prstDash val="solid"/>
          </a:ln>
        </p:spPr>
      </p:sp>
      <p:sp>
        <p:nvSpPr>
          <p:cNvPr id="15" name="Text 13"/>
          <p:cNvSpPr/>
          <p:nvPr/>
        </p:nvSpPr>
        <p:spPr>
          <a:xfrm>
            <a:off x="662940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ENGLISH</a:t>
            </a:r>
            <a:endParaRPr lang="en-US" sz="1000" dirty="0"/>
          </a:p>
        </p:txBody>
      </p:sp>
      <p:sp>
        <p:nvSpPr>
          <p:cNvPr id="16" name="Shape 14"/>
          <p:cNvSpPr/>
          <p:nvPr/>
        </p:nvSpPr>
        <p:spPr>
          <a:xfrm>
            <a:off x="8046720" y="3429000"/>
            <a:ext cx="1280160" cy="384048"/>
          </a:xfrm>
          <a:prstGeom prst="rect">
            <a:avLst/>
          </a:prstGeom>
          <a:solidFill>
            <a:srgbClr val="120D08"/>
          </a:solidFill>
          <a:ln w="12700">
            <a:solidFill>
              <a:srgbClr val="F5902B"/>
            </a:solidFill>
            <a:prstDash val="solid"/>
          </a:ln>
        </p:spPr>
      </p:sp>
      <p:sp>
        <p:nvSpPr>
          <p:cNvPr id="17" name="Text 15"/>
          <p:cNvSpPr/>
          <p:nvPr/>
        </p:nvSpPr>
        <p:spPr>
          <a:xfrm>
            <a:off x="804672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TELUGU</a:t>
            </a:r>
            <a:endParaRPr lang="en-US" sz="1000" dirty="0"/>
          </a:p>
        </p:txBody>
      </p:sp>
      <p:sp>
        <p:nvSpPr>
          <p:cNvPr id="18" name="Shape 16"/>
          <p:cNvSpPr/>
          <p:nvPr/>
        </p:nvSpPr>
        <p:spPr>
          <a:xfrm>
            <a:off x="9464040" y="3429000"/>
            <a:ext cx="1280160" cy="384048"/>
          </a:xfrm>
          <a:prstGeom prst="rect">
            <a:avLst/>
          </a:prstGeom>
          <a:solidFill>
            <a:srgbClr val="120D08"/>
          </a:solidFill>
          <a:ln w="12700">
            <a:solidFill>
              <a:srgbClr val="F5902B"/>
            </a:solidFill>
            <a:prstDash val="solid"/>
          </a:ln>
        </p:spPr>
      </p:sp>
      <p:sp>
        <p:nvSpPr>
          <p:cNvPr id="19" name="Text 17"/>
          <p:cNvSpPr/>
          <p:nvPr/>
        </p:nvSpPr>
        <p:spPr>
          <a:xfrm>
            <a:off x="946404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HINDI</a:t>
            </a:r>
            <a:endParaRPr lang="en-US" sz="1000" dirty="0"/>
          </a:p>
        </p:txBody>
      </p:sp>
      <p:sp>
        <p:nvSpPr>
          <p:cNvPr id="20" name="Text 18"/>
          <p:cNvSpPr/>
          <p:nvPr/>
        </p:nvSpPr>
        <p:spPr>
          <a:xfrm>
            <a:off x="6629400" y="416052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RESPONSE ACTIONS — PREPARED</a:t>
            </a:r>
            <a:endParaRPr lang="en-US" sz="1000" dirty="0"/>
          </a:p>
        </p:txBody>
      </p:sp>
      <p:sp>
        <p:nvSpPr>
          <p:cNvPr id="21" name="Text 19"/>
          <p:cNvSpPr/>
          <p:nvPr/>
        </p:nvSpPr>
        <p:spPr>
          <a:xfrm>
            <a:off x="6629400" y="4526280"/>
            <a:ext cx="4785055" cy="1188720"/>
          </a:xfrm>
          <a:prstGeom prst="rect">
            <a:avLst/>
          </a:prstGeom>
          <a:noFill/>
          <a:ln/>
        </p:spPr>
        <p:txBody>
          <a:bodyPr wrap="square" lIns="0" tIns="0" rIns="0" bIns="0" rtlCol="0" anchor="t"/>
          <a:lstStyle/>
          <a:p>
            <a:pPr marL="203200" indent="-203200">
              <a:lnSpc>
                <a:spcPct val="130000"/>
              </a:lnSpc>
              <a:buSzPct val="100000"/>
              <a:buChar char="✓"/>
            </a:pPr>
            <a:r>
              <a:rPr lang="en-US" sz="1350" dirty="0">
                <a:solidFill>
                  <a:srgbClr val="C6B9A6"/>
                </a:solidFill>
                <a:latin typeface="Segoe UI" pitchFamily="34" charset="0"/>
                <a:ea typeface="Segoe UI" pitchFamily="34" charset="-122"/>
                <a:cs typeface="Segoe UI" pitchFamily="34" charset="-120"/>
              </a:rPr>
              <a:t>Suspend hot-work permit PTW-7741</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Evacuate &amp; page response team</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Freeze sensor + CCTV evidence</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File preliminary incident report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11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PROOF</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Measured, not claimed</a:t>
            </a:r>
            <a:endParaRPr lang="en-US" sz="3300" dirty="0"/>
          </a:p>
        </p:txBody>
      </p:sp>
      <p:sp>
        <p:nvSpPr>
          <p:cNvPr id="9" name="Text 7"/>
          <p:cNvSpPr/>
          <p:nvPr/>
        </p:nvSpPr>
        <p:spPr>
          <a:xfrm>
            <a:off x="777240"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100%</a:t>
            </a:r>
            <a:endParaRPr lang="en-US" sz="7000" dirty="0"/>
          </a:p>
        </p:txBody>
      </p:sp>
      <p:sp>
        <p:nvSpPr>
          <p:cNvPr id="10" name="Text 8"/>
          <p:cNvSpPr/>
          <p:nvPr/>
        </p:nvSpPr>
        <p:spPr>
          <a:xfrm>
            <a:off x="777240"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compound recall</a:t>
            </a:r>
            <a:endParaRPr lang="en-US" sz="1600" dirty="0"/>
          </a:p>
        </p:txBody>
      </p:sp>
      <p:sp>
        <p:nvSpPr>
          <p:cNvPr id="11" name="Text 9"/>
          <p:cNvSpPr/>
          <p:nvPr/>
        </p:nvSpPr>
        <p:spPr>
          <a:xfrm>
            <a:off x="777240"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14 / 14 hazards caught</a:t>
            </a:r>
            <a:endParaRPr lang="en-US" sz="1000" dirty="0"/>
          </a:p>
        </p:txBody>
      </p:sp>
      <p:sp>
        <p:nvSpPr>
          <p:cNvPr id="12" name="Text 10"/>
          <p:cNvSpPr/>
          <p:nvPr/>
        </p:nvSpPr>
        <p:spPr>
          <a:xfrm>
            <a:off x="4322978"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0%</a:t>
            </a:r>
            <a:endParaRPr lang="en-US" sz="7000" dirty="0"/>
          </a:p>
        </p:txBody>
      </p:sp>
      <p:sp>
        <p:nvSpPr>
          <p:cNvPr id="13" name="Text 11"/>
          <p:cNvSpPr/>
          <p:nvPr/>
        </p:nvSpPr>
        <p:spPr>
          <a:xfrm>
            <a:off x="4322978"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false-positive</a:t>
            </a:r>
            <a:endParaRPr lang="en-US" sz="1600" dirty="0"/>
          </a:p>
        </p:txBody>
      </p:sp>
      <p:sp>
        <p:nvSpPr>
          <p:cNvPr id="14" name="Text 12"/>
          <p:cNvSpPr/>
          <p:nvPr/>
        </p:nvSpPr>
        <p:spPr>
          <a:xfrm>
            <a:off x="4322978"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0 / 15 incl. inerted + O2 decoys</a:t>
            </a:r>
            <a:endParaRPr lang="en-US" sz="1000" dirty="0"/>
          </a:p>
        </p:txBody>
      </p:sp>
      <p:sp>
        <p:nvSpPr>
          <p:cNvPr id="15" name="Text 13"/>
          <p:cNvSpPr/>
          <p:nvPr/>
        </p:nvSpPr>
        <p:spPr>
          <a:xfrm>
            <a:off x="7868717" y="2148840"/>
            <a:ext cx="3271418" cy="1051560"/>
          </a:xfrm>
          <a:prstGeom prst="rect">
            <a:avLst/>
          </a:prstGeom>
          <a:noFill/>
          <a:ln/>
        </p:spPr>
        <p:txBody>
          <a:bodyPr wrap="square" lIns="0" tIns="0" rIns="0" bIns="0" rtlCol="0" anchor="t"/>
          <a:lstStyle/>
          <a:p>
            <a:pPr indent="0" marL="0">
              <a:buNone/>
            </a:pPr>
            <a:r>
              <a:rPr lang="en-US" sz="7000" dirty="0">
                <a:solidFill>
                  <a:srgbClr val="F5902B"/>
                </a:solidFill>
                <a:latin typeface="Bahnschrift SemiBold" pitchFamily="34" charset="0"/>
                <a:ea typeface="Bahnschrift SemiBold" pitchFamily="34" charset="-122"/>
                <a:cs typeface="Bahnschrift SemiBold" pitchFamily="34" charset="-120"/>
              </a:rPr>
              <a:t>7.4</a:t>
            </a:r>
            <a:endParaRPr lang="en-US" sz="7000" dirty="0"/>
          </a:p>
        </p:txBody>
      </p:sp>
      <p:sp>
        <p:nvSpPr>
          <p:cNvPr id="16" name="Text 14"/>
          <p:cNvSpPr/>
          <p:nvPr/>
        </p:nvSpPr>
        <p:spPr>
          <a:xfrm>
            <a:off x="7868717"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 mean lead</a:t>
            </a:r>
            <a:endParaRPr lang="en-US" sz="1600" dirty="0"/>
          </a:p>
        </p:txBody>
      </p:sp>
      <p:sp>
        <p:nvSpPr>
          <p:cNvPr id="17" name="Text 15"/>
          <p:cNvSpPr/>
          <p:nvPr/>
        </p:nvSpPr>
        <p:spPr>
          <a:xfrm>
            <a:off x="7868717"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median 6 · max 12 · vs baseline</a:t>
            </a:r>
            <a:endParaRPr lang="en-US" sz="1000" dirty="0"/>
          </a:p>
        </p:txBody>
      </p:sp>
      <p:sp>
        <p:nvSpPr>
          <p:cNvPr id="18" name="Shape 16"/>
          <p:cNvSpPr/>
          <p:nvPr/>
        </p:nvSpPr>
        <p:spPr>
          <a:xfrm>
            <a:off x="777240" y="4754880"/>
            <a:ext cx="10637215" cy="0"/>
          </a:xfrm>
          <a:prstGeom prst="line">
            <a:avLst/>
          </a:prstGeom>
          <a:noFill/>
          <a:ln w="12700">
            <a:solidFill>
              <a:srgbClr val="473726"/>
            </a:solidFill>
            <a:prstDash val="solid"/>
          </a:ln>
        </p:spPr>
      </p:sp>
      <p:sp>
        <p:nvSpPr>
          <p:cNvPr id="19" name="Text 17"/>
          <p:cNvSpPr/>
          <p:nvPr/>
        </p:nvSpPr>
        <p:spPr>
          <a:xfrm>
            <a:off x="777240" y="4297680"/>
            <a:ext cx="45720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VIZAG RECONSTRUCTION</a:t>
            </a:r>
            <a:endParaRPr lang="en-US" sz="1000" dirty="0"/>
          </a:p>
        </p:txBody>
      </p:sp>
      <p:sp>
        <p:nvSpPr>
          <p:cNvPr id="20" name="Shape 18"/>
          <p:cNvSpPr/>
          <p:nvPr/>
        </p:nvSpPr>
        <p:spPr>
          <a:xfrm>
            <a:off x="800100" y="4686300"/>
            <a:ext cx="137160" cy="137160"/>
          </a:xfrm>
          <a:prstGeom prst="ellipse">
            <a:avLst/>
          </a:prstGeom>
          <a:solidFill>
            <a:srgbClr val="7C8B9A"/>
          </a:solidFill>
          <a:ln/>
        </p:spPr>
      </p:sp>
      <p:sp>
        <p:nvSpPr>
          <p:cNvPr id="21" name="Text 19"/>
          <p:cNvSpPr/>
          <p:nvPr/>
        </p:nvSpPr>
        <p:spPr>
          <a:xfrm>
            <a:off x="502920" y="4882896"/>
            <a:ext cx="1280160" cy="274320"/>
          </a:xfrm>
          <a:prstGeom prst="rect">
            <a:avLst/>
          </a:prstGeom>
          <a:noFill/>
          <a:ln/>
        </p:spPr>
        <p:txBody>
          <a:bodyPr wrap="square" lIns="0" tIns="0" rIns="0" bIns="0" rtlCol="0" anchor="t"/>
          <a:lstStyle/>
          <a:p>
            <a:pPr indent="0" marL="0">
              <a:buNone/>
            </a:pPr>
            <a:r>
              <a:rPr lang="en-US" sz="1200" b="1" dirty="0">
                <a:solidFill>
                  <a:srgbClr val="7C8B9A"/>
                </a:solidFill>
                <a:latin typeface="Cascadia Mono" pitchFamily="34" charset="0"/>
                <a:ea typeface="Cascadia Mono" pitchFamily="34" charset="-122"/>
                <a:cs typeface="Cascadia Mono" pitchFamily="34" charset="-120"/>
              </a:rPr>
              <a:t>t0</a:t>
            </a:r>
            <a:endParaRPr lang="en-US" sz="1200" dirty="0"/>
          </a:p>
        </p:txBody>
      </p:sp>
      <p:sp>
        <p:nvSpPr>
          <p:cNvPr id="22" name="Text 20"/>
          <p:cNvSpPr/>
          <p:nvPr/>
        </p:nvSpPr>
        <p:spPr>
          <a:xfrm>
            <a:off x="5029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normal</a:t>
            </a:r>
            <a:endParaRPr lang="en-US" sz="1150" dirty="0"/>
          </a:p>
        </p:txBody>
      </p:sp>
      <p:sp>
        <p:nvSpPr>
          <p:cNvPr id="23" name="Shape 21"/>
          <p:cNvSpPr/>
          <p:nvPr/>
        </p:nvSpPr>
        <p:spPr>
          <a:xfrm>
            <a:off x="4000500" y="4686300"/>
            <a:ext cx="137160" cy="137160"/>
          </a:xfrm>
          <a:prstGeom prst="ellipse">
            <a:avLst/>
          </a:prstGeom>
          <a:solidFill>
            <a:srgbClr val="FF6A1A"/>
          </a:solidFill>
          <a:ln/>
        </p:spPr>
      </p:sp>
      <p:sp>
        <p:nvSpPr>
          <p:cNvPr id="24" name="Text 22"/>
          <p:cNvSpPr/>
          <p:nvPr/>
        </p:nvSpPr>
        <p:spPr>
          <a:xfrm>
            <a:off x="3703320" y="4882896"/>
            <a:ext cx="1280160" cy="274320"/>
          </a:xfrm>
          <a:prstGeom prst="rect">
            <a:avLst/>
          </a:prstGeom>
          <a:noFill/>
          <a:ln/>
        </p:spPr>
        <p:txBody>
          <a:bodyPr wrap="square" lIns="0" tIns="0" rIns="0" bIns="0" rtlCol="0" anchor="t"/>
          <a:lstStyle/>
          <a:p>
            <a:pPr indent="0" marL="0">
              <a:buNone/>
            </a:pPr>
            <a:r>
              <a:rPr lang="en-US" sz="1200" b="1" dirty="0">
                <a:solidFill>
                  <a:srgbClr val="FF6A1A"/>
                </a:solidFill>
                <a:latin typeface="Cascadia Mono" pitchFamily="34" charset="0"/>
                <a:ea typeface="Cascadia Mono" pitchFamily="34" charset="-122"/>
                <a:cs typeface="Cascadia Mono" pitchFamily="34" charset="-120"/>
              </a:rPr>
              <a:t>t8</a:t>
            </a:r>
            <a:endParaRPr lang="en-US" sz="1200" dirty="0"/>
          </a:p>
        </p:txBody>
      </p:sp>
      <p:sp>
        <p:nvSpPr>
          <p:cNvPr id="25" name="Text 23"/>
          <p:cNvSpPr/>
          <p:nvPr/>
        </p:nvSpPr>
        <p:spPr>
          <a:xfrm>
            <a:off x="37033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TRINETRA: COMPOUND</a:t>
            </a:r>
            <a:endParaRPr lang="en-US" sz="1150" dirty="0"/>
          </a:p>
        </p:txBody>
      </p:sp>
      <p:sp>
        <p:nvSpPr>
          <p:cNvPr id="26" name="Shape 24"/>
          <p:cNvSpPr/>
          <p:nvPr/>
        </p:nvSpPr>
        <p:spPr>
          <a:xfrm>
            <a:off x="8481060" y="4686300"/>
            <a:ext cx="137160" cy="137160"/>
          </a:xfrm>
          <a:prstGeom prst="ellipse">
            <a:avLst/>
          </a:prstGeom>
          <a:solidFill>
            <a:srgbClr val="FF2B4E"/>
          </a:solidFill>
          <a:ln/>
        </p:spPr>
      </p:sp>
      <p:sp>
        <p:nvSpPr>
          <p:cNvPr id="27" name="Text 25"/>
          <p:cNvSpPr/>
          <p:nvPr/>
        </p:nvSpPr>
        <p:spPr>
          <a:xfrm>
            <a:off x="8183880" y="4882896"/>
            <a:ext cx="1280160" cy="274320"/>
          </a:xfrm>
          <a:prstGeom prst="rect">
            <a:avLst/>
          </a:prstGeom>
          <a:noFill/>
          <a:ln/>
        </p:spPr>
        <p:txBody>
          <a:bodyPr wrap="square" lIns="0" tIns="0" rIns="0" bIns="0" rtlCol="0" anchor="t"/>
          <a:lstStyle/>
          <a:p>
            <a:pPr indent="0" marL="0">
              <a:buNone/>
            </a:pPr>
            <a:r>
              <a:rPr lang="en-US" sz="1200" b="1" dirty="0">
                <a:solidFill>
                  <a:srgbClr val="FF2B4E"/>
                </a:solidFill>
                <a:latin typeface="Cascadia Mono" pitchFamily="34" charset="0"/>
                <a:ea typeface="Cascadia Mono" pitchFamily="34" charset="-122"/>
                <a:cs typeface="Cascadia Mono" pitchFamily="34" charset="-120"/>
              </a:rPr>
              <a:t>t14</a:t>
            </a:r>
            <a:endParaRPr lang="en-US" sz="1200" dirty="0"/>
          </a:p>
        </p:txBody>
      </p:sp>
      <p:sp>
        <p:nvSpPr>
          <p:cNvPr id="28" name="Text 26"/>
          <p:cNvSpPr/>
          <p:nvPr/>
        </p:nvSpPr>
        <p:spPr>
          <a:xfrm>
            <a:off x="818388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LEGACY: gas alarm</a:t>
            </a:r>
            <a:endParaRPr lang="en-US" sz="1150" dirty="0"/>
          </a:p>
        </p:txBody>
      </p:sp>
      <p:sp>
        <p:nvSpPr>
          <p:cNvPr id="29" name="Text 27"/>
          <p:cNvSpPr/>
          <p:nvPr/>
        </p:nvSpPr>
        <p:spPr>
          <a:xfrm>
            <a:off x="4800600" y="4370832"/>
            <a:ext cx="3291840" cy="320040"/>
          </a:xfrm>
          <a:prstGeom prst="rect">
            <a:avLst/>
          </a:prstGeom>
          <a:noFill/>
          <a:ln/>
        </p:spPr>
        <p:txBody>
          <a:bodyPr wrap="square" lIns="0" tIns="0" rIns="0" bIns="0" rtlCol="0" anchor="t"/>
          <a:lstStyle/>
          <a:p>
            <a:pPr indent="0" marL="0">
              <a:buNone/>
            </a:pPr>
            <a:r>
              <a:rPr lang="en-US" sz="1600" spc="100" kern="0" dirty="0">
                <a:solidFill>
                  <a:srgbClr val="FF6A1A"/>
                </a:solidFill>
                <a:latin typeface="Bahnschrift SemiBold" pitchFamily="34" charset="0"/>
                <a:ea typeface="Bahnschrift SemiBold" pitchFamily="34" charset="-122"/>
                <a:cs typeface="Bahnschrift SemiBold" pitchFamily="34" charset="-120"/>
              </a:rPr>
              <a:t>+6 MIN LEAD</a:t>
            </a:r>
            <a:endParaRPr lang="en-US" sz="1600" dirty="0"/>
          </a:p>
        </p:txBody>
      </p:sp>
      <p:sp>
        <p:nvSpPr>
          <p:cNvPr id="30" name="Text 2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Deterministic (seed=42) · held-out: 100% recall / 3.3% FP over 240 unseen-seed scenarios · property-tested.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12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REPLAYED FROM TWO REAL INQUIRIES</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Would it catch a real one? Twice.</a:t>
            </a:r>
            <a:endParaRPr lang="en-US" sz="3100" dirty="0"/>
          </a:p>
        </p:txBody>
      </p:sp>
      <p:sp>
        <p:nvSpPr>
          <p:cNvPr id="9" name="Shape 7"/>
          <p:cNvSpPr/>
          <p:nvPr/>
        </p:nvSpPr>
        <p:spPr>
          <a:xfrm>
            <a:off x="777240" y="2148840"/>
            <a:ext cx="5044288" cy="0"/>
          </a:xfrm>
          <a:prstGeom prst="line">
            <a:avLst/>
          </a:prstGeom>
          <a:noFill/>
          <a:ln w="12700">
            <a:solidFill>
              <a:srgbClr val="473726"/>
            </a:solidFill>
            <a:prstDash val="solid"/>
          </a:ln>
        </p:spPr>
      </p:sp>
      <p:sp>
        <p:nvSpPr>
          <p:cNvPr id="10" name="Text 8"/>
          <p:cNvSpPr/>
          <p:nvPr/>
        </p:nvSpPr>
        <p:spPr>
          <a:xfrm>
            <a:off x="777240"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U.S. CSB · 2005 · Report 2005-04-I-TX</a:t>
            </a:r>
            <a:endParaRPr lang="en-US" sz="1000" dirty="0"/>
          </a:p>
        </p:txBody>
      </p:sp>
      <p:sp>
        <p:nvSpPr>
          <p:cNvPr id="11" name="Text 9"/>
          <p:cNvSpPr/>
          <p:nvPr/>
        </p:nvSpPr>
        <p:spPr>
          <a:xfrm>
            <a:off x="777240"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BP TEXAS CITY REFINERY</a:t>
            </a:r>
            <a:endParaRPr lang="en-US" sz="1900" dirty="0"/>
          </a:p>
        </p:txBody>
      </p:sp>
      <p:sp>
        <p:nvSpPr>
          <p:cNvPr id="12" name="Text 10"/>
          <p:cNvSpPr/>
          <p:nvPr/>
        </p:nvSpPr>
        <p:spPr>
          <a:xfrm>
            <a:off x="777240"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+10</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3" name="Text 11"/>
          <p:cNvSpPr/>
          <p:nvPr/>
        </p:nvSpPr>
        <p:spPr>
          <a:xfrm>
            <a:off x="777240"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vapour-cloud ignition (T+20). 15 killed.</a:t>
            </a:r>
            <a:endParaRPr lang="en-US" sz="1300" dirty="0"/>
          </a:p>
        </p:txBody>
      </p:sp>
      <p:sp>
        <p:nvSpPr>
          <p:cNvPr id="14" name="Shape 12"/>
          <p:cNvSpPr/>
          <p:nvPr/>
        </p:nvSpPr>
        <p:spPr>
          <a:xfrm>
            <a:off x="6370168" y="2148840"/>
            <a:ext cx="5044288" cy="0"/>
          </a:xfrm>
          <a:prstGeom prst="line">
            <a:avLst/>
          </a:prstGeom>
          <a:noFill/>
          <a:ln w="12700">
            <a:solidFill>
              <a:srgbClr val="473726"/>
            </a:solidFill>
            <a:prstDash val="solid"/>
          </a:ln>
        </p:spPr>
      </p:sp>
      <p:sp>
        <p:nvSpPr>
          <p:cNvPr id="15" name="Text 13"/>
          <p:cNvSpPr/>
          <p:nvPr/>
        </p:nvSpPr>
        <p:spPr>
          <a:xfrm>
            <a:off x="6370168"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MB Lal Committee · 2009</a:t>
            </a:r>
            <a:endParaRPr lang="en-US" sz="1000" dirty="0"/>
          </a:p>
        </p:txBody>
      </p:sp>
      <p:sp>
        <p:nvSpPr>
          <p:cNvPr id="16" name="Text 14"/>
          <p:cNvSpPr/>
          <p:nvPr/>
        </p:nvSpPr>
        <p:spPr>
          <a:xfrm>
            <a:off x="6370168"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INDIAN OIL JAIPUR DEPOT</a:t>
            </a:r>
            <a:endParaRPr lang="en-US" sz="1900" dirty="0"/>
          </a:p>
        </p:txBody>
      </p:sp>
      <p:sp>
        <p:nvSpPr>
          <p:cNvPr id="17" name="Text 15"/>
          <p:cNvSpPr/>
          <p:nvPr/>
        </p:nvSpPr>
        <p:spPr>
          <a:xfrm>
            <a:off x="6370168"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+36</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8" name="Text 16"/>
          <p:cNvSpPr/>
          <p:nvPr/>
        </p:nvSpPr>
        <p:spPr>
          <a:xfrm>
            <a:off x="6370168"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ignition (T+48) of a long, undetected vapour build-up. 12 killed.</a:t>
            </a:r>
            <a:endParaRPr lang="en-US" sz="1300" dirty="0"/>
          </a:p>
        </p:txBody>
      </p:sp>
      <p:sp>
        <p:nvSpPr>
          <p:cNvPr id="19" name="Shape 17"/>
          <p:cNvSpPr/>
          <p:nvPr/>
        </p:nvSpPr>
        <p:spPr>
          <a:xfrm>
            <a:off x="777240" y="5440680"/>
            <a:ext cx="10637215" cy="594360"/>
          </a:xfrm>
          <a:prstGeom prst="rect">
            <a:avLst/>
          </a:prstGeom>
          <a:solidFill>
            <a:srgbClr val="151009"/>
          </a:solidFill>
          <a:ln w="12700">
            <a:solidFill>
              <a:srgbClr val="2A2118"/>
            </a:solidFill>
            <a:prstDash val="solid"/>
          </a:ln>
        </p:spPr>
      </p:sp>
      <p:sp>
        <p:nvSpPr>
          <p:cNvPr id="20" name="Text 18"/>
          <p:cNvSpPr/>
          <p:nvPr/>
        </p:nvSpPr>
        <p:spPr>
          <a:xfrm>
            <a:off x="1097280" y="5440680"/>
            <a:ext cx="9997135" cy="59436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Same engine, reconstructed inputs.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inquiry's documented escalation is replayed through the live engine; where a site had no gas detector (a finding in both), the vapour build-up maps to the flammable channel — ignition and personnel are the inquiry's.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13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BUSINESS IMPACT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math a buyer underwrites</a:t>
            </a:r>
            <a:endParaRPr lang="en-US" sz="3100" dirty="0"/>
          </a:p>
        </p:txBody>
      </p:sp>
      <p:sp>
        <p:nvSpPr>
          <p:cNvPr id="9" name="Text 7"/>
          <p:cNvSpPr/>
          <p:nvPr/>
        </p:nvSpPr>
        <p:spPr>
          <a:xfrm>
            <a:off x="777240" y="224028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 PREVENTED INCIDENT</a:t>
            </a:r>
            <a:endParaRPr lang="en-US" sz="1000" dirty="0"/>
          </a:p>
        </p:txBody>
      </p:sp>
      <p:sp>
        <p:nvSpPr>
          <p:cNvPr id="10" name="Text 8"/>
          <p:cNvSpPr/>
          <p:nvPr/>
        </p:nvSpPr>
        <p:spPr>
          <a:xfrm>
            <a:off x="749808" y="2514600"/>
            <a:ext cx="5486400" cy="1051560"/>
          </a:xfrm>
          <a:prstGeom prst="rect">
            <a:avLst/>
          </a:prstGeom>
          <a:noFill/>
          <a:ln/>
        </p:spPr>
        <p:txBody>
          <a:bodyPr wrap="square" lIns="0" tIns="0" rIns="0" bIns="0" rtlCol="0" anchor="t"/>
          <a:lstStyle/>
          <a:p>
            <a:pPr indent="0" marL="0">
              <a:buNone/>
            </a:pPr>
            <a:r>
              <a:rPr lang="en-US" sz="6200" dirty="0">
                <a:solidFill>
                  <a:srgbClr val="FBF6EC"/>
                </a:solidFill>
                <a:latin typeface="Bahnschrift SemiBold" pitchFamily="34" charset="0"/>
                <a:ea typeface="Bahnschrift SemiBold" pitchFamily="34" charset="-122"/>
                <a:cs typeface="Bahnschrift SemiBold" pitchFamily="34" charset="-120"/>
              </a:rPr>
              <a:t>₹115.5 Cr</a:t>
            </a:r>
            <a:endParaRPr lang="en-US" sz="6200" dirty="0"/>
          </a:p>
        </p:txBody>
      </p:sp>
      <p:sp>
        <p:nvSpPr>
          <p:cNvPr id="11" name="Text 9"/>
          <p:cNvSpPr/>
          <p:nvPr/>
        </p:nvSpPr>
        <p:spPr>
          <a:xfrm>
            <a:off x="777240" y="3584448"/>
            <a:ext cx="5029200" cy="27432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avoided loss — a Vizag-class event</a:t>
            </a:r>
            <a:endParaRPr lang="en-US" sz="1300" dirty="0"/>
          </a:p>
        </p:txBody>
      </p:sp>
      <p:sp>
        <p:nvSpPr>
          <p:cNvPr id="12" name="Text 10"/>
          <p:cNvSpPr/>
          <p:nvPr/>
        </p:nvSpPr>
        <p:spPr>
          <a:xfrm>
            <a:off x="777240" y="4160520"/>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Lives protected</a:t>
            </a:r>
            <a:endParaRPr lang="en-US" sz="1300" dirty="0"/>
          </a:p>
        </p:txBody>
      </p:sp>
      <p:sp>
        <p:nvSpPr>
          <p:cNvPr id="13" name="Text 11"/>
          <p:cNvSpPr/>
          <p:nvPr/>
        </p:nvSpPr>
        <p:spPr>
          <a:xfrm>
            <a:off x="3886200" y="416052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₹7.5 Cr</a:t>
            </a:r>
            <a:endParaRPr lang="en-US" sz="1300" dirty="0"/>
          </a:p>
        </p:txBody>
      </p:sp>
      <p:sp>
        <p:nvSpPr>
          <p:cNvPr id="14" name="Text 12"/>
          <p:cNvSpPr/>
          <p:nvPr/>
        </p:nvSpPr>
        <p:spPr>
          <a:xfrm>
            <a:off x="777240" y="4562856"/>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Asset damage</a:t>
            </a:r>
            <a:endParaRPr lang="en-US" sz="1300" dirty="0"/>
          </a:p>
        </p:txBody>
      </p:sp>
      <p:sp>
        <p:nvSpPr>
          <p:cNvPr id="15" name="Text 13"/>
          <p:cNvSpPr/>
          <p:nvPr/>
        </p:nvSpPr>
        <p:spPr>
          <a:xfrm>
            <a:off x="3886200" y="4562856"/>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₹40 Cr</a:t>
            </a:r>
            <a:endParaRPr lang="en-US" sz="1300" dirty="0"/>
          </a:p>
        </p:txBody>
      </p:sp>
      <p:sp>
        <p:nvSpPr>
          <p:cNvPr id="16" name="Text 14"/>
          <p:cNvSpPr/>
          <p:nvPr/>
        </p:nvSpPr>
        <p:spPr>
          <a:xfrm>
            <a:off x="777240" y="4965192"/>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Downtime (21 d)</a:t>
            </a:r>
            <a:endParaRPr lang="en-US" sz="1300" dirty="0"/>
          </a:p>
        </p:txBody>
      </p:sp>
      <p:sp>
        <p:nvSpPr>
          <p:cNvPr id="17" name="Text 15"/>
          <p:cNvSpPr/>
          <p:nvPr/>
        </p:nvSpPr>
        <p:spPr>
          <a:xfrm>
            <a:off x="3886200" y="496519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₹63 Cr</a:t>
            </a:r>
            <a:endParaRPr lang="en-US" sz="1300" dirty="0"/>
          </a:p>
        </p:txBody>
      </p:sp>
      <p:sp>
        <p:nvSpPr>
          <p:cNvPr id="18" name="Text 16"/>
          <p:cNvSpPr/>
          <p:nvPr/>
        </p:nvSpPr>
        <p:spPr>
          <a:xfrm>
            <a:off x="777240" y="5367528"/>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Regulatory penalty</a:t>
            </a:r>
            <a:endParaRPr lang="en-US" sz="1300" dirty="0"/>
          </a:p>
        </p:txBody>
      </p:sp>
      <p:sp>
        <p:nvSpPr>
          <p:cNvPr id="19" name="Text 17"/>
          <p:cNvSpPr/>
          <p:nvPr/>
        </p:nvSpPr>
        <p:spPr>
          <a:xfrm>
            <a:off x="3886200" y="536752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₹5 Cr</a:t>
            </a:r>
            <a:endParaRPr lang="en-US" sz="1300" dirty="0"/>
          </a:p>
        </p:txBody>
      </p:sp>
      <p:sp>
        <p:nvSpPr>
          <p:cNvPr id="20" name="Shape 18"/>
          <p:cNvSpPr/>
          <p:nvPr/>
        </p:nvSpPr>
        <p:spPr>
          <a:xfrm>
            <a:off x="6400800" y="2194560"/>
            <a:ext cx="0" cy="3611880"/>
          </a:xfrm>
          <a:prstGeom prst="line">
            <a:avLst/>
          </a:prstGeom>
          <a:noFill/>
          <a:ln w="12700">
            <a:solidFill>
              <a:srgbClr val="2A2118"/>
            </a:solidFill>
            <a:prstDash val="solid"/>
          </a:ln>
        </p:spPr>
      </p:sp>
      <p:sp>
        <p:nvSpPr>
          <p:cNvPr id="21" name="Text 19"/>
          <p:cNvSpPr/>
          <p:nvPr/>
        </p:nvSpPr>
        <p:spPr>
          <a:xfrm>
            <a:off x="6720840" y="2286000"/>
            <a:ext cx="512064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EXPECTED ANNUAL RETURN</a:t>
            </a:r>
            <a:endParaRPr lang="en-US" sz="1000" dirty="0"/>
          </a:p>
        </p:txBody>
      </p:sp>
      <p:sp>
        <p:nvSpPr>
          <p:cNvPr id="22" name="Text 20"/>
          <p:cNvSpPr/>
          <p:nvPr/>
        </p:nvSpPr>
        <p:spPr>
          <a:xfrm>
            <a:off x="6693408" y="2542032"/>
            <a:ext cx="4572000" cy="914400"/>
          </a:xfrm>
          <a:prstGeom prst="rect">
            <a:avLst/>
          </a:prstGeom>
          <a:noFill/>
          <a:ln/>
        </p:spPr>
        <p:txBody>
          <a:bodyPr wrap="square" lIns="0" tIns="0" rIns="0" bIns="0" rtlCol="0" anchor="t"/>
          <a:lstStyle/>
          <a:p>
            <a:pPr indent="0" marL="0">
              <a:buNone/>
            </a:pPr>
            <a:r>
              <a:rPr lang="en-US" sz="5200" dirty="0">
                <a:solidFill>
                  <a:srgbClr val="FBF6EC"/>
                </a:solidFill>
                <a:latin typeface="Bahnschrift SemiBold" pitchFamily="34" charset="0"/>
                <a:ea typeface="Bahnschrift SemiBold" pitchFamily="34" charset="-122"/>
                <a:cs typeface="Bahnschrift SemiBold" pitchFamily="34" charset="-120"/>
              </a:rPr>
              <a:t>≈ 7.7×</a:t>
            </a:r>
            <a:endParaRPr lang="en-US" sz="5200" dirty="0"/>
          </a:p>
        </p:txBody>
      </p:sp>
      <p:sp>
        <p:nvSpPr>
          <p:cNvPr id="23" name="Text 21"/>
          <p:cNvSpPr/>
          <p:nvPr/>
        </p:nvSpPr>
        <p:spPr>
          <a:xfrm>
            <a:off x="6720840" y="3520440"/>
            <a:ext cx="4693615" cy="457200"/>
          </a:xfrm>
          <a:prstGeom prst="rect">
            <a:avLst/>
          </a:prstGeom>
          <a:noFill/>
          <a:ln/>
        </p:spPr>
        <p:txBody>
          <a:bodyPr wrap="square" lIns="0" tIns="0" rIns="0" bIns="0" rtlCol="0" anchor="t"/>
          <a:lstStyle/>
          <a:p>
            <a:pPr indent="0" marL="0">
              <a:lnSpc>
                <a:spcPct val="115000"/>
              </a:lnSpc>
              <a:buNone/>
            </a:pPr>
            <a:r>
              <a:rPr lang="en-US" sz="1250" dirty="0">
                <a:solidFill>
                  <a:srgbClr val="C6B9A6"/>
                </a:solidFill>
                <a:latin typeface="Segoe UI" pitchFamily="34" charset="0"/>
                <a:ea typeface="Segoe UI" pitchFamily="34" charset="-122"/>
                <a:cs typeface="Segoe UI" pitchFamily="34" charset="-120"/>
              </a:rPr>
              <a:t>on the ₹1 Cr / plant / yr platform — even at a conservative 1-in-15-year event</a:t>
            </a:r>
            <a:endParaRPr lang="en-US" sz="1250" dirty="0"/>
          </a:p>
        </p:txBody>
      </p:sp>
      <p:sp>
        <p:nvSpPr>
          <p:cNvPr id="24" name="Text 22"/>
          <p:cNvSpPr/>
          <p:nvPr/>
        </p:nvSpPr>
        <p:spPr>
          <a:xfrm>
            <a:off x="672084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3.9×</a:t>
            </a:r>
            <a:endParaRPr lang="en-US" sz="2200" dirty="0"/>
          </a:p>
        </p:txBody>
      </p:sp>
      <p:sp>
        <p:nvSpPr>
          <p:cNvPr id="25" name="Text 23"/>
          <p:cNvSpPr/>
          <p:nvPr/>
        </p:nvSpPr>
        <p:spPr>
          <a:xfrm>
            <a:off x="672084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1-in-30 yr</a:t>
            </a:r>
            <a:endParaRPr lang="en-US" sz="950" dirty="0"/>
          </a:p>
        </p:txBody>
      </p:sp>
      <p:sp>
        <p:nvSpPr>
          <p:cNvPr id="26" name="Text 24"/>
          <p:cNvSpPr/>
          <p:nvPr/>
        </p:nvSpPr>
        <p:spPr>
          <a:xfrm>
            <a:off x="841248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7.7×</a:t>
            </a:r>
            <a:endParaRPr lang="en-US" sz="2200" dirty="0"/>
          </a:p>
        </p:txBody>
      </p:sp>
      <p:sp>
        <p:nvSpPr>
          <p:cNvPr id="27" name="Text 25"/>
          <p:cNvSpPr/>
          <p:nvPr/>
        </p:nvSpPr>
        <p:spPr>
          <a:xfrm>
            <a:off x="841248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1-in-15 yr</a:t>
            </a:r>
            <a:endParaRPr lang="en-US" sz="950" dirty="0"/>
          </a:p>
        </p:txBody>
      </p:sp>
      <p:sp>
        <p:nvSpPr>
          <p:cNvPr id="28" name="Text 26"/>
          <p:cNvSpPr/>
          <p:nvPr/>
        </p:nvSpPr>
        <p:spPr>
          <a:xfrm>
            <a:off x="1010412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14.4×</a:t>
            </a:r>
            <a:endParaRPr lang="en-US" sz="2200" dirty="0"/>
          </a:p>
        </p:txBody>
      </p:sp>
      <p:sp>
        <p:nvSpPr>
          <p:cNvPr id="29" name="Text 27"/>
          <p:cNvSpPr/>
          <p:nvPr/>
        </p:nvSpPr>
        <p:spPr>
          <a:xfrm>
            <a:off x="1010412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1-in-8 yr</a:t>
            </a:r>
            <a:endParaRPr lang="en-US" sz="950" dirty="0"/>
          </a:p>
        </p:txBody>
      </p:sp>
      <p:sp>
        <p:nvSpPr>
          <p:cNvPr id="30" name="Shape 28"/>
          <p:cNvSpPr/>
          <p:nvPr/>
        </p:nvSpPr>
        <p:spPr>
          <a:xfrm>
            <a:off x="6720840" y="5166360"/>
            <a:ext cx="4693615" cy="0"/>
          </a:xfrm>
          <a:prstGeom prst="line">
            <a:avLst/>
          </a:prstGeom>
          <a:noFill/>
          <a:ln w="12700">
            <a:solidFill>
              <a:srgbClr val="2A2118"/>
            </a:solidFill>
            <a:prstDash val="solid"/>
          </a:ln>
        </p:spPr>
      </p:sp>
      <p:sp>
        <p:nvSpPr>
          <p:cNvPr id="31" name="Text 29"/>
          <p:cNvSpPr/>
          <p:nvPr/>
        </p:nvSpPr>
        <p:spPr>
          <a:xfrm>
            <a:off x="6720840" y="5285232"/>
            <a:ext cx="4693615" cy="6400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 insurance lever: a recurring ₹0.4–1.2 Cr/yr premium reduction (5–15% for continuous monitoring) offsets the platform cost whether or not an incident ever occurs.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14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GO TO MARKET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wedge, a buyer, a trigger</a:t>
            </a:r>
            <a:endParaRPr lang="en-US" sz="3300" dirty="0"/>
          </a:p>
        </p:txBody>
      </p:sp>
      <p:sp>
        <p:nvSpPr>
          <p:cNvPr id="9" name="Shape 7"/>
          <p:cNvSpPr/>
          <p:nvPr/>
        </p:nvSpPr>
        <p:spPr>
          <a:xfrm>
            <a:off x="777240" y="2194560"/>
            <a:ext cx="10637215" cy="0"/>
          </a:xfrm>
          <a:prstGeom prst="line">
            <a:avLst/>
          </a:prstGeom>
          <a:noFill/>
          <a:ln w="12700">
            <a:solidFill>
              <a:srgbClr val="2A2118"/>
            </a:solidFill>
            <a:prstDash val="solid"/>
          </a:ln>
        </p:spPr>
      </p:sp>
      <p:sp>
        <p:nvSpPr>
          <p:cNvPr id="10" name="Text 8"/>
          <p:cNvSpPr/>
          <p:nvPr/>
        </p:nvSpPr>
        <p:spPr>
          <a:xfrm>
            <a:off x="777240" y="2322576"/>
            <a:ext cx="1828800" cy="457200"/>
          </a:xfrm>
          <a:prstGeom prst="rect">
            <a:avLst/>
          </a:prstGeom>
          <a:noFill/>
          <a:ln/>
        </p:spPr>
        <p:txBody>
          <a:bodyPr wrap="square" lIns="0" tIns="0" rIns="0" bIns="0" rtlCol="0" anchor="t"/>
          <a:lstStyle/>
          <a:p>
            <a:pPr indent="0" marL="0">
              <a:buNone/>
            </a:pPr>
            <a:r>
              <a:rPr lang="en-US" sz="1500" dirty="0">
                <a:solidFill>
                  <a:srgbClr val="FF6A1A"/>
                </a:solidFill>
                <a:latin typeface="Bahnschrift" pitchFamily="34" charset="0"/>
                <a:ea typeface="Bahnschrift" pitchFamily="34" charset="-122"/>
                <a:cs typeface="Bahnschrift" pitchFamily="34" charset="-120"/>
              </a:rPr>
              <a:t>BUYER</a:t>
            </a:r>
            <a:endParaRPr lang="en-US" sz="1500" dirty="0"/>
          </a:p>
        </p:txBody>
      </p:sp>
      <p:sp>
        <p:nvSpPr>
          <p:cNvPr id="11" name="Text 9"/>
          <p:cNvSpPr/>
          <p:nvPr/>
        </p:nvSpPr>
        <p:spPr>
          <a:xfrm>
            <a:off x="2788920" y="2304288"/>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Plant process-safety head / safety officer — owns permit-to-work and statutory compliance, carries the fatality risk.</a:t>
            </a:r>
            <a:endParaRPr lang="en-US" sz="1350" dirty="0"/>
          </a:p>
        </p:txBody>
      </p:sp>
      <p:sp>
        <p:nvSpPr>
          <p:cNvPr id="12" name="Shape 10"/>
          <p:cNvSpPr/>
          <p:nvPr/>
        </p:nvSpPr>
        <p:spPr>
          <a:xfrm>
            <a:off x="777240" y="2980944"/>
            <a:ext cx="10637215" cy="0"/>
          </a:xfrm>
          <a:prstGeom prst="line">
            <a:avLst/>
          </a:prstGeom>
          <a:noFill/>
          <a:ln w="12700">
            <a:solidFill>
              <a:srgbClr val="2A2118"/>
            </a:solidFill>
            <a:prstDash val="solid"/>
          </a:ln>
        </p:spPr>
      </p:sp>
      <p:sp>
        <p:nvSpPr>
          <p:cNvPr id="13" name="Text 11"/>
          <p:cNvSpPr/>
          <p:nvPr/>
        </p:nvSpPr>
        <p:spPr>
          <a:xfrm>
            <a:off x="777240" y="3108960"/>
            <a:ext cx="1828800"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WEDGE</a:t>
            </a:r>
            <a:endParaRPr lang="en-US" sz="1500" dirty="0"/>
          </a:p>
        </p:txBody>
      </p:sp>
      <p:sp>
        <p:nvSpPr>
          <p:cNvPr id="14" name="Text 12"/>
          <p:cNvSpPr/>
          <p:nvPr/>
        </p:nvSpPr>
        <p:spPr>
          <a:xfrm>
            <a:off x="2788920" y="3090672"/>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Permit-to-work intelligence — one discrete, fundable pain — then expand to full gas + permit + CCTV + shift fusion.</a:t>
            </a:r>
            <a:endParaRPr lang="en-US" sz="1350" dirty="0"/>
          </a:p>
        </p:txBody>
      </p:sp>
      <p:sp>
        <p:nvSpPr>
          <p:cNvPr id="15" name="Shape 13"/>
          <p:cNvSpPr/>
          <p:nvPr/>
        </p:nvSpPr>
        <p:spPr>
          <a:xfrm>
            <a:off x="777240" y="3767328"/>
            <a:ext cx="10637215" cy="0"/>
          </a:xfrm>
          <a:prstGeom prst="line">
            <a:avLst/>
          </a:prstGeom>
          <a:noFill/>
          <a:ln w="12700">
            <a:solidFill>
              <a:srgbClr val="2A2118"/>
            </a:solidFill>
            <a:prstDash val="solid"/>
          </a:ln>
        </p:spPr>
      </p:sp>
      <p:sp>
        <p:nvSpPr>
          <p:cNvPr id="16" name="Text 14"/>
          <p:cNvSpPr/>
          <p:nvPr/>
        </p:nvSpPr>
        <p:spPr>
          <a:xfrm>
            <a:off x="777240" y="3895344"/>
            <a:ext cx="1828800"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PRICING</a:t>
            </a:r>
            <a:endParaRPr lang="en-US" sz="1500" dirty="0"/>
          </a:p>
        </p:txBody>
      </p:sp>
      <p:sp>
        <p:nvSpPr>
          <p:cNvPr id="17" name="Text 15"/>
          <p:cNvSpPr/>
          <p:nvPr/>
        </p:nvSpPr>
        <p:spPr>
          <a:xfrm>
            <a:off x="2788920" y="3877056"/>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~₹1 Cr / plant / yr — justified against a single downtime-day (~₹3 Cr) or one OISD / NGT penalty.</a:t>
            </a:r>
            <a:endParaRPr lang="en-US" sz="1350" dirty="0"/>
          </a:p>
        </p:txBody>
      </p:sp>
      <p:sp>
        <p:nvSpPr>
          <p:cNvPr id="18" name="Shape 16"/>
          <p:cNvSpPr/>
          <p:nvPr/>
        </p:nvSpPr>
        <p:spPr>
          <a:xfrm>
            <a:off x="777240" y="4553712"/>
            <a:ext cx="10637215" cy="0"/>
          </a:xfrm>
          <a:prstGeom prst="line">
            <a:avLst/>
          </a:prstGeom>
          <a:noFill/>
          <a:ln w="12700">
            <a:solidFill>
              <a:srgbClr val="2A2118"/>
            </a:solidFill>
            <a:prstDash val="solid"/>
          </a:ln>
        </p:spPr>
      </p:sp>
      <p:sp>
        <p:nvSpPr>
          <p:cNvPr id="19" name="Text 17"/>
          <p:cNvSpPr/>
          <p:nvPr/>
        </p:nvSpPr>
        <p:spPr>
          <a:xfrm>
            <a:off x="777240" y="4681728"/>
            <a:ext cx="1828800" cy="457200"/>
          </a:xfrm>
          <a:prstGeom prst="rect">
            <a:avLst/>
          </a:prstGeom>
          <a:noFill/>
          <a:ln/>
        </p:spPr>
        <p:txBody>
          <a:bodyPr wrap="square" lIns="0" tIns="0" rIns="0" bIns="0" rtlCol="0" anchor="t"/>
          <a:lstStyle/>
          <a:p>
            <a:pPr indent="0" marL="0">
              <a:buNone/>
            </a:pPr>
            <a:r>
              <a:rPr lang="en-US" sz="1500" dirty="0">
                <a:solidFill>
                  <a:srgbClr val="F5902B"/>
                </a:solidFill>
                <a:latin typeface="Bahnschrift" pitchFamily="34" charset="0"/>
                <a:ea typeface="Bahnschrift" pitchFamily="34" charset="-122"/>
                <a:cs typeface="Bahnschrift" pitchFamily="34" charset="-120"/>
              </a:rPr>
              <a:t>TRIGGER</a:t>
            </a:r>
            <a:endParaRPr lang="en-US" sz="1500" dirty="0"/>
          </a:p>
        </p:txBody>
      </p:sp>
      <p:sp>
        <p:nvSpPr>
          <p:cNvPr id="20" name="Text 18"/>
          <p:cNvSpPr/>
          <p:nvPr/>
        </p:nvSpPr>
        <p:spPr>
          <a:xfrm>
            <a:off x="2788920" y="4663440"/>
            <a:ext cx="8625535" cy="548640"/>
          </a:xfrm>
          <a:prstGeom prst="rect">
            <a:avLst/>
          </a:prstGeom>
          <a:noFill/>
          <a:ln/>
        </p:spPr>
        <p:txBody>
          <a:bodyPr wrap="square" lIns="0" tIns="0" rIns="0" bIns="0" rtlCol="0" anchor="ctr"/>
          <a:lstStyle/>
          <a:p>
            <a:pPr indent="0" marL="0">
              <a:lnSpc>
                <a:spcPct val="112000"/>
              </a:lnSpc>
              <a:buNone/>
            </a:pPr>
            <a:r>
              <a:rPr lang="en-US" sz="1350" dirty="0">
                <a:solidFill>
                  <a:srgbClr val="C6B9A6"/>
                </a:solidFill>
                <a:latin typeface="Segoe UI" pitchFamily="34" charset="0"/>
                <a:ea typeface="Segoe UI" pitchFamily="34" charset="-122"/>
                <a:cs typeface="Segoe UI" pitchFamily="34" charset="-120"/>
              </a:rPr>
              <a:t>Post-LG-Polymers / Vizag regulatory pressure — DGMS scrutiny and mandatory near-miss reporting.</a:t>
            </a:r>
            <a:endParaRPr lang="en-US" sz="1350" dirty="0"/>
          </a:p>
        </p:txBody>
      </p:sp>
      <p:sp>
        <p:nvSpPr>
          <p:cNvPr id="21" name="Shape 19"/>
          <p:cNvSpPr/>
          <p:nvPr/>
        </p:nvSpPr>
        <p:spPr>
          <a:xfrm>
            <a:off x="777240" y="5340096"/>
            <a:ext cx="10637215" cy="0"/>
          </a:xfrm>
          <a:prstGeom prst="line">
            <a:avLst/>
          </a:prstGeom>
          <a:noFill/>
          <a:ln w="12700">
            <a:solidFill>
              <a:srgbClr val="2A2118"/>
            </a:solidFill>
            <a:prstDash val="solid"/>
          </a:ln>
        </p:spPr>
      </p:sp>
      <p:sp>
        <p:nvSpPr>
          <p:cNvPr id="22" name="Shape 20"/>
          <p:cNvSpPr/>
          <p:nvPr/>
        </p:nvSpPr>
        <p:spPr>
          <a:xfrm>
            <a:off x="777240" y="5532120"/>
            <a:ext cx="10637215" cy="548640"/>
          </a:xfrm>
          <a:prstGeom prst="rect">
            <a:avLst/>
          </a:prstGeom>
          <a:solidFill>
            <a:srgbClr val="FF6A1A"/>
          </a:solidFill>
          <a:ln/>
        </p:spPr>
      </p:sp>
      <p:sp>
        <p:nvSpPr>
          <p:cNvPr id="23" name="Text 21"/>
          <p:cNvSpPr/>
          <p:nvPr/>
        </p:nvSpPr>
        <p:spPr>
          <a:xfrm>
            <a:off x="1097280" y="5532120"/>
            <a:ext cx="9997135" cy="548640"/>
          </a:xfrm>
          <a:prstGeom prst="rect">
            <a:avLst/>
          </a:prstGeom>
          <a:noFill/>
          <a:ln/>
        </p:spPr>
        <p:txBody>
          <a:bodyPr wrap="square" lIns="0" tIns="0" rIns="0" bIns="0" rtlCol="0" anchor="ctr"/>
          <a:lstStyle/>
          <a:p>
            <a:pPr indent="0" marL="0">
              <a:buNone/>
            </a:pPr>
            <a:r>
              <a:rPr lang="en-US" sz="1100" b="1" dirty="0">
                <a:solidFill>
                  <a:srgbClr val="0B0908"/>
                </a:solidFill>
                <a:latin typeface="Cascadia Mono" pitchFamily="34" charset="0"/>
                <a:ea typeface="Cascadia Mono" pitchFamily="34" charset="-122"/>
                <a:cs typeface="Cascadia Mono" pitchFamily="34" charset="-120"/>
              </a:rPr>
              <a:t>THE ASK    </a:t>
            </a:r>
            <a:pPr indent="0" marL="0">
              <a:buNone/>
            </a:pPr>
            <a:r>
              <a:rPr lang="en-US" sz="1500" dirty="0">
                <a:solidFill>
                  <a:srgbClr val="0B0908"/>
                </a:solidFill>
                <a:latin typeface="Bahnschrift" pitchFamily="34" charset="0"/>
                <a:ea typeface="Bahnschrift" pitchFamily="34" charset="-122"/>
                <a:cs typeface="Bahnschrift" pitchFamily="34" charset="-120"/>
              </a:rPr>
              <a:t>1–2 design partners (steel / refining) for a 90-day pilot on a live permit-to-work + gas feed.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15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WHY AN INCUMBENT CAN'T JUST SHIP IT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000" dirty="0">
                <a:solidFill>
                  <a:srgbClr val="FBF6EC"/>
                </a:solidFill>
                <a:latin typeface="Bahnschrift SemiBold" pitchFamily="34" charset="0"/>
                <a:ea typeface="Bahnschrift SemiBold" pitchFamily="34" charset="-122"/>
                <a:cs typeface="Bahnschrift SemiBold" pitchFamily="34" charset="-120"/>
              </a:rPr>
              <a:t>The moat is the fusion, not the sensors</a:t>
            </a:r>
            <a:endParaRPr lang="en-US" sz="3000" dirty="0"/>
          </a:p>
        </p:txBody>
      </p:sp>
      <p:sp>
        <p:nvSpPr>
          <p:cNvPr id="9" name="Shape 7"/>
          <p:cNvSpPr/>
          <p:nvPr/>
        </p:nvSpPr>
        <p:spPr>
          <a:xfrm>
            <a:off x="777240" y="2148840"/>
            <a:ext cx="10637215" cy="0"/>
          </a:xfrm>
          <a:prstGeom prst="line">
            <a:avLst/>
          </a:prstGeom>
          <a:noFill/>
          <a:ln w="12700">
            <a:solidFill>
              <a:srgbClr val="2A2118"/>
            </a:solidFill>
            <a:prstDash val="solid"/>
          </a:ln>
        </p:spPr>
      </p:sp>
      <p:sp>
        <p:nvSpPr>
          <p:cNvPr id="10" name="Shape 8"/>
          <p:cNvSpPr/>
          <p:nvPr/>
        </p:nvSpPr>
        <p:spPr>
          <a:xfrm>
            <a:off x="777240" y="2276856"/>
            <a:ext cx="45720" cy="502920"/>
          </a:xfrm>
          <a:prstGeom prst="rect">
            <a:avLst/>
          </a:prstGeom>
          <a:solidFill>
            <a:srgbClr val="FF2B4E"/>
          </a:solidFill>
          <a:ln/>
        </p:spPr>
      </p:sp>
      <p:sp>
        <p:nvSpPr>
          <p:cNvPr id="11" name="Text 9"/>
          <p:cNvSpPr/>
          <p:nvPr/>
        </p:nvSpPr>
        <p:spPr>
          <a:xfrm>
            <a:off x="960120" y="2267712"/>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2B4E"/>
                </a:solidFill>
                <a:latin typeface="Bahnschrift" pitchFamily="34" charset="0"/>
                <a:ea typeface="Bahnschrift" pitchFamily="34" charset="-122"/>
                <a:cs typeface="Bahnschrift" pitchFamily="34" charset="-120"/>
              </a:rPr>
              <a:t>INCUMBENTS SELL SILOS</a:t>
            </a:r>
            <a:endParaRPr lang="en-US" sz="1350" dirty="0"/>
          </a:p>
        </p:txBody>
      </p:sp>
      <p:sp>
        <p:nvSpPr>
          <p:cNvPr id="12" name="Text 10"/>
          <p:cNvSpPr/>
          <p:nvPr/>
        </p:nvSpPr>
        <p:spPr>
          <a:xfrm>
            <a:off x="4434840" y="2249424"/>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Honeywell, Dräger, MSA, Hexagon sell gas detection, permit-to-work and CCTV as SEPARATE products. The danger lives in the seam BETWEEN them — exactly what no one owns end to end.</a:t>
            </a:r>
            <a:endParaRPr lang="en-US" sz="1200" dirty="0"/>
          </a:p>
        </p:txBody>
      </p:sp>
      <p:sp>
        <p:nvSpPr>
          <p:cNvPr id="13" name="Shape 11"/>
          <p:cNvSpPr/>
          <p:nvPr/>
        </p:nvSpPr>
        <p:spPr>
          <a:xfrm>
            <a:off x="777240" y="2990088"/>
            <a:ext cx="10637215" cy="0"/>
          </a:xfrm>
          <a:prstGeom prst="line">
            <a:avLst/>
          </a:prstGeom>
          <a:noFill/>
          <a:ln w="12700">
            <a:solidFill>
              <a:srgbClr val="2A2118"/>
            </a:solidFill>
            <a:prstDash val="solid"/>
          </a:ln>
        </p:spPr>
      </p:sp>
      <p:sp>
        <p:nvSpPr>
          <p:cNvPr id="14" name="Shape 12"/>
          <p:cNvSpPr/>
          <p:nvPr/>
        </p:nvSpPr>
        <p:spPr>
          <a:xfrm>
            <a:off x="777240" y="3118104"/>
            <a:ext cx="45720" cy="502920"/>
          </a:xfrm>
          <a:prstGeom prst="rect">
            <a:avLst/>
          </a:prstGeom>
          <a:solidFill>
            <a:srgbClr val="FF6A1A"/>
          </a:solidFill>
          <a:ln/>
        </p:spPr>
      </p:sp>
      <p:sp>
        <p:nvSpPr>
          <p:cNvPr id="15" name="Text 13"/>
          <p:cNvSpPr/>
          <p:nvPr/>
        </p:nvSpPr>
        <p:spPr>
          <a:xfrm>
            <a:off x="960120" y="3108960"/>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6A1A"/>
                </a:solidFill>
                <a:latin typeface="Bahnschrift" pitchFamily="34" charset="0"/>
                <a:ea typeface="Bahnschrift" pitchFamily="34" charset="-122"/>
                <a:cs typeface="Bahnschrift" pitchFamily="34" charset="-120"/>
              </a:rPr>
              <a:t>A DETERMINISTIC PATTERN LIBRARY</a:t>
            </a:r>
            <a:endParaRPr lang="en-US" sz="1350" dirty="0"/>
          </a:p>
        </p:txBody>
      </p:sp>
      <p:sp>
        <p:nvSpPr>
          <p:cNvPr id="16" name="Text 14"/>
          <p:cNvSpPr/>
          <p:nvPr/>
        </p:nvSpPr>
        <p:spPr>
          <a:xfrm>
            <a:off x="4434840" y="3090672"/>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Compound rules — flammable × ignition × personnel × oxidizer × blast-radius, encoded to real OISD / Factory-Act thresholds — are domain IP, not a model cloned from a public dataset.</a:t>
            </a:r>
            <a:endParaRPr lang="en-US" sz="1200" dirty="0"/>
          </a:p>
        </p:txBody>
      </p:sp>
      <p:sp>
        <p:nvSpPr>
          <p:cNvPr id="17" name="Shape 15"/>
          <p:cNvSpPr/>
          <p:nvPr/>
        </p:nvSpPr>
        <p:spPr>
          <a:xfrm>
            <a:off x="777240" y="3831336"/>
            <a:ext cx="10637215" cy="0"/>
          </a:xfrm>
          <a:prstGeom prst="line">
            <a:avLst/>
          </a:prstGeom>
          <a:noFill/>
          <a:ln w="12700">
            <a:solidFill>
              <a:srgbClr val="2A2118"/>
            </a:solidFill>
            <a:prstDash val="solid"/>
          </a:ln>
        </p:spPr>
      </p:sp>
      <p:sp>
        <p:nvSpPr>
          <p:cNvPr id="18" name="Shape 16"/>
          <p:cNvSpPr/>
          <p:nvPr/>
        </p:nvSpPr>
        <p:spPr>
          <a:xfrm>
            <a:off x="777240" y="3959352"/>
            <a:ext cx="45720" cy="502920"/>
          </a:xfrm>
          <a:prstGeom prst="rect">
            <a:avLst/>
          </a:prstGeom>
          <a:solidFill>
            <a:srgbClr val="FF6A1A"/>
          </a:solidFill>
          <a:ln/>
        </p:spPr>
      </p:sp>
      <p:sp>
        <p:nvSpPr>
          <p:cNvPr id="19" name="Text 17"/>
          <p:cNvSpPr/>
          <p:nvPr/>
        </p:nvSpPr>
        <p:spPr>
          <a:xfrm>
            <a:off x="960120" y="3950208"/>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F6A1A"/>
                </a:solidFill>
                <a:latin typeface="Bahnschrift" pitchFamily="34" charset="0"/>
                <a:ea typeface="Bahnschrift" pitchFamily="34" charset="-122"/>
                <a:cs typeface="Bahnschrift" pitchFamily="34" charset="-120"/>
              </a:rPr>
              <a:t>A PER-PLANT DATA MOAT</a:t>
            </a:r>
            <a:endParaRPr lang="en-US" sz="1350" dirty="0"/>
          </a:p>
        </p:txBody>
      </p:sp>
      <p:sp>
        <p:nvSpPr>
          <p:cNvPr id="20" name="Text 18"/>
          <p:cNvSpPr/>
          <p:nvPr/>
        </p:nvSpPr>
        <p:spPr>
          <a:xfrm>
            <a:off x="4434840" y="3931920"/>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Each plant's operator feedback tunes its own nuisance profile — proprietary data that compounds per site and raises switching cost. An incumbent's fixed hardware doesn't learn.</a:t>
            </a:r>
            <a:endParaRPr lang="en-US" sz="1200" dirty="0"/>
          </a:p>
        </p:txBody>
      </p:sp>
      <p:sp>
        <p:nvSpPr>
          <p:cNvPr id="21" name="Shape 19"/>
          <p:cNvSpPr/>
          <p:nvPr/>
        </p:nvSpPr>
        <p:spPr>
          <a:xfrm>
            <a:off x="777240" y="4672584"/>
            <a:ext cx="10637215" cy="0"/>
          </a:xfrm>
          <a:prstGeom prst="line">
            <a:avLst/>
          </a:prstGeom>
          <a:noFill/>
          <a:ln w="12700">
            <a:solidFill>
              <a:srgbClr val="2A2118"/>
            </a:solidFill>
            <a:prstDash val="solid"/>
          </a:ln>
        </p:spPr>
      </p:sp>
      <p:sp>
        <p:nvSpPr>
          <p:cNvPr id="22" name="Shape 20"/>
          <p:cNvSpPr/>
          <p:nvPr/>
        </p:nvSpPr>
        <p:spPr>
          <a:xfrm>
            <a:off x="777240" y="4800600"/>
            <a:ext cx="45720" cy="502920"/>
          </a:xfrm>
          <a:prstGeom prst="rect">
            <a:avLst/>
          </a:prstGeom>
          <a:solidFill>
            <a:srgbClr val="F5902B"/>
          </a:solidFill>
          <a:ln/>
        </p:spPr>
      </p:sp>
      <p:sp>
        <p:nvSpPr>
          <p:cNvPr id="23" name="Text 21"/>
          <p:cNvSpPr/>
          <p:nvPr/>
        </p:nvSpPr>
        <p:spPr>
          <a:xfrm>
            <a:off x="960120" y="4791456"/>
            <a:ext cx="3383280" cy="566928"/>
          </a:xfrm>
          <a:prstGeom prst="rect">
            <a:avLst/>
          </a:prstGeom>
          <a:noFill/>
          <a:ln/>
        </p:spPr>
        <p:txBody>
          <a:bodyPr wrap="square" lIns="0" tIns="0" rIns="0" bIns="0" rtlCol="0" anchor="ctr"/>
          <a:lstStyle/>
          <a:p>
            <a:pPr indent="0" marL="0">
              <a:lnSpc>
                <a:spcPct val="100000"/>
              </a:lnSpc>
              <a:buNone/>
            </a:pPr>
            <a:r>
              <a:rPr lang="en-US" sz="1350" dirty="0">
                <a:solidFill>
                  <a:srgbClr val="F5902B"/>
                </a:solidFill>
                <a:latin typeface="Bahnschrift" pitchFamily="34" charset="0"/>
                <a:ea typeface="Bahnschrift" pitchFamily="34" charset="-122"/>
                <a:cs typeface="Bahnschrift" pitchFamily="34" charset="-120"/>
              </a:rPr>
              <a:t>AUDIT-GRADE BY CONSTRUCTION</a:t>
            </a:r>
            <a:endParaRPr lang="en-US" sz="1350" dirty="0"/>
          </a:p>
        </p:txBody>
      </p:sp>
      <p:sp>
        <p:nvSpPr>
          <p:cNvPr id="24" name="Text 22"/>
          <p:cNvSpPr/>
          <p:nvPr/>
        </p:nvSpPr>
        <p:spPr>
          <a:xfrm>
            <a:off x="4434840" y="4773168"/>
            <a:ext cx="6979615" cy="603504"/>
          </a:xfrm>
          <a:prstGeom prst="rect">
            <a:avLst/>
          </a:prstGeom>
          <a:noFill/>
          <a:ln/>
        </p:spPr>
        <p:txBody>
          <a:bodyPr wrap="square" lIns="0" tIns="0" rIns="0" bIns="0" rtlCol="0" anchor="ctr"/>
          <a:lstStyle/>
          <a:p>
            <a:pPr indent="0" marL="0">
              <a:lnSpc>
                <a:spcPct val="112000"/>
              </a:lnSpc>
              <a:buNone/>
            </a:pPr>
            <a:r>
              <a:rPr lang="en-US" sz="1200" dirty="0">
                <a:solidFill>
                  <a:srgbClr val="C6B9A6"/>
                </a:solidFill>
                <a:latin typeface="Segoe UI" pitchFamily="34" charset="0"/>
                <a:ea typeface="Segoe UI" pitchFamily="34" charset="-122"/>
                <a:cs typeface="Segoe UI" pitchFamily="34" charset="-120"/>
              </a:rPr>
              <a:t>A transparent, deterministic core a safety officer can defend in a statutory audit. A pure-LLM bolt-on can't make a life-safety call a regulator will accept.</a:t>
            </a:r>
            <a:endParaRPr lang="en-US" sz="1200" dirty="0"/>
          </a:p>
        </p:txBody>
      </p:sp>
      <p:sp>
        <p:nvSpPr>
          <p:cNvPr id="25" name="Shape 23"/>
          <p:cNvSpPr/>
          <p:nvPr/>
        </p:nvSpPr>
        <p:spPr>
          <a:xfrm>
            <a:off x="777240" y="5513832"/>
            <a:ext cx="10637215" cy="0"/>
          </a:xfrm>
          <a:prstGeom prst="line">
            <a:avLst/>
          </a:prstGeom>
          <a:noFill/>
          <a:ln w="12700">
            <a:solidFill>
              <a:srgbClr val="2A2118"/>
            </a:solidFill>
            <a:prstDash val="solid"/>
          </a:ln>
        </p:spPr>
      </p:sp>
      <p:sp>
        <p:nvSpPr>
          <p:cNvPr id="26" name="Text 24"/>
          <p:cNvSpPr/>
          <p:nvPr/>
        </p:nvSpPr>
        <p:spPr>
          <a:xfrm>
            <a:off x="777240" y="5715000"/>
            <a:ext cx="10637215" cy="365760"/>
          </a:xfrm>
          <a:prstGeom prst="rect">
            <a:avLst/>
          </a:prstGeom>
          <a:noFill/>
          <a:ln/>
        </p:spPr>
        <p:txBody>
          <a:bodyPr wrap="square" lIns="0" tIns="0" rIns="0" bIns="0" rtlCol="0" anchor="ctr"/>
          <a:lstStyle/>
          <a:p>
            <a:pPr indent="0" marL="0">
              <a:buNone/>
            </a:pPr>
            <a:r>
              <a:rPr lang="en-US" sz="1250" b="1" dirty="0">
                <a:solidFill>
                  <a:srgbClr val="FF6A1A"/>
                </a:solidFill>
                <a:latin typeface="Bahnschrift" pitchFamily="34" charset="0"/>
                <a:ea typeface="Bahnschrift" pitchFamily="34" charset="-122"/>
                <a:cs typeface="Bahnschrift" pitchFamily="34" charset="-120"/>
              </a:rPr>
              <a:t>The wedge:  </a:t>
            </a:r>
            <a:pPr indent="0" marL="0">
              <a:buNone/>
            </a:pPr>
            <a:r>
              <a:rPr lang="en-US" sz="1250" dirty="0">
                <a:solidFill>
                  <a:srgbClr val="C6B9A6"/>
                </a:solidFill>
                <a:latin typeface="Segoe UI" pitchFamily="34" charset="0"/>
                <a:ea typeface="Segoe UI" pitchFamily="34" charset="-122"/>
                <a:cs typeface="Segoe UI" pitchFamily="34" charset="-120"/>
              </a:rPr>
              <a:t>land on permit-to-work intelligence — one fundable pain — then own the fused layer the incumbents are structurally unable to assemble.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16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SCALES HORIZONTALLY</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One engine. Every plant.</a:t>
            </a:r>
            <a:endParaRPr lang="en-US" sz="3300" dirty="0"/>
          </a:p>
        </p:txBody>
      </p:sp>
      <p:sp>
        <p:nvSpPr>
          <p:cNvPr id="9" name="Shape 7"/>
          <p:cNvSpPr/>
          <p:nvPr/>
        </p:nvSpPr>
        <p:spPr>
          <a:xfrm>
            <a:off x="777240" y="2194560"/>
            <a:ext cx="2384984" cy="0"/>
          </a:xfrm>
          <a:prstGeom prst="line">
            <a:avLst/>
          </a:prstGeom>
          <a:noFill/>
          <a:ln w="12700">
            <a:solidFill>
              <a:srgbClr val="473726"/>
            </a:solidFill>
            <a:prstDash val="solid"/>
          </a:ln>
        </p:spPr>
      </p:sp>
      <p:sp>
        <p:nvSpPr>
          <p:cNvPr id="10" name="Text 8"/>
          <p:cNvSpPr/>
          <p:nvPr/>
        </p:nvSpPr>
        <p:spPr>
          <a:xfrm>
            <a:off x="777240" y="2331720"/>
            <a:ext cx="2430704" cy="868680"/>
          </a:xfrm>
          <a:prstGeom prst="rect">
            <a:avLst/>
          </a:prstGeom>
          <a:noFill/>
          <a:ln/>
        </p:spPr>
        <p:txBody>
          <a:bodyPr wrap="square" lIns="0" tIns="0" rIns="0" bIns="0" rtlCol="0" anchor="ctr"/>
          <a:lstStyle/>
          <a:p>
            <a:pPr indent="0" marL="0">
              <a:buNone/>
            </a:pPr>
            <a:r>
              <a:rPr lang="en-US" sz="4800" dirty="0">
                <a:solidFill>
                  <a:srgbClr val="FBF6EC"/>
                </a:solidFill>
                <a:latin typeface="Bahnschrift SemiBold" pitchFamily="34" charset="0"/>
                <a:ea typeface="Bahnschrift SemiBold" pitchFamily="34" charset="-122"/>
                <a:cs typeface="Bahnschrift SemiBold" pitchFamily="34" charset="-120"/>
              </a:rPr>
              <a:t>100</a:t>
            </a:r>
            <a:endParaRPr lang="en-US" sz="4800" dirty="0"/>
          </a:p>
        </p:txBody>
      </p:sp>
      <p:sp>
        <p:nvSpPr>
          <p:cNvPr id="11" name="Text 9"/>
          <p:cNvSpPr/>
          <p:nvPr/>
        </p:nvSpPr>
        <p:spPr>
          <a:xfrm>
            <a:off x="777240"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plants · one engine</a:t>
            </a:r>
            <a:endParaRPr lang="en-US" sz="1200" dirty="0"/>
          </a:p>
        </p:txBody>
      </p:sp>
      <p:sp>
        <p:nvSpPr>
          <p:cNvPr id="12" name="Shape 10"/>
          <p:cNvSpPr/>
          <p:nvPr/>
        </p:nvSpPr>
        <p:spPr>
          <a:xfrm>
            <a:off x="3436544" y="2194560"/>
            <a:ext cx="2384984" cy="0"/>
          </a:xfrm>
          <a:prstGeom prst="line">
            <a:avLst/>
          </a:prstGeom>
          <a:noFill/>
          <a:ln w="12700">
            <a:solidFill>
              <a:srgbClr val="473726"/>
            </a:solidFill>
            <a:prstDash val="solid"/>
          </a:ln>
        </p:spPr>
      </p:sp>
      <p:sp>
        <p:nvSpPr>
          <p:cNvPr id="13" name="Text 11"/>
          <p:cNvSpPr/>
          <p:nvPr/>
        </p:nvSpPr>
        <p:spPr>
          <a:xfrm>
            <a:off x="3436544" y="2331720"/>
            <a:ext cx="2430704" cy="868680"/>
          </a:xfrm>
          <a:prstGeom prst="rect">
            <a:avLst/>
          </a:prstGeom>
          <a:noFill/>
          <a:ln/>
        </p:spPr>
        <p:txBody>
          <a:bodyPr wrap="square" lIns="0" tIns="0" rIns="0" bIns="0" rtlCol="0" anchor="ctr"/>
          <a:lstStyle/>
          <a:p>
            <a:pPr indent="0" marL="0">
              <a:buNone/>
            </a:pPr>
            <a:r>
              <a:rPr lang="en-US" sz="4800" dirty="0">
                <a:solidFill>
                  <a:srgbClr val="3FC77D"/>
                </a:solidFill>
                <a:latin typeface="Bahnschrift SemiBold" pitchFamily="34" charset="0"/>
                <a:ea typeface="Bahnschrift SemiBold" pitchFamily="34" charset="-122"/>
                <a:cs typeface="Bahnschrift SemiBold" pitchFamily="34" charset="-120"/>
              </a:rPr>
              <a:t>$0.30</a:t>
            </a:r>
            <a:endParaRPr lang="en-US" sz="4800" dirty="0"/>
          </a:p>
        </p:txBody>
      </p:sp>
      <p:sp>
        <p:nvSpPr>
          <p:cNvPr id="14" name="Text 12"/>
          <p:cNvSpPr/>
          <p:nvPr/>
        </p:nvSpPr>
        <p:spPr>
          <a:xfrm>
            <a:off x="3436544"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per plant / month</a:t>
            </a:r>
            <a:endParaRPr lang="en-US" sz="1200" dirty="0"/>
          </a:p>
        </p:txBody>
      </p:sp>
      <p:sp>
        <p:nvSpPr>
          <p:cNvPr id="15" name="Shape 13"/>
          <p:cNvSpPr/>
          <p:nvPr/>
        </p:nvSpPr>
        <p:spPr>
          <a:xfrm>
            <a:off x="6095848" y="2194560"/>
            <a:ext cx="2384984" cy="0"/>
          </a:xfrm>
          <a:prstGeom prst="line">
            <a:avLst/>
          </a:prstGeom>
          <a:noFill/>
          <a:ln w="12700">
            <a:solidFill>
              <a:srgbClr val="473726"/>
            </a:solidFill>
            <a:prstDash val="solid"/>
          </a:ln>
        </p:spPr>
      </p:sp>
      <p:sp>
        <p:nvSpPr>
          <p:cNvPr id="16" name="Text 14"/>
          <p:cNvSpPr/>
          <p:nvPr/>
        </p:nvSpPr>
        <p:spPr>
          <a:xfrm>
            <a:off x="6095848" y="2331720"/>
            <a:ext cx="2430704" cy="868680"/>
          </a:xfrm>
          <a:prstGeom prst="rect">
            <a:avLst/>
          </a:prstGeom>
          <a:noFill/>
          <a:ln/>
        </p:spPr>
        <p:txBody>
          <a:bodyPr wrap="square" lIns="0" tIns="0" rIns="0" bIns="0" rtlCol="0" anchor="ctr"/>
          <a:lstStyle/>
          <a:p>
            <a:pPr indent="0" marL="0">
              <a:buNone/>
            </a:pPr>
            <a:r>
              <a:rPr lang="en-US" sz="3400" dirty="0">
                <a:solidFill>
                  <a:srgbClr val="FBF6EC"/>
                </a:solidFill>
                <a:latin typeface="Bahnschrift SemiBold" pitchFamily="34" charset="0"/>
                <a:ea typeface="Bahnschrift SemiBold" pitchFamily="34" charset="-122"/>
                <a:cs typeface="Bahnschrift SemiBold" pitchFamily="34" charset="-120"/>
              </a:rPr>
              <a:t>thousands</a:t>
            </a:r>
            <a:endParaRPr lang="en-US" sz="3400" dirty="0"/>
          </a:p>
        </p:txBody>
      </p:sp>
      <p:sp>
        <p:nvSpPr>
          <p:cNvPr id="17" name="Text 15"/>
          <p:cNvSpPr/>
          <p:nvPr/>
        </p:nvSpPr>
        <p:spPr>
          <a:xfrm>
            <a:off x="6095848"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plants per core</a:t>
            </a:r>
            <a:endParaRPr lang="en-US" sz="1200" dirty="0"/>
          </a:p>
        </p:txBody>
      </p:sp>
      <p:sp>
        <p:nvSpPr>
          <p:cNvPr id="18" name="Shape 16"/>
          <p:cNvSpPr/>
          <p:nvPr/>
        </p:nvSpPr>
        <p:spPr>
          <a:xfrm>
            <a:off x="8755151" y="2194560"/>
            <a:ext cx="2384984" cy="0"/>
          </a:xfrm>
          <a:prstGeom prst="line">
            <a:avLst/>
          </a:prstGeom>
          <a:noFill/>
          <a:ln w="12700">
            <a:solidFill>
              <a:srgbClr val="473726"/>
            </a:solidFill>
            <a:prstDash val="solid"/>
          </a:ln>
        </p:spPr>
      </p:sp>
      <p:sp>
        <p:nvSpPr>
          <p:cNvPr id="19" name="Text 17"/>
          <p:cNvSpPr/>
          <p:nvPr/>
        </p:nvSpPr>
        <p:spPr>
          <a:xfrm>
            <a:off x="8755151" y="2331720"/>
            <a:ext cx="2430704" cy="868680"/>
          </a:xfrm>
          <a:prstGeom prst="rect">
            <a:avLst/>
          </a:prstGeom>
          <a:noFill/>
          <a:ln/>
        </p:spPr>
        <p:txBody>
          <a:bodyPr wrap="square" lIns="0" tIns="0" rIns="0" bIns="0" rtlCol="0" anchor="ctr"/>
          <a:lstStyle/>
          <a:p>
            <a:pPr indent="0" marL="0">
              <a:buNone/>
            </a:pPr>
            <a:r>
              <a:rPr lang="en-US" sz="3400" dirty="0">
                <a:solidFill>
                  <a:srgbClr val="FF6A1A"/>
                </a:solidFill>
                <a:latin typeface="Bahnschrift SemiBold" pitchFamily="34" charset="0"/>
                <a:ea typeface="Bahnschrift SemiBold" pitchFamily="34" charset="-122"/>
                <a:cs typeface="Bahnschrift SemiBold" pitchFamily="34" charset="-120"/>
              </a:rPr>
              <a:t>0.05 ms</a:t>
            </a:r>
            <a:endParaRPr lang="en-US" sz="3400" dirty="0"/>
          </a:p>
        </p:txBody>
      </p:sp>
      <p:sp>
        <p:nvSpPr>
          <p:cNvPr id="20" name="Text 18"/>
          <p:cNvSpPr/>
          <p:nvPr/>
        </p:nvSpPr>
        <p:spPr>
          <a:xfrm>
            <a:off x="8755151" y="3246120"/>
            <a:ext cx="2384984" cy="457200"/>
          </a:xfrm>
          <a:prstGeom prst="rect">
            <a:avLst/>
          </a:prstGeom>
          <a:noFill/>
          <a:ln/>
        </p:spPr>
        <p:txBody>
          <a:bodyPr wrap="square" lIns="0" tIns="0" rIns="0" bIns="0" rtlCol="0" anchor="t"/>
          <a:lstStyle/>
          <a:p>
            <a:pPr indent="0" marL="0">
              <a:lnSpc>
                <a:spcPct val="110000"/>
              </a:lnSpc>
              <a:buNone/>
            </a:pPr>
            <a:r>
              <a:rPr lang="en-US" sz="1200" dirty="0">
                <a:solidFill>
                  <a:srgbClr val="C6B9A6"/>
                </a:solidFill>
                <a:latin typeface="Segoe UI" pitchFamily="34" charset="0"/>
                <a:ea typeface="Segoe UI" pitchFamily="34" charset="-122"/>
                <a:cs typeface="Segoe UI" pitchFamily="34" charset="-120"/>
              </a:rPr>
              <a:t>p50 per assessment</a:t>
            </a:r>
            <a:endParaRPr lang="en-US" sz="1200" dirty="0"/>
          </a:p>
        </p:txBody>
      </p:sp>
      <p:sp>
        <p:nvSpPr>
          <p:cNvPr id="21" name="Text 19"/>
          <p:cNvSpPr/>
          <p:nvPr/>
        </p:nvSpPr>
        <p:spPr>
          <a:xfrm>
            <a:off x="777240" y="4114800"/>
            <a:ext cx="73152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MEASURED $/PLANT/MONTH — FALLS WITH SCALE</a:t>
            </a:r>
            <a:endParaRPr lang="en-US" sz="1000" dirty="0"/>
          </a:p>
        </p:txBody>
      </p:sp>
      <p:sp>
        <p:nvSpPr>
          <p:cNvPr id="22" name="Text 20"/>
          <p:cNvSpPr/>
          <p:nvPr/>
        </p:nvSpPr>
        <p:spPr>
          <a:xfrm>
            <a:off x="77724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$3.00</a:t>
            </a:r>
            <a:endParaRPr lang="en-US" sz="2600" dirty="0"/>
          </a:p>
        </p:txBody>
      </p:sp>
      <p:sp>
        <p:nvSpPr>
          <p:cNvPr id="23" name="Text 21"/>
          <p:cNvSpPr/>
          <p:nvPr/>
        </p:nvSpPr>
        <p:spPr>
          <a:xfrm>
            <a:off x="77724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 plants</a:t>
            </a:r>
            <a:endParaRPr lang="en-US" sz="1000" dirty="0"/>
          </a:p>
        </p:txBody>
      </p:sp>
      <p:sp>
        <p:nvSpPr>
          <p:cNvPr id="24" name="Text 22"/>
          <p:cNvSpPr/>
          <p:nvPr/>
        </p:nvSpPr>
        <p:spPr>
          <a:xfrm>
            <a:off x="310896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5" name="Text 23"/>
          <p:cNvSpPr/>
          <p:nvPr/>
        </p:nvSpPr>
        <p:spPr>
          <a:xfrm>
            <a:off x="356616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$0.30</a:t>
            </a:r>
            <a:endParaRPr lang="en-US" sz="2600" dirty="0"/>
          </a:p>
        </p:txBody>
      </p:sp>
      <p:sp>
        <p:nvSpPr>
          <p:cNvPr id="26" name="Text 24"/>
          <p:cNvSpPr/>
          <p:nvPr/>
        </p:nvSpPr>
        <p:spPr>
          <a:xfrm>
            <a:off x="356616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 plants</a:t>
            </a:r>
            <a:endParaRPr lang="en-US" sz="1000" dirty="0"/>
          </a:p>
        </p:txBody>
      </p:sp>
      <p:sp>
        <p:nvSpPr>
          <p:cNvPr id="27" name="Text 25"/>
          <p:cNvSpPr/>
          <p:nvPr/>
        </p:nvSpPr>
        <p:spPr>
          <a:xfrm>
            <a:off x="589788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8" name="Text 26"/>
          <p:cNvSpPr/>
          <p:nvPr/>
        </p:nvSpPr>
        <p:spPr>
          <a:xfrm>
            <a:off x="635508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$0.03</a:t>
            </a:r>
            <a:endParaRPr lang="en-US" sz="2600" dirty="0"/>
          </a:p>
        </p:txBody>
      </p:sp>
      <p:sp>
        <p:nvSpPr>
          <p:cNvPr id="29" name="Text 27"/>
          <p:cNvSpPr/>
          <p:nvPr/>
        </p:nvSpPr>
        <p:spPr>
          <a:xfrm>
            <a:off x="635508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1,000 plants</a:t>
            </a:r>
            <a:endParaRPr lang="en-US" sz="1000" dirty="0"/>
          </a:p>
        </p:txBody>
      </p:sp>
      <p:sp>
        <p:nvSpPr>
          <p:cNvPr id="30" name="Text 28"/>
          <p:cNvSpPr/>
          <p:nvPr/>
        </p:nvSpPr>
        <p:spPr>
          <a:xfrm>
            <a:off x="8686800" y="4434840"/>
            <a:ext cx="365760" cy="502920"/>
          </a:xfrm>
          <a:prstGeom prst="rect">
            <a:avLst/>
          </a:prstGeom>
          <a:noFill/>
          <a:ln/>
        </p:spPr>
        <p:txBody>
          <a:bodyPr wrap="square" lIns="0" tIns="0" rIns="0" bIns="0" rtlCol="0" anchor="t"/>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31" name="Text 29"/>
          <p:cNvSpPr/>
          <p:nvPr/>
        </p:nvSpPr>
        <p:spPr>
          <a:xfrm>
            <a:off x="9144000" y="4434840"/>
            <a:ext cx="2560320" cy="502920"/>
          </a:xfrm>
          <a:prstGeom prst="rect">
            <a:avLst/>
          </a:prstGeom>
          <a:noFill/>
          <a:ln/>
        </p:spPr>
        <p:txBody>
          <a:bodyPr wrap="square" lIns="0" tIns="0" rIns="0" bIns="0" rtlCol="0" anchor="t"/>
          <a:lstStyle/>
          <a:p>
            <a:pPr indent="0" marL="0">
              <a:buNone/>
            </a:pPr>
            <a:r>
              <a:rPr lang="en-US" sz="2600" dirty="0">
                <a:solidFill>
                  <a:srgbClr val="FBF6EC"/>
                </a:solidFill>
                <a:latin typeface="Bahnschrift SemiBold" pitchFamily="34" charset="0"/>
                <a:ea typeface="Bahnschrift SemiBold" pitchFamily="34" charset="-122"/>
                <a:cs typeface="Bahnschrift SemiBold" pitchFamily="34" charset="-120"/>
              </a:rPr>
              <a:t>$0.009</a:t>
            </a:r>
            <a:endParaRPr lang="en-US" sz="2600" dirty="0"/>
          </a:p>
        </p:txBody>
      </p:sp>
      <p:sp>
        <p:nvSpPr>
          <p:cNvPr id="32" name="Text 30"/>
          <p:cNvSpPr/>
          <p:nvPr/>
        </p:nvSpPr>
        <p:spPr>
          <a:xfrm>
            <a:off x="9144000" y="4983480"/>
            <a:ext cx="25603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10,000 plants</a:t>
            </a:r>
            <a:endParaRPr lang="en-US" sz="1000" dirty="0"/>
          </a:p>
        </p:txBody>
      </p:sp>
      <p:sp>
        <p:nvSpPr>
          <p:cNvPr id="33" name="Shape 31"/>
          <p:cNvSpPr/>
          <p:nvPr/>
        </p:nvSpPr>
        <p:spPr>
          <a:xfrm>
            <a:off x="777240" y="5486400"/>
            <a:ext cx="10637215" cy="548640"/>
          </a:xfrm>
          <a:prstGeom prst="rect">
            <a:avLst/>
          </a:prstGeom>
          <a:solidFill>
            <a:srgbClr val="151009"/>
          </a:solidFill>
          <a:ln w="12700">
            <a:solidFill>
              <a:srgbClr val="2A2118"/>
            </a:solidFill>
            <a:prstDash val="solid"/>
          </a:ln>
        </p:spPr>
      </p:sp>
      <p:sp>
        <p:nvSpPr>
          <p:cNvPr id="34" name="Text 32"/>
          <p:cNvSpPr/>
          <p:nvPr/>
        </p:nvSpPr>
        <p:spPr>
          <a:xfrm>
            <a:off x="1097280" y="5486400"/>
            <a:ext cx="9997135" cy="54864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Stateless shards.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plant is independent — no shared state, no per-site model. The engine is O(zones); the fleet scales by adding plain workers. Digital-twin sites stand in for live OPC-UA / MQTT feeds — ingesting real data is a connector, not a rewrite.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17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IT EARNS ITS TRUST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2800" dirty="0">
                <a:solidFill>
                  <a:srgbClr val="FBF6EC"/>
                </a:solidFill>
                <a:latin typeface="Bahnschrift SemiBold" pitchFamily="34" charset="0"/>
                <a:ea typeface="Bahnschrift SemiBold" pitchFamily="34" charset="-122"/>
                <a:cs typeface="Bahnschrift SemiBold" pitchFamily="34" charset="-120"/>
              </a:rPr>
              <a:t>Every plant learns its own nuisance profile</a:t>
            </a:r>
            <a:endParaRPr lang="en-US" sz="2800" dirty="0"/>
          </a:p>
        </p:txBody>
      </p:sp>
      <p:sp>
        <p:nvSpPr>
          <p:cNvPr id="9" name="Shape 7"/>
          <p:cNvSpPr/>
          <p:nvPr/>
        </p:nvSpPr>
        <p:spPr>
          <a:xfrm>
            <a:off x="777240" y="2240280"/>
            <a:ext cx="2384984" cy="731520"/>
          </a:xfrm>
          <a:prstGeom prst="rect">
            <a:avLst/>
          </a:prstGeom>
          <a:solidFill>
            <a:srgbClr val="151009"/>
          </a:solidFill>
          <a:ln w="12700">
            <a:solidFill>
              <a:srgbClr val="2A2118"/>
            </a:solidFill>
            <a:prstDash val="solid"/>
          </a:ln>
        </p:spPr>
      </p:sp>
      <p:sp>
        <p:nvSpPr>
          <p:cNvPr id="10" name="Text 8"/>
          <p:cNvSpPr/>
          <p:nvPr/>
        </p:nvSpPr>
        <p:spPr>
          <a:xfrm>
            <a:off x="886968"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Operator verdict</a:t>
            </a:r>
            <a:endParaRPr lang="en-US" sz="1300" dirty="0"/>
          </a:p>
        </p:txBody>
      </p:sp>
      <p:sp>
        <p:nvSpPr>
          <p:cNvPr id="11" name="Text 9"/>
          <p:cNvSpPr/>
          <p:nvPr/>
        </p:nvSpPr>
        <p:spPr>
          <a:xfrm>
            <a:off x="3162224"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2" name="Shape 10"/>
          <p:cNvSpPr/>
          <p:nvPr/>
        </p:nvSpPr>
        <p:spPr>
          <a:xfrm>
            <a:off x="3527984" y="2240280"/>
            <a:ext cx="2384984" cy="731520"/>
          </a:xfrm>
          <a:prstGeom prst="rect">
            <a:avLst/>
          </a:prstGeom>
          <a:solidFill>
            <a:srgbClr val="151009"/>
          </a:solidFill>
          <a:ln w="12700">
            <a:solidFill>
              <a:srgbClr val="2A2118"/>
            </a:solidFill>
            <a:prstDash val="solid"/>
          </a:ln>
        </p:spPr>
      </p:sp>
      <p:sp>
        <p:nvSpPr>
          <p:cNvPr id="13" name="Text 11"/>
          <p:cNvSpPr/>
          <p:nvPr/>
        </p:nvSpPr>
        <p:spPr>
          <a:xfrm>
            <a:off x="3637712"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Per-plant threshold</a:t>
            </a:r>
            <a:endParaRPr lang="en-US" sz="1300" dirty="0"/>
          </a:p>
        </p:txBody>
      </p:sp>
      <p:sp>
        <p:nvSpPr>
          <p:cNvPr id="14" name="Text 12"/>
          <p:cNvSpPr/>
          <p:nvPr/>
        </p:nvSpPr>
        <p:spPr>
          <a:xfrm>
            <a:off x="5912968"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5" name="Shape 13"/>
          <p:cNvSpPr/>
          <p:nvPr/>
        </p:nvSpPr>
        <p:spPr>
          <a:xfrm>
            <a:off x="6278728" y="2240280"/>
            <a:ext cx="2384984" cy="731520"/>
          </a:xfrm>
          <a:prstGeom prst="rect">
            <a:avLst/>
          </a:prstGeom>
          <a:solidFill>
            <a:srgbClr val="151009"/>
          </a:solidFill>
          <a:ln w="12700">
            <a:solidFill>
              <a:srgbClr val="2A2118"/>
            </a:solidFill>
            <a:prstDash val="solid"/>
          </a:ln>
        </p:spPr>
      </p:sp>
      <p:sp>
        <p:nvSpPr>
          <p:cNvPr id="16" name="Text 14"/>
          <p:cNvSpPr/>
          <p:nvPr/>
        </p:nvSpPr>
        <p:spPr>
          <a:xfrm>
            <a:off x="6388456"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Fewer nuisance pages</a:t>
            </a:r>
            <a:endParaRPr lang="en-US" sz="1300" dirty="0"/>
          </a:p>
        </p:txBody>
      </p:sp>
      <p:sp>
        <p:nvSpPr>
          <p:cNvPr id="17" name="Text 15"/>
          <p:cNvSpPr/>
          <p:nvPr/>
        </p:nvSpPr>
        <p:spPr>
          <a:xfrm>
            <a:off x="8663711"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8" name="Shape 16"/>
          <p:cNvSpPr/>
          <p:nvPr/>
        </p:nvSpPr>
        <p:spPr>
          <a:xfrm>
            <a:off x="9029471" y="2240280"/>
            <a:ext cx="2384984" cy="731520"/>
          </a:xfrm>
          <a:prstGeom prst="rect">
            <a:avLst/>
          </a:prstGeom>
          <a:solidFill>
            <a:srgbClr val="151009"/>
          </a:solidFill>
          <a:ln w="12700">
            <a:solidFill>
              <a:srgbClr val="2A2118"/>
            </a:solidFill>
            <a:prstDash val="solid"/>
          </a:ln>
        </p:spPr>
      </p:sp>
      <p:sp>
        <p:nvSpPr>
          <p:cNvPr id="19" name="Text 17"/>
          <p:cNvSpPr/>
          <p:nvPr/>
        </p:nvSpPr>
        <p:spPr>
          <a:xfrm>
            <a:off x="9139199"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Trust ↑ · faster action</a:t>
            </a:r>
            <a:endParaRPr lang="en-US" sz="1300" dirty="0"/>
          </a:p>
        </p:txBody>
      </p:sp>
      <p:sp>
        <p:nvSpPr>
          <p:cNvPr id="20" name="Shape 18"/>
          <p:cNvSpPr/>
          <p:nvPr/>
        </p:nvSpPr>
        <p:spPr>
          <a:xfrm>
            <a:off x="777240" y="3337560"/>
            <a:ext cx="5349240" cy="1828800"/>
          </a:xfrm>
          <a:prstGeom prst="rect">
            <a:avLst/>
          </a:prstGeom>
          <a:solidFill>
            <a:srgbClr val="151009"/>
          </a:solidFill>
          <a:ln w="12700">
            <a:solidFill>
              <a:srgbClr val="FF2B4E"/>
            </a:solidFill>
            <a:prstDash val="solid"/>
          </a:ln>
        </p:spPr>
      </p:sp>
      <p:sp>
        <p:nvSpPr>
          <p:cNvPr id="21" name="Shape 19"/>
          <p:cNvSpPr/>
          <p:nvPr/>
        </p:nvSpPr>
        <p:spPr>
          <a:xfrm>
            <a:off x="777240" y="3337560"/>
            <a:ext cx="45720" cy="1828800"/>
          </a:xfrm>
          <a:prstGeom prst="rect">
            <a:avLst/>
          </a:prstGeom>
          <a:solidFill>
            <a:srgbClr val="FF2B4E"/>
          </a:solidFill>
          <a:ln/>
        </p:spPr>
      </p:sp>
      <p:sp>
        <p:nvSpPr>
          <p:cNvPr id="22" name="Text 20"/>
          <p:cNvSpPr/>
          <p:nvPr/>
        </p:nvSpPr>
        <p:spPr>
          <a:xfrm>
            <a:off x="1097280" y="3520440"/>
            <a:ext cx="484632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RECALL GUARDRAIL</a:t>
            </a:r>
            <a:endParaRPr lang="en-US" sz="1000" dirty="0"/>
          </a:p>
        </p:txBody>
      </p:sp>
      <p:sp>
        <p:nvSpPr>
          <p:cNvPr id="23" name="Text 21"/>
          <p:cNvSpPr/>
          <p:nvPr/>
        </p:nvSpPr>
        <p:spPr>
          <a:xfrm>
            <a:off x="1097280" y="3840480"/>
            <a:ext cx="4800600"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Compound, HIGH and CRITICAL alerts bypass the threshold entirely. Feedback can only ever damp non-compound nuisance pages — never reduce recall.</a:t>
            </a:r>
            <a:endParaRPr lang="en-US" sz="1350" dirty="0"/>
          </a:p>
        </p:txBody>
      </p:sp>
      <p:sp>
        <p:nvSpPr>
          <p:cNvPr id="24" name="Shape 22"/>
          <p:cNvSpPr/>
          <p:nvPr/>
        </p:nvSpPr>
        <p:spPr>
          <a:xfrm>
            <a:off x="6309360" y="3337560"/>
            <a:ext cx="5105095" cy="1828800"/>
          </a:xfrm>
          <a:prstGeom prst="rect">
            <a:avLst/>
          </a:prstGeom>
          <a:solidFill>
            <a:srgbClr val="151009"/>
          </a:solidFill>
          <a:ln w="12700">
            <a:solidFill>
              <a:srgbClr val="2A2118"/>
            </a:solidFill>
            <a:prstDash val="solid"/>
          </a:ln>
        </p:spPr>
      </p:sp>
      <p:sp>
        <p:nvSpPr>
          <p:cNvPr id="25" name="Shape 23"/>
          <p:cNvSpPr/>
          <p:nvPr/>
        </p:nvSpPr>
        <p:spPr>
          <a:xfrm>
            <a:off x="6309360" y="3337560"/>
            <a:ext cx="45720" cy="1828800"/>
          </a:xfrm>
          <a:prstGeom prst="rect">
            <a:avLst/>
          </a:prstGeom>
          <a:solidFill>
            <a:srgbClr val="FF6A1A"/>
          </a:solidFill>
          <a:ln/>
        </p:spPr>
      </p:sp>
      <p:sp>
        <p:nvSpPr>
          <p:cNvPr id="26" name="Text 24"/>
          <p:cNvSpPr/>
          <p:nvPr/>
        </p:nvSpPr>
        <p:spPr>
          <a:xfrm>
            <a:off x="6629400" y="3520440"/>
            <a:ext cx="45720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THE FLYWHEEL</a:t>
            </a:r>
            <a:endParaRPr lang="en-US" sz="1000" dirty="0"/>
          </a:p>
        </p:txBody>
      </p:sp>
      <p:sp>
        <p:nvSpPr>
          <p:cNvPr id="27" name="Text 25"/>
          <p:cNvSpPr/>
          <p:nvPr/>
        </p:nvSpPr>
        <p:spPr>
          <a:xfrm>
            <a:off x="6629400" y="3840480"/>
            <a:ext cx="4785055"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A confirmed false alarm raises the threshold; a confirmed alert relaxes it. Each plant quietly auto-acknowledges its own routine excursions — fewer nuisance pages, faster action on the ones that matter.</a:t>
            </a:r>
            <a:endParaRPr lang="en-US" sz="1350" dirty="0"/>
          </a:p>
        </p:txBody>
      </p:sp>
      <p:sp>
        <p:nvSpPr>
          <p:cNvPr id="28" name="Text 26"/>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default engine is untouched — the benchmark (100% recall / 0% false-positive) is byte-identical with or without feedback.</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18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 &amp; DEPLOY</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000" dirty="0">
                <a:solidFill>
                  <a:srgbClr val="FBF6EC"/>
                </a:solidFill>
                <a:latin typeface="Bahnschrift SemiBold" pitchFamily="34" charset="0"/>
                <a:ea typeface="Bahnschrift SemiBold" pitchFamily="34" charset="-122"/>
                <a:cs typeface="Bahnschrift SemiBold" pitchFamily="34" charset="-120"/>
              </a:rPr>
              <a:t>Sits over the sensors you already have</a:t>
            </a:r>
            <a:endParaRPr lang="en-US" sz="3000" dirty="0"/>
          </a:p>
        </p:txBody>
      </p:sp>
      <p:sp>
        <p:nvSpPr>
          <p:cNvPr id="9" name="Shape 7"/>
          <p:cNvSpPr/>
          <p:nvPr/>
        </p:nvSpPr>
        <p:spPr>
          <a:xfrm>
            <a:off x="777240" y="2286000"/>
            <a:ext cx="6035040" cy="0"/>
          </a:xfrm>
          <a:prstGeom prst="line">
            <a:avLst/>
          </a:prstGeom>
          <a:noFill/>
          <a:ln w="12700">
            <a:solidFill>
              <a:srgbClr val="2A2118"/>
            </a:solidFill>
            <a:prstDash val="solid"/>
          </a:ln>
        </p:spPr>
      </p:sp>
      <p:sp>
        <p:nvSpPr>
          <p:cNvPr id="10" name="Shape 8"/>
          <p:cNvSpPr/>
          <p:nvPr/>
        </p:nvSpPr>
        <p:spPr>
          <a:xfrm>
            <a:off x="804672" y="2679192"/>
            <a:ext cx="128016" cy="128016"/>
          </a:xfrm>
          <a:prstGeom prst="ellipse">
            <a:avLst/>
          </a:prstGeom>
          <a:solidFill>
            <a:srgbClr val="FF6A1A"/>
          </a:solidFill>
          <a:ln/>
        </p:spPr>
      </p:sp>
      <p:sp>
        <p:nvSpPr>
          <p:cNvPr id="11" name="Text 9"/>
          <p:cNvSpPr/>
          <p:nvPr/>
        </p:nvSpPr>
        <p:spPr>
          <a:xfrm>
            <a:off x="1097280" y="248716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Standard formats</a:t>
            </a:r>
            <a:endParaRPr lang="en-US" sz="1700" dirty="0"/>
          </a:p>
        </p:txBody>
      </p:sp>
      <p:sp>
        <p:nvSpPr>
          <p:cNvPr id="12" name="Text 10"/>
          <p:cNvSpPr/>
          <p:nvPr/>
        </p:nvSpPr>
        <p:spPr>
          <a:xfrm>
            <a:off x="1097280" y="288950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Ingests SCADA / IoT / permit-to-work data as-is</a:t>
            </a:r>
            <a:endParaRPr lang="en-US" sz="1300" dirty="0"/>
          </a:p>
        </p:txBody>
      </p:sp>
      <p:sp>
        <p:nvSpPr>
          <p:cNvPr id="13" name="Shape 11"/>
          <p:cNvSpPr/>
          <p:nvPr/>
        </p:nvSpPr>
        <p:spPr>
          <a:xfrm>
            <a:off x="777240" y="3383280"/>
            <a:ext cx="6035040" cy="0"/>
          </a:xfrm>
          <a:prstGeom prst="line">
            <a:avLst/>
          </a:prstGeom>
          <a:noFill/>
          <a:ln w="12700">
            <a:solidFill>
              <a:srgbClr val="2A2118"/>
            </a:solidFill>
            <a:prstDash val="solid"/>
          </a:ln>
        </p:spPr>
      </p:sp>
      <p:sp>
        <p:nvSpPr>
          <p:cNvPr id="14" name="Shape 12"/>
          <p:cNvSpPr/>
          <p:nvPr/>
        </p:nvSpPr>
        <p:spPr>
          <a:xfrm>
            <a:off x="804672" y="3776472"/>
            <a:ext cx="128016" cy="128016"/>
          </a:xfrm>
          <a:prstGeom prst="ellipse">
            <a:avLst/>
          </a:prstGeom>
          <a:solidFill>
            <a:srgbClr val="FF6A1A"/>
          </a:solidFill>
          <a:ln/>
        </p:spPr>
      </p:sp>
      <p:sp>
        <p:nvSpPr>
          <p:cNvPr id="15" name="Text 13"/>
          <p:cNvSpPr/>
          <p:nvPr/>
        </p:nvSpPr>
        <p:spPr>
          <a:xfrm>
            <a:off x="1097280" y="358444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A connector, not a rewrite</a:t>
            </a:r>
            <a:endParaRPr lang="en-US" sz="1700" dirty="0"/>
          </a:p>
        </p:txBody>
      </p:sp>
      <p:sp>
        <p:nvSpPr>
          <p:cNvPr id="16" name="Text 14"/>
          <p:cNvSpPr/>
          <p:nvPr/>
        </p:nvSpPr>
        <p:spPr>
          <a:xfrm>
            <a:off x="1097280" y="398678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Digital twin → live plant swaps the data source, not the brain</a:t>
            </a:r>
            <a:endParaRPr lang="en-US" sz="1300" dirty="0"/>
          </a:p>
        </p:txBody>
      </p:sp>
      <p:sp>
        <p:nvSpPr>
          <p:cNvPr id="17" name="Shape 15"/>
          <p:cNvSpPr/>
          <p:nvPr/>
        </p:nvSpPr>
        <p:spPr>
          <a:xfrm>
            <a:off x="777240" y="4480560"/>
            <a:ext cx="6035040" cy="0"/>
          </a:xfrm>
          <a:prstGeom prst="line">
            <a:avLst/>
          </a:prstGeom>
          <a:noFill/>
          <a:ln w="12700">
            <a:solidFill>
              <a:srgbClr val="2A2118"/>
            </a:solidFill>
            <a:prstDash val="solid"/>
          </a:ln>
        </p:spPr>
      </p:sp>
      <p:sp>
        <p:nvSpPr>
          <p:cNvPr id="18" name="Shape 16"/>
          <p:cNvSpPr/>
          <p:nvPr/>
        </p:nvSpPr>
        <p:spPr>
          <a:xfrm>
            <a:off x="804672" y="4873752"/>
            <a:ext cx="128016" cy="128016"/>
          </a:xfrm>
          <a:prstGeom prst="ellipse">
            <a:avLst/>
          </a:prstGeom>
          <a:solidFill>
            <a:srgbClr val="FF6A1A"/>
          </a:solidFill>
          <a:ln/>
        </p:spPr>
      </p:sp>
      <p:sp>
        <p:nvSpPr>
          <p:cNvPr id="19" name="Text 17"/>
          <p:cNvSpPr/>
          <p:nvPr/>
        </p:nvSpPr>
        <p:spPr>
          <a:xfrm>
            <a:off x="1097280" y="4681728"/>
            <a:ext cx="5669280" cy="365760"/>
          </a:xfrm>
          <a:prstGeom prst="rect">
            <a:avLst/>
          </a:prstGeom>
          <a:noFill/>
          <a:ln/>
        </p:spPr>
        <p:txBody>
          <a:bodyPr wrap="square" lIns="0" tIns="0" rIns="0" bIns="0" rtlCol="0" anchor="t"/>
          <a:lstStyle/>
          <a:p>
            <a:pPr indent="0" marL="0">
              <a:buNone/>
            </a:pPr>
            <a:r>
              <a:rPr lang="en-US" sz="1700" dirty="0">
                <a:solidFill>
                  <a:srgbClr val="FBF6EC"/>
                </a:solidFill>
                <a:latin typeface="Bahnschrift" pitchFamily="34" charset="0"/>
                <a:ea typeface="Bahnschrift" pitchFamily="34" charset="-122"/>
                <a:cs typeface="Bahnschrift" pitchFamily="34" charset="-120"/>
              </a:rPr>
              <a:t>Auditable &amp; hybrid</a:t>
            </a:r>
            <a:endParaRPr lang="en-US" sz="1700" dirty="0"/>
          </a:p>
        </p:txBody>
      </p:sp>
      <p:sp>
        <p:nvSpPr>
          <p:cNvPr id="20" name="Text 18"/>
          <p:cNvSpPr/>
          <p:nvPr/>
        </p:nvSpPr>
        <p:spPr>
          <a:xfrm>
            <a:off x="1097280" y="5084064"/>
            <a:ext cx="5669280" cy="45720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Deterministic decisions a safety officer can defend in an audit</a:t>
            </a:r>
            <a:endParaRPr lang="en-US" sz="1300" dirty="0"/>
          </a:p>
        </p:txBody>
      </p:sp>
      <p:sp>
        <p:nvSpPr>
          <p:cNvPr id="21" name="Shape 19"/>
          <p:cNvSpPr/>
          <p:nvPr/>
        </p:nvSpPr>
        <p:spPr>
          <a:xfrm>
            <a:off x="777240" y="5577840"/>
            <a:ext cx="6035040" cy="0"/>
          </a:xfrm>
          <a:prstGeom prst="line">
            <a:avLst/>
          </a:prstGeom>
          <a:noFill/>
          <a:ln w="12700">
            <a:solidFill>
              <a:srgbClr val="2A2118"/>
            </a:solidFill>
            <a:prstDash val="solid"/>
          </a:ln>
        </p:spPr>
      </p:sp>
      <p:sp>
        <p:nvSpPr>
          <p:cNvPr id="22" name="Shape 20"/>
          <p:cNvSpPr/>
          <p:nvPr/>
        </p:nvSpPr>
        <p:spPr>
          <a:xfrm>
            <a:off x="7040880" y="2286000"/>
            <a:ext cx="0" cy="3291840"/>
          </a:xfrm>
          <a:prstGeom prst="line">
            <a:avLst/>
          </a:prstGeom>
          <a:noFill/>
          <a:ln w="12700">
            <a:solidFill>
              <a:srgbClr val="2A2118"/>
            </a:solidFill>
            <a:prstDash val="solid"/>
          </a:ln>
        </p:spPr>
      </p:sp>
      <p:sp>
        <p:nvSpPr>
          <p:cNvPr id="23" name="Text 21"/>
          <p:cNvSpPr/>
          <p:nvPr/>
        </p:nvSpPr>
        <p:spPr>
          <a:xfrm>
            <a:off x="7315200" y="2286000"/>
            <a:ext cx="3657600" cy="274320"/>
          </a:xfrm>
          <a:prstGeom prst="rect">
            <a:avLst/>
          </a:prstGeom>
          <a:noFill/>
          <a:ln/>
        </p:spPr>
        <p:txBody>
          <a:bodyPr wrap="square" lIns="0" tIns="0" rIns="0" bIns="0" rtlCol="0" anchor="t"/>
          <a:lstStyle/>
          <a:p>
            <a:pPr indent="0" marL="0">
              <a:buNone/>
            </a:pPr>
            <a:r>
              <a:rPr lang="en-US" sz="1000" spc="200" kern="0" dirty="0">
                <a:solidFill>
                  <a:srgbClr val="FF6A1A"/>
                </a:solidFill>
                <a:latin typeface="Cascadia Mono" pitchFamily="34" charset="0"/>
                <a:ea typeface="Cascadia Mono" pitchFamily="34" charset="-122"/>
                <a:cs typeface="Cascadia Mono" pitchFamily="34" charset="-120"/>
              </a:rPr>
              <a:t>WHERE IT DEPLOYS</a:t>
            </a:r>
            <a:endParaRPr lang="en-US" sz="1000" dirty="0"/>
          </a:p>
        </p:txBody>
      </p:sp>
      <p:sp>
        <p:nvSpPr>
          <p:cNvPr id="24" name="Text 22"/>
          <p:cNvSpPr/>
          <p:nvPr/>
        </p:nvSpPr>
        <p:spPr>
          <a:xfrm>
            <a:off x="7315200" y="278892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Steel</a:t>
            </a:r>
            <a:endParaRPr lang="en-US" sz="1600" dirty="0"/>
          </a:p>
        </p:txBody>
      </p:sp>
      <p:sp>
        <p:nvSpPr>
          <p:cNvPr id="25" name="Text 23"/>
          <p:cNvSpPr/>
          <p:nvPr/>
        </p:nvSpPr>
        <p:spPr>
          <a:xfrm>
            <a:off x="7315200" y="309981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coke ovens, blast furnaces</a:t>
            </a:r>
            <a:endParaRPr lang="en-US" sz="1200" dirty="0"/>
          </a:p>
        </p:txBody>
      </p:sp>
      <p:sp>
        <p:nvSpPr>
          <p:cNvPr id="26" name="Text 24"/>
          <p:cNvSpPr/>
          <p:nvPr/>
        </p:nvSpPr>
        <p:spPr>
          <a:xfrm>
            <a:off x="7315200" y="352044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Refining &amp; Petrochem</a:t>
            </a:r>
            <a:endParaRPr lang="en-US" sz="1600" dirty="0"/>
          </a:p>
        </p:txBody>
      </p:sp>
      <p:sp>
        <p:nvSpPr>
          <p:cNvPr id="27" name="Text 25"/>
          <p:cNvSpPr/>
          <p:nvPr/>
        </p:nvSpPr>
        <p:spPr>
          <a:xfrm>
            <a:off x="7315200" y="383133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OISD permit-to-work regimes</a:t>
            </a:r>
            <a:endParaRPr lang="en-US" sz="1200" dirty="0"/>
          </a:p>
        </p:txBody>
      </p:sp>
      <p:sp>
        <p:nvSpPr>
          <p:cNvPr id="28" name="Text 26"/>
          <p:cNvSpPr/>
          <p:nvPr/>
        </p:nvSpPr>
        <p:spPr>
          <a:xfrm>
            <a:off x="7315200" y="425196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Mining</a:t>
            </a:r>
            <a:endParaRPr lang="en-US" sz="1600" dirty="0"/>
          </a:p>
        </p:txBody>
      </p:sp>
      <p:sp>
        <p:nvSpPr>
          <p:cNvPr id="29" name="Text 27"/>
          <p:cNvSpPr/>
          <p:nvPr/>
        </p:nvSpPr>
        <p:spPr>
          <a:xfrm>
            <a:off x="7315200" y="456285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confined-space &amp; gas hazards</a:t>
            </a:r>
            <a:endParaRPr lang="en-US" sz="1200" dirty="0"/>
          </a:p>
        </p:txBody>
      </p:sp>
      <p:sp>
        <p:nvSpPr>
          <p:cNvPr id="30" name="Text 28"/>
          <p:cNvSpPr/>
          <p:nvPr/>
        </p:nvSpPr>
        <p:spPr>
          <a:xfrm>
            <a:off x="7315200" y="4983480"/>
            <a:ext cx="4114800"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Power &amp; Chemicals</a:t>
            </a:r>
            <a:endParaRPr lang="en-US" sz="1600" dirty="0"/>
          </a:p>
        </p:txBody>
      </p:sp>
      <p:sp>
        <p:nvSpPr>
          <p:cNvPr id="31" name="Text 29"/>
          <p:cNvSpPr/>
          <p:nvPr/>
        </p:nvSpPr>
        <p:spPr>
          <a:xfrm>
            <a:off x="7315200" y="5294376"/>
            <a:ext cx="4114800" cy="320040"/>
          </a:xfrm>
          <a:prstGeom prst="rect">
            <a:avLst/>
          </a:prstGeom>
          <a:noFill/>
          <a:ln/>
        </p:spPr>
        <p:txBody>
          <a:bodyPr wrap="square" lIns="0" tIns="0" rIns="0" bIns="0" rtlCol="0" anchor="t"/>
          <a:lstStyle/>
          <a:p>
            <a:pPr indent="0" marL="0">
              <a:buNone/>
            </a:pPr>
            <a:r>
              <a:rPr lang="en-US" sz="1200" dirty="0">
                <a:solidFill>
                  <a:srgbClr val="C6B9A6"/>
                </a:solidFill>
                <a:latin typeface="Segoe UI" pitchFamily="34" charset="0"/>
                <a:ea typeface="Segoe UI" pitchFamily="34" charset="-122"/>
                <a:cs typeface="Segoe UI" pitchFamily="34" charset="-120"/>
              </a:rPr>
              <a:t>asset-intensive operations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19 / 20</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DEPLOYS OVER YOUR STACK</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connector, not a rewrite</a:t>
            </a:r>
            <a:endParaRPr lang="en-US" sz="3300" dirty="0"/>
          </a:p>
        </p:txBody>
      </p:sp>
      <p:sp>
        <p:nvSpPr>
          <p:cNvPr id="9" name="Shape 7"/>
          <p:cNvSpPr/>
          <p:nvPr/>
        </p:nvSpPr>
        <p:spPr>
          <a:xfrm>
            <a:off x="777240" y="2286000"/>
            <a:ext cx="2384984" cy="1691640"/>
          </a:xfrm>
          <a:prstGeom prst="rect">
            <a:avLst/>
          </a:prstGeom>
          <a:solidFill>
            <a:srgbClr val="151009"/>
          </a:solidFill>
          <a:ln w="12700">
            <a:solidFill>
              <a:srgbClr val="2A2118"/>
            </a:solidFill>
            <a:prstDash val="solid"/>
          </a:ln>
        </p:spPr>
      </p:sp>
      <p:sp>
        <p:nvSpPr>
          <p:cNvPr id="10" name="Text 8"/>
          <p:cNvSpPr/>
          <p:nvPr/>
        </p:nvSpPr>
        <p:spPr>
          <a:xfrm>
            <a:off x="960120"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Plant historian</a:t>
            </a:r>
            <a:endParaRPr lang="en-US" sz="1500" dirty="0"/>
          </a:p>
        </p:txBody>
      </p:sp>
      <p:sp>
        <p:nvSpPr>
          <p:cNvPr id="11" name="Text 9"/>
          <p:cNvSpPr/>
          <p:nvPr/>
        </p:nvSpPr>
        <p:spPr>
          <a:xfrm>
            <a:off x="960120"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OPC-UA / MQTT / PI</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permits · CCTV</a:t>
            </a:r>
            <a:endParaRPr lang="en-US" sz="1150" dirty="0"/>
          </a:p>
        </p:txBody>
      </p:sp>
      <p:sp>
        <p:nvSpPr>
          <p:cNvPr id="12" name="Text 10"/>
          <p:cNvSpPr/>
          <p:nvPr/>
        </p:nvSpPr>
        <p:spPr>
          <a:xfrm>
            <a:off x="3162224"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13" name="Shape 11"/>
          <p:cNvSpPr/>
          <p:nvPr/>
        </p:nvSpPr>
        <p:spPr>
          <a:xfrm>
            <a:off x="3527984" y="2286000"/>
            <a:ext cx="2384984" cy="1691640"/>
          </a:xfrm>
          <a:prstGeom prst="rect">
            <a:avLst/>
          </a:prstGeom>
          <a:solidFill>
            <a:srgbClr val="151009"/>
          </a:solidFill>
          <a:ln w="12700">
            <a:solidFill>
              <a:srgbClr val="2A2118"/>
            </a:solidFill>
            <a:prstDash val="solid"/>
          </a:ln>
        </p:spPr>
      </p:sp>
      <p:sp>
        <p:nvSpPr>
          <p:cNvPr id="14" name="Text 12"/>
          <p:cNvSpPr/>
          <p:nvPr/>
        </p:nvSpPr>
        <p:spPr>
          <a:xfrm>
            <a:off x="3710864"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Edge pre-filter</a:t>
            </a:r>
            <a:endParaRPr lang="en-US" sz="1500" dirty="0"/>
          </a:p>
        </p:txBody>
      </p:sp>
      <p:sp>
        <p:nvSpPr>
          <p:cNvPr id="15" name="Text 13"/>
          <p:cNvSpPr/>
          <p:nvPr/>
        </p:nvSpPr>
        <p:spPr>
          <a:xfrm>
            <a:off x="3710864"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debounce + normalise</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at the plant edge</a:t>
            </a:r>
            <a:endParaRPr lang="en-US" sz="1150" dirty="0"/>
          </a:p>
        </p:txBody>
      </p:sp>
      <p:sp>
        <p:nvSpPr>
          <p:cNvPr id="16" name="Text 14"/>
          <p:cNvSpPr/>
          <p:nvPr/>
        </p:nvSpPr>
        <p:spPr>
          <a:xfrm>
            <a:off x="5912968"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17" name="Shape 15"/>
          <p:cNvSpPr/>
          <p:nvPr/>
        </p:nvSpPr>
        <p:spPr>
          <a:xfrm>
            <a:off x="6278728" y="2286000"/>
            <a:ext cx="2384984" cy="1691640"/>
          </a:xfrm>
          <a:prstGeom prst="rect">
            <a:avLst/>
          </a:prstGeom>
          <a:solidFill>
            <a:srgbClr val="1C140C"/>
          </a:solidFill>
          <a:ln w="12700">
            <a:solidFill>
              <a:srgbClr val="FF6A1A"/>
            </a:solidFill>
            <a:prstDash val="solid"/>
          </a:ln>
        </p:spPr>
      </p:sp>
      <p:sp>
        <p:nvSpPr>
          <p:cNvPr id="18" name="Shape 16"/>
          <p:cNvSpPr/>
          <p:nvPr/>
        </p:nvSpPr>
        <p:spPr>
          <a:xfrm>
            <a:off x="6278728" y="2286000"/>
            <a:ext cx="2384984" cy="45720"/>
          </a:xfrm>
          <a:prstGeom prst="rect">
            <a:avLst/>
          </a:prstGeom>
          <a:solidFill>
            <a:srgbClr val="FF6A1A"/>
          </a:solidFill>
          <a:ln/>
        </p:spPr>
      </p:sp>
      <p:sp>
        <p:nvSpPr>
          <p:cNvPr id="19" name="Text 17"/>
          <p:cNvSpPr/>
          <p:nvPr/>
        </p:nvSpPr>
        <p:spPr>
          <a:xfrm>
            <a:off x="6461608" y="2487168"/>
            <a:ext cx="2019224" cy="457200"/>
          </a:xfrm>
          <a:prstGeom prst="rect">
            <a:avLst/>
          </a:prstGeom>
          <a:noFill/>
          <a:ln/>
        </p:spPr>
        <p:txBody>
          <a:bodyPr wrap="square" lIns="0" tIns="0" rIns="0" bIns="0" rtlCol="0" anchor="t"/>
          <a:lstStyle/>
          <a:p>
            <a:pPr indent="0" marL="0">
              <a:buNone/>
            </a:pPr>
            <a:r>
              <a:rPr lang="en-US" sz="1500" dirty="0">
                <a:solidFill>
                  <a:srgbClr val="FF6A1A"/>
                </a:solidFill>
                <a:latin typeface="Bahnschrift" pitchFamily="34" charset="0"/>
                <a:ea typeface="Bahnschrift" pitchFamily="34" charset="-122"/>
                <a:cs typeface="Bahnschrift" pitchFamily="34" charset="-120"/>
              </a:rPr>
              <a:t>Compound engine</a:t>
            </a:r>
            <a:endParaRPr lang="en-US" sz="1500" dirty="0"/>
          </a:p>
        </p:txBody>
      </p:sp>
      <p:sp>
        <p:nvSpPr>
          <p:cNvPr id="20" name="Text 18"/>
          <p:cNvSpPr/>
          <p:nvPr/>
        </p:nvSpPr>
        <p:spPr>
          <a:xfrm>
            <a:off x="6461608"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deterministic, O(zones)</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the safety decision</a:t>
            </a:r>
            <a:endParaRPr lang="en-US" sz="1150" dirty="0"/>
          </a:p>
        </p:txBody>
      </p:sp>
      <p:sp>
        <p:nvSpPr>
          <p:cNvPr id="21" name="Text 19"/>
          <p:cNvSpPr/>
          <p:nvPr/>
        </p:nvSpPr>
        <p:spPr>
          <a:xfrm>
            <a:off x="8663711" y="2286000"/>
            <a:ext cx="365760" cy="1691640"/>
          </a:xfrm>
          <a:prstGeom prst="rect">
            <a:avLst/>
          </a:prstGeom>
          <a:noFill/>
          <a:ln/>
        </p:spPr>
        <p:txBody>
          <a:bodyPr wrap="square" lIns="0" tIns="0" rIns="0" bIns="0" rtlCol="0" anchor="ctr"/>
          <a:lstStyle/>
          <a:p>
            <a:pPr algn="ctr" indent="0" marL="0">
              <a:buNone/>
            </a:pPr>
            <a:r>
              <a:rPr lang="en-US" sz="2000" dirty="0">
                <a:solidFill>
                  <a:srgbClr val="FF6A1A"/>
                </a:solidFill>
                <a:latin typeface="Bahnschrift" pitchFamily="34" charset="0"/>
                <a:ea typeface="Bahnschrift" pitchFamily="34" charset="-122"/>
                <a:cs typeface="Bahnschrift" pitchFamily="34" charset="-120"/>
              </a:rPr>
              <a:t>→</a:t>
            </a:r>
            <a:endParaRPr lang="en-US" sz="2000" dirty="0"/>
          </a:p>
        </p:txBody>
      </p:sp>
      <p:sp>
        <p:nvSpPr>
          <p:cNvPr id="22" name="Shape 20"/>
          <p:cNvSpPr/>
          <p:nvPr/>
        </p:nvSpPr>
        <p:spPr>
          <a:xfrm>
            <a:off x="9029471" y="2286000"/>
            <a:ext cx="2384984" cy="1691640"/>
          </a:xfrm>
          <a:prstGeom prst="rect">
            <a:avLst/>
          </a:prstGeom>
          <a:solidFill>
            <a:srgbClr val="151009"/>
          </a:solidFill>
          <a:ln w="12700">
            <a:solidFill>
              <a:srgbClr val="2A2118"/>
            </a:solidFill>
            <a:prstDash val="solid"/>
          </a:ln>
        </p:spPr>
      </p:sp>
      <p:sp>
        <p:nvSpPr>
          <p:cNvPr id="23" name="Text 21"/>
          <p:cNvSpPr/>
          <p:nvPr/>
        </p:nvSpPr>
        <p:spPr>
          <a:xfrm>
            <a:off x="9212351" y="2487168"/>
            <a:ext cx="2019224" cy="457200"/>
          </a:xfrm>
          <a:prstGeom prst="rect">
            <a:avLst/>
          </a:prstGeom>
          <a:noFill/>
          <a:ln/>
        </p:spPr>
        <p:txBody>
          <a:bodyPr wrap="square" lIns="0" tIns="0" rIns="0" bIns="0" rtlCol="0" anchor="t"/>
          <a:lstStyle/>
          <a:p>
            <a:pPr indent="0" marL="0">
              <a:buNone/>
            </a:pPr>
            <a:r>
              <a:rPr lang="en-US" sz="1500" dirty="0">
                <a:solidFill>
                  <a:srgbClr val="FBF6EC"/>
                </a:solidFill>
                <a:latin typeface="Bahnschrift" pitchFamily="34" charset="0"/>
                <a:ea typeface="Bahnschrift" pitchFamily="34" charset="-122"/>
                <a:cs typeface="Bahnschrift" pitchFamily="34" charset="-120"/>
              </a:rPr>
              <a:t>Control-room HMI</a:t>
            </a:r>
            <a:endParaRPr lang="en-US" sz="1500" dirty="0"/>
          </a:p>
        </p:txBody>
      </p:sp>
      <p:sp>
        <p:nvSpPr>
          <p:cNvPr id="24" name="Text 22"/>
          <p:cNvSpPr/>
          <p:nvPr/>
        </p:nvSpPr>
        <p:spPr>
          <a:xfrm>
            <a:off x="9212351" y="3017520"/>
            <a:ext cx="2019224" cy="8686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split-reality view +</a:t>
            </a:r>
            <a:endParaRPr lang="en-US" sz="1150" dirty="0"/>
          </a:p>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autonomous response</a:t>
            </a:r>
            <a:endParaRPr lang="en-US" sz="1150" dirty="0"/>
          </a:p>
        </p:txBody>
      </p:sp>
      <p:sp>
        <p:nvSpPr>
          <p:cNvPr id="25" name="Shape 23"/>
          <p:cNvSpPr/>
          <p:nvPr/>
        </p:nvSpPr>
        <p:spPr>
          <a:xfrm>
            <a:off x="777240" y="4434840"/>
            <a:ext cx="10637215" cy="0"/>
          </a:xfrm>
          <a:prstGeom prst="line">
            <a:avLst/>
          </a:prstGeom>
          <a:noFill/>
          <a:ln w="12700">
            <a:solidFill>
              <a:srgbClr val="473726"/>
            </a:solidFill>
            <a:prstDash val="solid"/>
          </a:ln>
        </p:spPr>
      </p:sp>
      <p:sp>
        <p:nvSpPr>
          <p:cNvPr id="26" name="Text 24"/>
          <p:cNvSpPr/>
          <p:nvPr/>
        </p:nvSpPr>
        <p:spPr>
          <a:xfrm>
            <a:off x="777240" y="4617720"/>
            <a:ext cx="4572000" cy="274320"/>
          </a:xfrm>
          <a:prstGeom prst="rect">
            <a:avLst/>
          </a:prstGeom>
          <a:noFill/>
          <a:ln/>
        </p:spPr>
        <p:txBody>
          <a:bodyPr wrap="square" lIns="0" tIns="0" rIns="0" bIns="0" rtlCol="0" anchor="t"/>
          <a:lstStyle/>
          <a:p>
            <a:pPr indent="0" marL="0">
              <a:buNone/>
            </a:pPr>
            <a:r>
              <a:rPr lang="en-US" sz="1000" spc="200" kern="0" dirty="0">
                <a:solidFill>
                  <a:srgbClr val="FF6A1A"/>
                </a:solidFill>
                <a:latin typeface="Cascadia Mono" pitchFamily="34" charset="0"/>
                <a:ea typeface="Cascadia Mono" pitchFamily="34" charset="-122"/>
                <a:cs typeface="Cascadia Mono" pitchFamily="34" charset="-120"/>
              </a:rPr>
              <a:t>THROUGHPUT</a:t>
            </a:r>
            <a:endParaRPr lang="en-US" sz="1000" dirty="0"/>
          </a:p>
        </p:txBody>
      </p:sp>
      <p:sp>
        <p:nvSpPr>
          <p:cNvPr id="27" name="Text 25"/>
          <p:cNvSpPr/>
          <p:nvPr/>
        </p:nvSpPr>
        <p:spPr>
          <a:xfrm>
            <a:off x="777240" y="4937760"/>
            <a:ext cx="5486400" cy="548640"/>
          </a:xfrm>
          <a:prstGeom prst="rect">
            <a:avLst/>
          </a:prstGeom>
          <a:noFill/>
          <a:ln/>
        </p:spPr>
        <p:txBody>
          <a:bodyPr wrap="square" lIns="0" tIns="0" rIns="0" bIns="0" rtlCol="0" anchor="b"/>
          <a:lstStyle/>
          <a:p>
            <a:pPr indent="0" marL="0">
              <a:buNone/>
            </a:pPr>
            <a:r>
              <a:rPr lang="en-US" sz="3400" dirty="0">
                <a:solidFill>
                  <a:srgbClr val="FBF6EC"/>
                </a:solidFill>
                <a:latin typeface="Bahnschrift SemiBold" pitchFamily="34" charset="0"/>
                <a:ea typeface="Bahnschrift SemiBold" pitchFamily="34" charset="-122"/>
                <a:cs typeface="Bahnschrift SemiBold" pitchFamily="34" charset="-120"/>
              </a:rPr>
              <a:t>~0.65M</a:t>
            </a:r>
            <a:pPr indent="0" marL="0">
              <a:buNone/>
            </a:pPr>
            <a:r>
              <a:rPr lang="en-US" sz="1400" dirty="0">
                <a:solidFill>
                  <a:srgbClr val="C6B9A6"/>
                </a:solidFill>
                <a:latin typeface="Cascadia Mono" pitchFamily="34" charset="0"/>
                <a:ea typeface="Cascadia Mono" pitchFamily="34" charset="-122"/>
                <a:cs typeface="Cascadia Mono" pitchFamily="34" charset="-120"/>
              </a:rPr>
              <a:t>  tags / sec</a:t>
            </a:r>
            <a:endParaRPr lang="en-US" sz="3400" dirty="0"/>
          </a:p>
        </p:txBody>
      </p:sp>
      <p:sp>
        <p:nvSpPr>
          <p:cNvPr id="28" name="Text 26"/>
          <p:cNvSpPr/>
          <p:nvPr/>
        </p:nvSpPr>
        <p:spPr>
          <a:xfrm>
            <a:off x="777240" y="5577840"/>
            <a:ext cx="5669280" cy="548640"/>
          </a:xfrm>
          <a:prstGeom prst="rect">
            <a:avLst/>
          </a:prstGeom>
          <a:noFill/>
          <a:ln/>
        </p:spPr>
        <p:txBody>
          <a:bodyPr wrap="square" lIns="0" tIns="0" rIns="0" bIns="0" rtlCol="0" anchor="t"/>
          <a:lstStyle/>
          <a:p>
            <a:pPr indent="0" marL="0">
              <a:lnSpc>
                <a:spcPct val="115000"/>
              </a:lnSpc>
              <a:buNone/>
            </a:pPr>
            <a:r>
              <a:rPr lang="en-US" sz="1200" dirty="0">
                <a:solidFill>
                  <a:srgbClr val="C6B9A6"/>
                </a:solidFill>
                <a:latin typeface="Segoe UI" pitchFamily="34" charset="0"/>
                <a:ea typeface="Segoe UI" pitchFamily="34" charset="-122"/>
                <a:cs typeface="Segoe UI" pitchFamily="34" charset="-120"/>
              </a:rPr>
              <a:t>single-core, measured — a 10,000-tag plant assesses in ~15 ms per 1 Hz frame (~65× real-time). No GPU in the life-safety path.</a:t>
            </a:r>
            <a:endParaRPr lang="en-US" sz="1200" dirty="0"/>
          </a:p>
        </p:txBody>
      </p:sp>
      <p:sp>
        <p:nvSpPr>
          <p:cNvPr id="29" name="Shape 27"/>
          <p:cNvSpPr/>
          <p:nvPr/>
        </p:nvSpPr>
        <p:spPr>
          <a:xfrm>
            <a:off x="6492240" y="4617720"/>
            <a:ext cx="0" cy="1417320"/>
          </a:xfrm>
          <a:prstGeom prst="line">
            <a:avLst/>
          </a:prstGeom>
          <a:noFill/>
          <a:ln w="12700">
            <a:solidFill>
              <a:srgbClr val="2A2118"/>
            </a:solidFill>
            <a:prstDash val="solid"/>
          </a:ln>
        </p:spPr>
      </p:sp>
      <p:sp>
        <p:nvSpPr>
          <p:cNvPr id="30" name="Shape 28"/>
          <p:cNvSpPr/>
          <p:nvPr/>
        </p:nvSpPr>
        <p:spPr>
          <a:xfrm>
            <a:off x="6757416" y="4718304"/>
            <a:ext cx="109728" cy="109728"/>
          </a:xfrm>
          <a:prstGeom prst="ellipse">
            <a:avLst/>
          </a:prstGeom>
          <a:solidFill>
            <a:srgbClr val="FF6A1A"/>
          </a:solidFill>
          <a:ln/>
        </p:spPr>
      </p:sp>
      <p:sp>
        <p:nvSpPr>
          <p:cNvPr id="31" name="Text 29"/>
          <p:cNvSpPr/>
          <p:nvPr/>
        </p:nvSpPr>
        <p:spPr>
          <a:xfrm>
            <a:off x="7040880" y="4663440"/>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Standard formats</a:t>
            </a:r>
            <a:endParaRPr lang="en-US" sz="1300" dirty="0"/>
          </a:p>
        </p:txBody>
      </p:sp>
      <p:sp>
        <p:nvSpPr>
          <p:cNvPr id="32" name="Text 30"/>
          <p:cNvSpPr/>
          <p:nvPr/>
        </p:nvSpPr>
        <p:spPr>
          <a:xfrm>
            <a:off x="7040880" y="4892040"/>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ingests SCADA / IoT / permit data as-is</a:t>
            </a:r>
            <a:endParaRPr lang="en-US" sz="1050" dirty="0"/>
          </a:p>
        </p:txBody>
      </p:sp>
      <p:sp>
        <p:nvSpPr>
          <p:cNvPr id="33" name="Shape 31"/>
          <p:cNvSpPr/>
          <p:nvPr/>
        </p:nvSpPr>
        <p:spPr>
          <a:xfrm>
            <a:off x="6757416" y="5193792"/>
            <a:ext cx="109728" cy="109728"/>
          </a:xfrm>
          <a:prstGeom prst="ellipse">
            <a:avLst/>
          </a:prstGeom>
          <a:solidFill>
            <a:srgbClr val="FF6A1A"/>
          </a:solidFill>
          <a:ln/>
        </p:spPr>
      </p:sp>
      <p:sp>
        <p:nvSpPr>
          <p:cNvPr id="34" name="Text 32"/>
          <p:cNvSpPr/>
          <p:nvPr/>
        </p:nvSpPr>
        <p:spPr>
          <a:xfrm>
            <a:off x="7040880" y="5138928"/>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Edge or on-prem</a:t>
            </a:r>
            <a:endParaRPr lang="en-US" sz="1300" dirty="0"/>
          </a:p>
        </p:txBody>
      </p:sp>
      <p:sp>
        <p:nvSpPr>
          <p:cNvPr id="35" name="Text 33"/>
          <p:cNvSpPr/>
          <p:nvPr/>
        </p:nvSpPr>
        <p:spPr>
          <a:xfrm>
            <a:off x="7040880" y="5367528"/>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data never has to leave the plant</a:t>
            </a:r>
            <a:endParaRPr lang="en-US" sz="1050" dirty="0"/>
          </a:p>
        </p:txBody>
      </p:sp>
      <p:sp>
        <p:nvSpPr>
          <p:cNvPr id="36" name="Shape 34"/>
          <p:cNvSpPr/>
          <p:nvPr/>
        </p:nvSpPr>
        <p:spPr>
          <a:xfrm>
            <a:off x="6757416" y="5669280"/>
            <a:ext cx="109728" cy="109728"/>
          </a:xfrm>
          <a:prstGeom prst="ellipse">
            <a:avLst/>
          </a:prstGeom>
          <a:solidFill>
            <a:srgbClr val="FF6A1A"/>
          </a:solidFill>
          <a:ln/>
        </p:spPr>
      </p:sp>
      <p:sp>
        <p:nvSpPr>
          <p:cNvPr id="37" name="Text 35"/>
          <p:cNvSpPr/>
          <p:nvPr/>
        </p:nvSpPr>
        <p:spPr>
          <a:xfrm>
            <a:off x="7040880" y="5614416"/>
            <a:ext cx="457200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Deterministic core</a:t>
            </a:r>
            <a:endParaRPr lang="en-US" sz="1300" dirty="0"/>
          </a:p>
        </p:txBody>
      </p:sp>
      <p:sp>
        <p:nvSpPr>
          <p:cNvPr id="38" name="Text 36"/>
          <p:cNvSpPr/>
          <p:nvPr/>
        </p:nvSpPr>
        <p:spPr>
          <a:xfrm>
            <a:off x="7040880" y="5843016"/>
            <a:ext cx="4572000" cy="274320"/>
          </a:xfrm>
          <a:prstGeom prst="rect">
            <a:avLst/>
          </a:prstGeom>
          <a:noFill/>
          <a:ln/>
        </p:spPr>
        <p:txBody>
          <a:bodyPr wrap="square" lIns="0" tIns="0" rIns="0" bIns="0" rtlCol="0" anchor="t"/>
          <a:lstStyle/>
          <a:p>
            <a:pPr indent="0" marL="0">
              <a:buNone/>
            </a:pPr>
            <a:r>
              <a:rPr lang="en-US" sz="1050" dirty="0">
                <a:solidFill>
                  <a:srgbClr val="C6B9A6"/>
                </a:solidFill>
                <a:latin typeface="Segoe UI" pitchFamily="34" charset="0"/>
                <a:ea typeface="Segoe UI" pitchFamily="34" charset="-122"/>
                <a:cs typeface="Segoe UI" pitchFamily="34" charset="-120"/>
              </a:rPr>
              <a:t>an auditable decision an officer can defend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950976"/>
            <a:ext cx="420624" cy="841248"/>
          </a:xfrm>
          <a:prstGeom prst="line">
            <a:avLst/>
          </a:prstGeom>
          <a:noFill/>
          <a:ln w="28575">
            <a:solidFill>
              <a:srgbClr val="FF6A1A"/>
            </a:solidFill>
            <a:prstDash val="solid"/>
          </a:ln>
        </p:spPr>
      </p:sp>
      <p:sp>
        <p:nvSpPr>
          <p:cNvPr id="3" name="Shape 1"/>
          <p:cNvSpPr/>
          <p:nvPr/>
        </p:nvSpPr>
        <p:spPr>
          <a:xfrm>
            <a:off x="5675224" y="1792224"/>
            <a:ext cx="841248" cy="0"/>
          </a:xfrm>
          <a:prstGeom prst="line">
            <a:avLst/>
          </a:prstGeom>
          <a:noFill/>
          <a:ln w="28575">
            <a:solidFill>
              <a:srgbClr val="FF6A1A"/>
            </a:solidFill>
            <a:prstDash val="solid"/>
          </a:ln>
        </p:spPr>
      </p:sp>
      <p:sp>
        <p:nvSpPr>
          <p:cNvPr id="4" name="Shape 2"/>
          <p:cNvSpPr/>
          <p:nvPr/>
        </p:nvSpPr>
        <p:spPr>
          <a:xfrm flipH="1">
            <a:off x="5675224" y="950976"/>
            <a:ext cx="420624" cy="841248"/>
          </a:xfrm>
          <a:prstGeom prst="line">
            <a:avLst/>
          </a:prstGeom>
          <a:noFill/>
          <a:ln w="28575">
            <a:solidFill>
              <a:srgbClr val="FF6A1A"/>
            </a:solidFill>
            <a:prstDash val="solid"/>
          </a:ln>
        </p:spPr>
      </p:sp>
      <p:sp>
        <p:nvSpPr>
          <p:cNvPr id="5" name="Shape 3"/>
          <p:cNvSpPr/>
          <p:nvPr/>
        </p:nvSpPr>
        <p:spPr>
          <a:xfrm>
            <a:off x="5919186" y="1396837"/>
            <a:ext cx="353324" cy="218724"/>
          </a:xfrm>
          <a:prstGeom prst="ellipse">
            <a:avLst/>
          </a:prstGeom>
          <a:ln w="22225">
            <a:solidFill>
              <a:srgbClr val="FF6A1A"/>
            </a:solidFill>
            <a:prstDash val="solid"/>
          </a:ln>
        </p:spPr>
      </p:sp>
      <p:sp>
        <p:nvSpPr>
          <p:cNvPr id="6" name="Shape 4"/>
          <p:cNvSpPr/>
          <p:nvPr/>
        </p:nvSpPr>
        <p:spPr>
          <a:xfrm>
            <a:off x="6060095" y="1470447"/>
            <a:ext cx="71506" cy="71506"/>
          </a:xfrm>
          <a:prstGeom prst="ellipse">
            <a:avLst/>
          </a:prstGeom>
          <a:solidFill>
            <a:srgbClr val="FF6A1A"/>
          </a:solidFill>
          <a:ln/>
        </p:spPr>
      </p:sp>
      <p:sp>
        <p:nvSpPr>
          <p:cNvPr id="7" name="Text 5"/>
          <p:cNvSpPr/>
          <p:nvPr/>
        </p:nvSpPr>
        <p:spPr>
          <a:xfrm>
            <a:off x="0" y="2286000"/>
            <a:ext cx="12191695" cy="1554480"/>
          </a:xfrm>
          <a:prstGeom prst="rect">
            <a:avLst/>
          </a:prstGeom>
          <a:noFill/>
          <a:ln/>
        </p:spPr>
        <p:txBody>
          <a:bodyPr wrap="square" lIns="0" tIns="0" rIns="0" bIns="0" rtlCol="0" anchor="t"/>
          <a:lstStyle/>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Three workers a day.</a:t>
            </a:r>
            <a:endParaRPr lang="en-US" sz="4200" dirty="0"/>
          </a:p>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The data already exists.</a:t>
            </a:r>
            <a:endParaRPr lang="en-US" sz="4200" dirty="0"/>
          </a:p>
        </p:txBody>
      </p:sp>
      <p:sp>
        <p:nvSpPr>
          <p:cNvPr id="8" name="Shape 6"/>
          <p:cNvSpPr/>
          <p:nvPr/>
        </p:nvSpPr>
        <p:spPr>
          <a:xfrm>
            <a:off x="5090008" y="3977640"/>
            <a:ext cx="2011680" cy="27432"/>
          </a:xfrm>
          <a:prstGeom prst="rect">
            <a:avLst/>
          </a:prstGeom>
          <a:solidFill>
            <a:srgbClr val="FF6A1A"/>
          </a:solidFill>
          <a:ln/>
        </p:spPr>
      </p:sp>
      <p:sp>
        <p:nvSpPr>
          <p:cNvPr id="9" name="Text 7"/>
          <p:cNvSpPr/>
          <p:nvPr/>
        </p:nvSpPr>
        <p:spPr>
          <a:xfrm>
            <a:off x="0" y="4224528"/>
            <a:ext cx="12191695" cy="548640"/>
          </a:xfrm>
          <a:prstGeom prst="rect">
            <a:avLst/>
          </a:prstGeom>
          <a:noFill/>
          <a:ln/>
        </p:spPr>
        <p:txBody>
          <a:bodyPr wrap="square" lIns="0" tIns="0" rIns="0" bIns="0" rtlCol="0" anchor="t"/>
          <a:lstStyle/>
          <a:p>
            <a:pPr algn="ctr" indent="0" marL="0">
              <a:buNone/>
            </a:pPr>
            <a:r>
              <a:rPr lang="en-US" sz="2600" dirty="0">
                <a:solidFill>
                  <a:srgbClr val="FF6A1A"/>
                </a:solidFill>
                <a:latin typeface="Bahnschrift Light" pitchFamily="34" charset="0"/>
                <a:ea typeface="Bahnschrift Light" pitchFamily="34" charset="-122"/>
                <a:cs typeface="Bahnschrift Light" pitchFamily="34" charset="-120"/>
              </a:rPr>
              <a:t>Trinetra is the layer that acts — before, not after.</a:t>
            </a:r>
            <a:endParaRPr lang="en-US" sz="2600" dirty="0"/>
          </a:p>
        </p:txBody>
      </p:sp>
      <p:sp>
        <p:nvSpPr>
          <p:cNvPr id="10" name="Text 8"/>
          <p:cNvSpPr/>
          <p:nvPr/>
        </p:nvSpPr>
        <p:spPr>
          <a:xfrm>
            <a:off x="0" y="525780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lead</a:t>
            </a:r>
            <a:endParaRPr lang="en-US" sz="1400" dirty="0"/>
          </a:p>
        </p:txBody>
      </p:sp>
      <p:sp>
        <p:nvSpPr>
          <p:cNvPr id="11" name="Text 9"/>
          <p:cNvSpPr/>
          <p:nvPr/>
        </p:nvSpPr>
        <p:spPr>
          <a:xfrm>
            <a:off x="0" y="626364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TRINETRA   ·   SAUD SATOPAY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2026-06-25T17:44:27Z</dcterms:created>
  <dcterms:modified xsi:type="dcterms:W3CDTF">2026-06-25T17:44:27Z</dcterms:modified>
</cp:coreProperties>
</file>