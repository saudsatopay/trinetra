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89904" y="1325880"/>
            <a:ext cx="457200" cy="914400"/>
          </a:xfrm>
          <a:prstGeom prst="line">
            <a:avLst/>
          </a:prstGeom>
          <a:noFill/>
          <a:ln w="25400">
            <a:solidFill>
              <a:srgbClr val="34D3B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547104" y="2240280"/>
            <a:ext cx="-914400" cy="0"/>
          </a:xfrm>
          <a:prstGeom prst="line">
            <a:avLst/>
          </a:prstGeom>
          <a:noFill/>
          <a:ln w="25400">
            <a:solidFill>
              <a:srgbClr val="34D3BD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632704" y="2240280"/>
            <a:ext cx="457200" cy="-914400"/>
          </a:xfrm>
          <a:prstGeom prst="line">
            <a:avLst/>
          </a:prstGeom>
          <a:noFill/>
          <a:ln w="25400">
            <a:solidFill>
              <a:srgbClr val="34D3B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897880" y="1805940"/>
            <a:ext cx="384048" cy="251460"/>
          </a:xfrm>
          <a:prstGeom prst="ellipse">
            <a:avLst/>
          </a:prstGeom>
          <a:ln w="19050">
            <a:solidFill>
              <a:srgbClr val="34D3B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057900" y="1883664"/>
            <a:ext cx="82296" cy="82296"/>
          </a:xfrm>
          <a:prstGeom prst="ellipse">
            <a:avLst/>
          </a:prstGeom>
          <a:solidFill>
            <a:srgbClr val="34D3BD"/>
          </a:solidFill>
          <a:ln/>
        </p:spPr>
      </p:sp>
      <p:sp>
        <p:nvSpPr>
          <p:cNvPr id="7" name="Text 5"/>
          <p:cNvSpPr/>
          <p:nvPr/>
        </p:nvSpPr>
        <p:spPr>
          <a:xfrm>
            <a:off x="0" y="2194560"/>
            <a:ext cx="1219169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0" b="1" spc="1000" kern="0" dirty="0">
                <a:solidFill>
                  <a:srgbClr val="EAF2F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TRINETRA</a:t>
            </a:r>
            <a:endParaRPr lang="en-US" sz="6200" dirty="0"/>
          </a:p>
        </p:txBody>
      </p:sp>
      <p:sp>
        <p:nvSpPr>
          <p:cNvPr id="8" name="Text 6"/>
          <p:cNvSpPr/>
          <p:nvPr/>
        </p:nvSpPr>
        <p:spPr>
          <a:xfrm>
            <a:off x="0" y="3383280"/>
            <a:ext cx="121916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spc="200" kern="0" dirty="0">
                <a:solidFill>
                  <a:srgbClr val="34D3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THIRD EYE THAT SEES THE DANGER NO SINGLE SENSOR CAN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0" y="3794760"/>
            <a:ext cx="121916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B7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compound-risk intelligence for zero-harm industrial operations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0" y="5212080"/>
            <a:ext cx="121916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4D3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100% compound recall</a:t>
            </a:r>
            <a:pPr algn="ctr" indent="0" marL="0">
              <a:buNone/>
            </a:pPr>
            <a:r>
              <a:rPr lang="en-US" sz="1300" b="1" dirty="0">
                <a:solidFill>
                  <a:srgbClr val="6B78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·    </a:t>
            </a:r>
            <a:pPr algn="ctr" indent="0" marL="0">
              <a:buNone/>
            </a:pPr>
            <a:r>
              <a:rPr lang="en-US" sz="1300" b="1" dirty="0">
                <a:solidFill>
                  <a:srgbClr val="34D3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0% false-positive</a:t>
            </a:r>
            <a:pPr algn="ctr" indent="0" marL="0">
              <a:buNone/>
            </a:pPr>
            <a:r>
              <a:rPr lang="en-US" sz="1300" b="1" dirty="0">
                <a:solidFill>
                  <a:srgbClr val="6B78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·    </a:t>
            </a:r>
            <a:pPr algn="ctr" indent="0" marL="0">
              <a:buNone/>
            </a:pPr>
            <a:r>
              <a:rPr lang="en-US" sz="1300" b="1" dirty="0">
                <a:solidFill>
                  <a:srgbClr val="34D3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7.4 min mean early-warning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0" y="6126480"/>
            <a:ext cx="121916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8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Saud Satopay   ·   ET AI Hackathon 2.0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34D3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PROBLEM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41248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AF2F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Data present. Unacted upon.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2011680"/>
            <a:ext cx="61264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800" b="1" dirty="0">
                <a:solidFill>
                  <a:srgbClr val="EAF2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13 January 2025, eight workers died</a:t>
            </a:r>
            <a:endParaRPr lang="en-US" sz="18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800" dirty="0">
                <a:solidFill>
                  <a:srgbClr val="C8D3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coke-oven-battery explosion at the Visakhapatnam Steel Plant.</a:t>
            </a:r>
            <a:endParaRPr lang="en-US" sz="1800" dirty="0"/>
          </a:p>
          <a:p>
            <a:pPr indent="0" marL="0">
              <a:lnSpc>
                <a:spcPct val="125000"/>
              </a:lnSpc>
              <a:buNone/>
            </a:pPr>
            <a:endParaRPr lang="en-US" sz="18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800" dirty="0">
                <a:solidFill>
                  <a:srgbClr val="C8D3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gas sensors had data. The permits were logged. SCADA was running.</a:t>
            </a:r>
            <a:endParaRPr lang="en-US" sz="18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800" b="1" dirty="0">
                <a:solidFill>
                  <a:srgbClr val="FB3B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layer connected those signals in time.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7223760" y="1874520"/>
            <a:ext cx="4297680" cy="1298448"/>
          </a:xfrm>
          <a:prstGeom prst="roundRect">
            <a:avLst>
              <a:gd name="adj" fmla="val 6338"/>
            </a:avLst>
          </a:prstGeom>
          <a:solidFill>
            <a:srgbClr val="10161E"/>
          </a:solidFill>
          <a:ln w="12700">
            <a:solidFill>
              <a:srgbClr val="26313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223760" y="1874520"/>
            <a:ext cx="64008" cy="1298448"/>
          </a:xfrm>
          <a:prstGeom prst="rect">
            <a:avLst/>
          </a:prstGeom>
          <a:solidFill>
            <a:srgbClr val="FB3B4E"/>
          </a:solidFill>
          <a:ln/>
        </p:spPr>
      </p:sp>
      <p:sp>
        <p:nvSpPr>
          <p:cNvPr id="7" name="Text 5"/>
          <p:cNvSpPr/>
          <p:nvPr/>
        </p:nvSpPr>
        <p:spPr>
          <a:xfrm>
            <a:off x="7498080" y="2057400"/>
            <a:ext cx="1691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FB3B4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8</a:t>
            </a:r>
            <a:endParaRPr lang="en-US" sz="3300" dirty="0"/>
          </a:p>
        </p:txBody>
      </p:sp>
      <p:sp>
        <p:nvSpPr>
          <p:cNvPr id="8" name="Text 6"/>
          <p:cNvSpPr/>
          <p:nvPr/>
        </p:nvSpPr>
        <p:spPr>
          <a:xfrm>
            <a:off x="9235440" y="205740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8D3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workers killed at Vizag, Jan 2025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223760" y="3355848"/>
            <a:ext cx="4297680" cy="1298448"/>
          </a:xfrm>
          <a:prstGeom prst="roundRect">
            <a:avLst>
              <a:gd name="adj" fmla="val 6338"/>
            </a:avLst>
          </a:prstGeom>
          <a:solidFill>
            <a:srgbClr val="10161E"/>
          </a:solidFill>
          <a:ln w="12700">
            <a:solidFill>
              <a:srgbClr val="26313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223760" y="3355848"/>
            <a:ext cx="64008" cy="1298448"/>
          </a:xfrm>
          <a:prstGeom prst="rect">
            <a:avLst/>
          </a:prstGeom>
          <a:solidFill>
            <a:srgbClr val="E8862F"/>
          </a:solidFill>
          <a:ln/>
        </p:spPr>
      </p:sp>
      <p:sp>
        <p:nvSpPr>
          <p:cNvPr id="11" name="Text 9"/>
          <p:cNvSpPr/>
          <p:nvPr/>
        </p:nvSpPr>
        <p:spPr>
          <a:xfrm>
            <a:off x="7498080" y="3538728"/>
            <a:ext cx="1691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E8862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6,500+</a:t>
            </a:r>
            <a:endParaRPr lang="en-US" sz="3300" dirty="0"/>
          </a:p>
        </p:txBody>
      </p:sp>
      <p:sp>
        <p:nvSpPr>
          <p:cNvPr id="12" name="Text 10"/>
          <p:cNvSpPr/>
          <p:nvPr/>
        </p:nvSpPr>
        <p:spPr>
          <a:xfrm>
            <a:off x="9235440" y="3538728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8D3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fatal workplace accidents / year (India)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223760" y="4837176"/>
            <a:ext cx="4297680" cy="1298448"/>
          </a:xfrm>
          <a:prstGeom prst="roundRect">
            <a:avLst>
              <a:gd name="adj" fmla="val 6338"/>
            </a:avLst>
          </a:prstGeom>
          <a:solidFill>
            <a:srgbClr val="10161E"/>
          </a:solidFill>
          <a:ln w="12700">
            <a:solidFill>
              <a:srgbClr val="26313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223760" y="4837176"/>
            <a:ext cx="64008" cy="1298448"/>
          </a:xfrm>
          <a:prstGeom prst="rect">
            <a:avLst/>
          </a:prstGeom>
          <a:solidFill>
            <a:srgbClr val="34D3BD"/>
          </a:solidFill>
          <a:ln/>
        </p:spPr>
      </p:sp>
      <p:sp>
        <p:nvSpPr>
          <p:cNvPr id="15" name="Text 13"/>
          <p:cNvSpPr/>
          <p:nvPr/>
        </p:nvSpPr>
        <p:spPr>
          <a:xfrm>
            <a:off x="7498080" y="5020056"/>
            <a:ext cx="1691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34D3B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60%</a:t>
            </a:r>
            <a:endParaRPr lang="en-US" sz="3300" dirty="0"/>
          </a:p>
        </p:txBody>
      </p:sp>
      <p:sp>
        <p:nvSpPr>
          <p:cNvPr id="16" name="Text 14"/>
          <p:cNvSpPr/>
          <p:nvPr/>
        </p:nvSpPr>
        <p:spPr>
          <a:xfrm>
            <a:off x="9235440" y="5020056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8D3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large plants rely on manual handoffs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34D3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INSIGHT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41248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AF2F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Compound risk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2286000"/>
            <a:ext cx="3017520" cy="1554480"/>
          </a:xfrm>
          <a:prstGeom prst="roundRect">
            <a:avLst>
              <a:gd name="adj" fmla="val 5294"/>
            </a:avLst>
          </a:prstGeom>
          <a:solidFill>
            <a:srgbClr val="10161E"/>
          </a:solidFill>
          <a:ln w="12700">
            <a:solidFill>
              <a:srgbClr val="26313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68680" y="2542032"/>
            <a:ext cx="182880" cy="182880"/>
          </a:xfrm>
          <a:prstGeom prst="ellipse">
            <a:avLst/>
          </a:prstGeom>
          <a:solidFill>
            <a:srgbClr val="3A9D8C"/>
          </a:solidFill>
          <a:ln/>
        </p:spPr>
      </p:sp>
      <p:sp>
        <p:nvSpPr>
          <p:cNvPr id="6" name="Text 4"/>
          <p:cNvSpPr/>
          <p:nvPr/>
        </p:nvSpPr>
        <p:spPr>
          <a:xfrm>
            <a:off x="1143000" y="246888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AF2F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Rising flammable gas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68680" y="3063240"/>
            <a:ext cx="2606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still below its alarm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68680" y="342900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A9D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normal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886200" y="2286000"/>
            <a:ext cx="3017520" cy="1554480"/>
          </a:xfrm>
          <a:prstGeom prst="roundRect">
            <a:avLst>
              <a:gd name="adj" fmla="val 5294"/>
            </a:avLst>
          </a:prstGeom>
          <a:solidFill>
            <a:srgbClr val="10161E"/>
          </a:solidFill>
          <a:ln w="12700">
            <a:solidFill>
              <a:srgbClr val="26313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114800" y="2542032"/>
            <a:ext cx="182880" cy="182880"/>
          </a:xfrm>
          <a:prstGeom prst="ellipse">
            <a:avLst/>
          </a:prstGeom>
          <a:solidFill>
            <a:srgbClr val="3A9D8C"/>
          </a:solidFill>
          <a:ln/>
        </p:spPr>
      </p:sp>
      <p:sp>
        <p:nvSpPr>
          <p:cNvPr id="11" name="Text 9"/>
          <p:cNvSpPr/>
          <p:nvPr/>
        </p:nvSpPr>
        <p:spPr>
          <a:xfrm>
            <a:off x="4389120" y="246888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AF2F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Active hot-work permit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114800" y="3063240"/>
            <a:ext cx="2606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ignition source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114800" y="342900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A9D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normal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132320" y="2286000"/>
            <a:ext cx="3017520" cy="1554480"/>
          </a:xfrm>
          <a:prstGeom prst="roundRect">
            <a:avLst>
              <a:gd name="adj" fmla="val 5294"/>
            </a:avLst>
          </a:prstGeom>
          <a:solidFill>
            <a:srgbClr val="10161E"/>
          </a:solidFill>
          <a:ln w="12700">
            <a:solidFill>
              <a:srgbClr val="26313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60920" y="2542032"/>
            <a:ext cx="182880" cy="182880"/>
          </a:xfrm>
          <a:prstGeom prst="ellipse">
            <a:avLst/>
          </a:prstGeom>
          <a:solidFill>
            <a:srgbClr val="3A9D8C"/>
          </a:solidFill>
          <a:ln/>
        </p:spPr>
      </p:sp>
      <p:sp>
        <p:nvSpPr>
          <p:cNvPr id="16" name="Text 14"/>
          <p:cNvSpPr/>
          <p:nvPr/>
        </p:nvSpPr>
        <p:spPr>
          <a:xfrm>
            <a:off x="7635240" y="246888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AF2F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Personnel present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7360920" y="3063240"/>
            <a:ext cx="2606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inside a confined space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7360920" y="342900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A9D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normal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3950208"/>
            <a:ext cx="301752" cy="27432"/>
          </a:xfrm>
          <a:prstGeom prst="rect">
            <a:avLst/>
          </a:prstGeom>
          <a:solidFill>
            <a:srgbClr val="6B7888"/>
          </a:solidFill>
          <a:ln/>
        </p:spPr>
      </p:sp>
      <p:sp>
        <p:nvSpPr>
          <p:cNvPr id="20" name="Shape 18"/>
          <p:cNvSpPr/>
          <p:nvPr/>
        </p:nvSpPr>
        <p:spPr>
          <a:xfrm>
            <a:off x="640080" y="4160520"/>
            <a:ext cx="10908792" cy="1371600"/>
          </a:xfrm>
          <a:prstGeom prst="roundRect">
            <a:avLst>
              <a:gd name="adj" fmla="val 6000"/>
            </a:avLst>
          </a:prstGeom>
          <a:solidFill>
            <a:srgbClr val="190F12"/>
          </a:solidFill>
          <a:ln w="12700">
            <a:solidFill>
              <a:srgbClr val="FB3B4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005840" y="43434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B3B4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 lethal combination no single sensor flags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1005840" y="48920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8D3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green lights. One lethal combination — hours before it becomes critical.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34D3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MOMENT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41248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AF2F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Split reality at T + 8 min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2011680"/>
            <a:ext cx="4572000" cy="3566160"/>
          </a:xfrm>
          <a:prstGeom prst="roundRect">
            <a:avLst>
              <a:gd name="adj" fmla="val 2308"/>
            </a:avLst>
          </a:prstGeom>
          <a:solidFill>
            <a:srgbClr val="10161E"/>
          </a:solidFill>
          <a:ln w="12700">
            <a:solidFill>
              <a:srgbClr val="26313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228600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00" kern="0" dirty="0">
                <a:solidFill>
                  <a:srgbClr val="6B78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LEGACY SINGLE-SENSOR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914400" y="3154680"/>
            <a:ext cx="292608" cy="292608"/>
          </a:xfrm>
          <a:prstGeom prst="ellipse">
            <a:avLst/>
          </a:prstGeom>
          <a:solidFill>
            <a:srgbClr val="3A9D8C"/>
          </a:solidFill>
          <a:ln/>
        </p:spPr>
      </p:sp>
      <p:sp>
        <p:nvSpPr>
          <p:cNvPr id="7" name="Text 5"/>
          <p:cNvSpPr/>
          <p:nvPr/>
        </p:nvSpPr>
        <p:spPr>
          <a:xfrm>
            <a:off x="1371600" y="297180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A9D8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ALL CLEAR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914400" y="384048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8D3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gas reads below its setpoint.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914400" y="493776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8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threshold detection only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440680" y="2971800"/>
            <a:ext cx="1325880" cy="1645920"/>
          </a:xfrm>
          <a:prstGeom prst="roundRect">
            <a:avLst>
              <a:gd name="adj" fmla="val 6207"/>
            </a:avLst>
          </a:prstGeom>
          <a:solidFill>
            <a:srgbClr val="0C1218"/>
          </a:solidFill>
          <a:ln w="12700">
            <a:solidFill>
              <a:srgbClr val="34D3B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40680" y="3154680"/>
            <a:ext cx="1325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34D3B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+6</a:t>
            </a:r>
            <a:endParaRPr lang="en-US" sz="3800" dirty="0"/>
          </a:p>
        </p:txBody>
      </p:sp>
      <p:sp>
        <p:nvSpPr>
          <p:cNvPr id="12" name="Text 10"/>
          <p:cNvSpPr/>
          <p:nvPr/>
        </p:nvSpPr>
        <p:spPr>
          <a:xfrm>
            <a:off x="5440680" y="3886200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4D3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MIN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440680" y="4206240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8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early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976872" y="2011680"/>
            <a:ext cx="4572000" cy="3566160"/>
          </a:xfrm>
          <a:prstGeom prst="roundRect">
            <a:avLst>
              <a:gd name="adj" fmla="val 2308"/>
            </a:avLst>
          </a:prstGeom>
          <a:solidFill>
            <a:srgbClr val="190F12"/>
          </a:solidFill>
          <a:ln w="12700">
            <a:solidFill>
              <a:srgbClr val="FB3B4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251192" y="228600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00" kern="0" dirty="0">
                <a:solidFill>
                  <a:srgbClr val="34D3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TRINETRA COMPOUND AI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7251192" y="3154680"/>
            <a:ext cx="292608" cy="292608"/>
          </a:xfrm>
          <a:prstGeom prst="ellipse">
            <a:avLst/>
          </a:prstGeom>
          <a:solidFill>
            <a:srgbClr val="FB3B4E"/>
          </a:solidFill>
          <a:ln/>
        </p:spPr>
      </p:sp>
      <p:sp>
        <p:nvSpPr>
          <p:cNvPr id="17" name="Text 15"/>
          <p:cNvSpPr/>
          <p:nvPr/>
        </p:nvSpPr>
        <p:spPr>
          <a:xfrm>
            <a:off x="7708392" y="297180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B3B4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COMPOUND ALERT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7251192" y="3840480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C8D3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COB-1 critical · breach predicted ~22 min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B7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rising CH4 + hot-work permit + 3 personnel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7251192" y="493776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8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multi-signal fusion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40080" y="58978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B7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minutes is the difference between an evacuation and a funeral.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34D3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HOW IT WORKS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41248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AF2F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One multi-modal brain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2112264" cy="2468880"/>
          </a:xfrm>
          <a:prstGeom prst="roundRect">
            <a:avLst>
              <a:gd name="adj" fmla="val 3896"/>
            </a:avLst>
          </a:prstGeom>
          <a:solidFill>
            <a:srgbClr val="10161E"/>
          </a:solidFill>
          <a:ln w="12700">
            <a:solidFill>
              <a:srgbClr val="26313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2194560"/>
            <a:ext cx="2112264" cy="64008"/>
          </a:xfrm>
          <a:prstGeom prst="rect">
            <a:avLst/>
          </a:prstGeom>
          <a:solidFill>
            <a:srgbClr val="34D3BD"/>
          </a:solidFill>
          <a:ln/>
        </p:spPr>
      </p:sp>
      <p:sp>
        <p:nvSpPr>
          <p:cNvPr id="6" name="Text 4"/>
          <p:cNvSpPr/>
          <p:nvPr/>
        </p:nvSpPr>
        <p:spPr>
          <a:xfrm>
            <a:off x="804672" y="2514600"/>
            <a:ext cx="1783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EAF2F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Compound Engine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804672" y="3429000"/>
            <a:ext cx="1783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7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fuses gas trend + permits + people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2916936" y="2194560"/>
            <a:ext cx="2112264" cy="2468880"/>
          </a:xfrm>
          <a:prstGeom prst="roundRect">
            <a:avLst>
              <a:gd name="adj" fmla="val 3896"/>
            </a:avLst>
          </a:prstGeom>
          <a:solidFill>
            <a:srgbClr val="10161E"/>
          </a:solidFill>
          <a:ln w="12700">
            <a:solidFill>
              <a:srgbClr val="26313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916936" y="2194560"/>
            <a:ext cx="2112264" cy="64008"/>
          </a:xfrm>
          <a:prstGeom prst="rect">
            <a:avLst/>
          </a:prstGeom>
          <a:solidFill>
            <a:srgbClr val="EAF2FA"/>
          </a:solidFill>
          <a:ln/>
        </p:spPr>
      </p:sp>
      <p:sp>
        <p:nvSpPr>
          <p:cNvPr id="10" name="Text 8"/>
          <p:cNvSpPr/>
          <p:nvPr/>
        </p:nvSpPr>
        <p:spPr>
          <a:xfrm>
            <a:off x="3081528" y="2514600"/>
            <a:ext cx="1783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EAF2F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Vision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3081528" y="3429000"/>
            <a:ext cx="1783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7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YOLOv8 worker &amp; zone intrusion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193792" y="2194560"/>
            <a:ext cx="2112264" cy="2468880"/>
          </a:xfrm>
          <a:prstGeom prst="roundRect">
            <a:avLst>
              <a:gd name="adj" fmla="val 3896"/>
            </a:avLst>
          </a:prstGeom>
          <a:solidFill>
            <a:srgbClr val="10161E"/>
          </a:solidFill>
          <a:ln w="12700">
            <a:solidFill>
              <a:srgbClr val="26313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193792" y="2194560"/>
            <a:ext cx="2112264" cy="64008"/>
          </a:xfrm>
          <a:prstGeom prst="rect">
            <a:avLst/>
          </a:prstGeom>
          <a:solidFill>
            <a:srgbClr val="EAF2FA"/>
          </a:solidFill>
          <a:ln/>
        </p:spPr>
      </p:sp>
      <p:sp>
        <p:nvSpPr>
          <p:cNvPr id="14" name="Text 12"/>
          <p:cNvSpPr/>
          <p:nvPr/>
        </p:nvSpPr>
        <p:spPr>
          <a:xfrm>
            <a:off x="5358384" y="2514600"/>
            <a:ext cx="1783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EAF2F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Multi-Agent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5358384" y="3429000"/>
            <a:ext cx="1783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7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LangGraph 6-agent pipeline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7470648" y="2194560"/>
            <a:ext cx="2112264" cy="2468880"/>
          </a:xfrm>
          <a:prstGeom prst="roundRect">
            <a:avLst>
              <a:gd name="adj" fmla="val 3896"/>
            </a:avLst>
          </a:prstGeom>
          <a:solidFill>
            <a:srgbClr val="10161E"/>
          </a:solidFill>
          <a:ln w="12700">
            <a:solidFill>
              <a:srgbClr val="26313E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470648" y="2194560"/>
            <a:ext cx="2112264" cy="64008"/>
          </a:xfrm>
          <a:prstGeom prst="rect">
            <a:avLst/>
          </a:prstGeom>
          <a:solidFill>
            <a:srgbClr val="EAF2FA"/>
          </a:solidFill>
          <a:ln/>
        </p:spPr>
      </p:sp>
      <p:sp>
        <p:nvSpPr>
          <p:cNvPr id="18" name="Text 16"/>
          <p:cNvSpPr/>
          <p:nvPr/>
        </p:nvSpPr>
        <p:spPr>
          <a:xfrm>
            <a:off x="7635240" y="2514600"/>
            <a:ext cx="1783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EAF2F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Disaster RAG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7635240" y="3429000"/>
            <a:ext cx="1783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7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 precedent matching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9747504" y="2194560"/>
            <a:ext cx="2112264" cy="2468880"/>
          </a:xfrm>
          <a:prstGeom prst="roundRect">
            <a:avLst>
              <a:gd name="adj" fmla="val 3896"/>
            </a:avLst>
          </a:prstGeom>
          <a:solidFill>
            <a:srgbClr val="10161E"/>
          </a:solidFill>
          <a:ln w="12700">
            <a:solidFill>
              <a:srgbClr val="26313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747504" y="2194560"/>
            <a:ext cx="2112264" cy="64008"/>
          </a:xfrm>
          <a:prstGeom prst="rect">
            <a:avLst/>
          </a:prstGeom>
          <a:solidFill>
            <a:srgbClr val="FB3B4E"/>
          </a:solidFill>
          <a:ln/>
        </p:spPr>
      </p:sp>
      <p:sp>
        <p:nvSpPr>
          <p:cNvPr id="22" name="Text 20"/>
          <p:cNvSpPr/>
          <p:nvPr/>
        </p:nvSpPr>
        <p:spPr>
          <a:xfrm>
            <a:off x="9912096" y="2514600"/>
            <a:ext cx="1783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EAF2F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Response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9912096" y="3429000"/>
            <a:ext cx="1783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7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+ multilingual alerts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640080" y="5029200"/>
            <a:ext cx="10908792" cy="914400"/>
          </a:xfrm>
          <a:prstGeom prst="roundRect">
            <a:avLst>
              <a:gd name="adj" fmla="val 9000"/>
            </a:avLst>
          </a:prstGeom>
          <a:solidFill>
            <a:srgbClr val="0C1218"/>
          </a:solidFill>
          <a:ln w="12700">
            <a:solidFill>
              <a:srgbClr val="34D3BD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14400" y="5029200"/>
            <a:ext cx="10332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4D3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by design:  </a:t>
            </a:r>
            <a:pPr indent="0" marL="0">
              <a:buNone/>
            </a:pPr>
            <a:r>
              <a:rPr lang="en-US" sz="1500" dirty="0">
                <a:solidFill>
                  <a:srgbClr val="C8D3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transparent, deterministic backbone makes the life-safety decision — the LLM only explains, retrieves precedent, and drafts reports. No black box in the loop.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34D3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DIFFERENTIATOR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41248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AF2F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We've seen this death before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2103120"/>
            <a:ext cx="3657600" cy="3383280"/>
          </a:xfrm>
          <a:prstGeom prst="roundRect">
            <a:avLst>
              <a:gd name="adj" fmla="val 2432"/>
            </a:avLst>
          </a:prstGeom>
          <a:solidFill>
            <a:srgbClr val="190F12"/>
          </a:solidFill>
          <a:ln w="12700">
            <a:solidFill>
              <a:srgbClr val="FB3B4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260604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0" b="1" dirty="0">
                <a:solidFill>
                  <a:srgbClr val="FB3B4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82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640080" y="37947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spc="200" kern="0" dirty="0">
                <a:solidFill>
                  <a:srgbClr val="34D3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% MATCH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22960" y="4389120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8D3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Visakhapatnam coke-oven  explosion · 2025 · 8 killed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572000" y="2103120"/>
            <a:ext cx="6976872" cy="2331720"/>
          </a:xfrm>
          <a:prstGeom prst="roundRect">
            <a:avLst>
              <a:gd name="adj" fmla="val 3529"/>
            </a:avLst>
          </a:prstGeom>
          <a:solidFill>
            <a:srgbClr val="10161E"/>
          </a:solidFill>
          <a:ln w="12700">
            <a:solidFill>
              <a:srgbClr val="26313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46320" y="23317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6B78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GROUNDED BRIEFING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846320" y="2743200"/>
            <a:ext cx="64465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rgbClr val="EAF2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“The present condition echoes the Visakhapatnam coke-oven explosion — rising CH4 alongside an active ignition source mirrors the precedent's root cause of unacted-upon warnings. The single most important action is the immediate cessation of hot-work and evacuation of personnel.”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572000" y="4617720"/>
            <a:ext cx="2240280" cy="868680"/>
          </a:xfrm>
          <a:prstGeom prst="roundRect">
            <a:avLst>
              <a:gd name="adj" fmla="val 9474"/>
            </a:avLst>
          </a:prstGeom>
          <a:solidFill>
            <a:srgbClr val="0C1218"/>
          </a:solidFill>
          <a:ln w="12700">
            <a:solidFill>
              <a:srgbClr val="26313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754880" y="4754880"/>
            <a:ext cx="822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34D3B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73%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5486400" y="4754880"/>
            <a:ext cx="1234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Texas City refinery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940296" y="4617720"/>
            <a:ext cx="2240280" cy="868680"/>
          </a:xfrm>
          <a:prstGeom prst="roundRect">
            <a:avLst>
              <a:gd name="adj" fmla="val 9474"/>
            </a:avLst>
          </a:prstGeom>
          <a:solidFill>
            <a:srgbClr val="0C1218"/>
          </a:solidFill>
          <a:ln w="12700">
            <a:solidFill>
              <a:srgbClr val="26313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123176" y="4754880"/>
            <a:ext cx="822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34D3B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72%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7854696" y="4754880"/>
            <a:ext cx="1234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Hot-work ignition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9308592" y="4617720"/>
            <a:ext cx="2240280" cy="868680"/>
          </a:xfrm>
          <a:prstGeom prst="roundRect">
            <a:avLst>
              <a:gd name="adj" fmla="val 9474"/>
            </a:avLst>
          </a:prstGeom>
          <a:solidFill>
            <a:srgbClr val="0C1218"/>
          </a:solidFill>
          <a:ln w="12700">
            <a:solidFill>
              <a:srgbClr val="26313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491472" y="4754880"/>
            <a:ext cx="822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34D3B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—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10222992" y="4754880"/>
            <a:ext cx="1234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Piper Alpha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40080" y="576072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conditions embedded with Gemini, matched against a corpus of real industrial disasters.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34D3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AUTONOMOUS RESPONSE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41248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AF2F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Detect → draft → alert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2103120"/>
            <a:ext cx="5577840" cy="4023360"/>
          </a:xfrm>
          <a:prstGeom prst="roundRect">
            <a:avLst>
              <a:gd name="adj" fmla="val 2045"/>
            </a:avLst>
          </a:prstGeom>
          <a:solidFill>
            <a:srgbClr val="10161E"/>
          </a:solidFill>
          <a:ln w="12700">
            <a:solidFill>
              <a:srgbClr val="26313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233172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34D3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AUTO-DRAFTED INCIDENT REPORT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914400" y="2788920"/>
            <a:ext cx="50292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C8D3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Summary  ·  2. Conditions Detected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C8D3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Compound Risk Assessment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C8D3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Immediate Actions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b="1" dirty="0">
                <a:solidFill>
                  <a:srgbClr val="EAF2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Regulatory References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34D3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Factory Act 1948 §36 / §37 / §38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34D3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OISD-STD-105 (Work Permit System)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C8D3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Corrective Actions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00800" y="2103120"/>
            <a:ext cx="5148072" cy="1874520"/>
          </a:xfrm>
          <a:prstGeom prst="roundRect">
            <a:avLst>
              <a:gd name="adj" fmla="val 4390"/>
            </a:avLst>
          </a:prstGeom>
          <a:solidFill>
            <a:srgbClr val="1A1407"/>
          </a:solidFill>
          <a:ln w="12700">
            <a:solidFill>
              <a:srgbClr val="E8862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675120" y="22860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E8862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EVACUATION ALERT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675120" y="2606040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AF2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Compound hazard in COB-1. Evacuate now. Do not operate hot-work or electrical equipment.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675120" y="3429000"/>
            <a:ext cx="1097280" cy="365760"/>
          </a:xfrm>
          <a:prstGeom prst="roundRect">
            <a:avLst>
              <a:gd name="adj" fmla="val 12500"/>
            </a:avLst>
          </a:prstGeom>
          <a:solidFill>
            <a:srgbClr val="0C1218"/>
          </a:solidFill>
          <a:ln w="12700">
            <a:solidFill>
              <a:srgbClr val="E8862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675120" y="342900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8862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English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7909560" y="3429000"/>
            <a:ext cx="1097280" cy="365760"/>
          </a:xfrm>
          <a:prstGeom prst="roundRect">
            <a:avLst>
              <a:gd name="adj" fmla="val 12500"/>
            </a:avLst>
          </a:prstGeom>
          <a:solidFill>
            <a:srgbClr val="0C1218"/>
          </a:solidFill>
          <a:ln w="12700">
            <a:solidFill>
              <a:srgbClr val="E8862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909560" y="342900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8862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Telugu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9144000" y="3429000"/>
            <a:ext cx="1097280" cy="365760"/>
          </a:xfrm>
          <a:prstGeom prst="roundRect">
            <a:avLst>
              <a:gd name="adj" fmla="val 12500"/>
            </a:avLst>
          </a:prstGeom>
          <a:solidFill>
            <a:srgbClr val="0C1218"/>
          </a:solidFill>
          <a:ln w="12700">
            <a:solidFill>
              <a:srgbClr val="E8862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0" y="342900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8862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Hindi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400800" y="4160520"/>
            <a:ext cx="5148072" cy="1965960"/>
          </a:xfrm>
          <a:prstGeom prst="roundRect">
            <a:avLst>
              <a:gd name="adj" fmla="val 4186"/>
            </a:avLst>
          </a:prstGeom>
          <a:solidFill>
            <a:srgbClr val="0C1218"/>
          </a:solidFill>
          <a:ln w="12700">
            <a:solidFill>
              <a:srgbClr val="26313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675120" y="43434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6B78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ACTIONS AUTO-INITIATED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675120" y="4709160"/>
            <a:ext cx="45720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28600" indent="-228600">
              <a:lnSpc>
                <a:spcPct val="125000"/>
              </a:lnSpc>
              <a:buSzPct val="100000"/>
              <a:buChar char="✓"/>
            </a:pPr>
            <a:r>
              <a:rPr lang="en-US" sz="1400" dirty="0">
                <a:solidFill>
                  <a:srgbClr val="C8D3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Suspend hot-work permit PTW-7741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8D3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Evacuate &amp; page response team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8D3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Freeze sensor + CCTV evidence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8D3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preliminary incident report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34D3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PROOF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41248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AF2F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Measured, not claimed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2103120"/>
            <a:ext cx="3511296" cy="2011680"/>
          </a:xfrm>
          <a:prstGeom prst="roundRect">
            <a:avLst>
              <a:gd name="adj" fmla="val 4091"/>
            </a:avLst>
          </a:prstGeom>
          <a:solidFill>
            <a:srgbClr val="10161E"/>
          </a:solidFill>
          <a:ln w="12700">
            <a:solidFill>
              <a:srgbClr val="26313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2331720"/>
            <a:ext cx="314553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0" b="1" dirty="0">
                <a:solidFill>
                  <a:srgbClr val="34D3B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100%</a:t>
            </a:r>
            <a:endParaRPr lang="en-US" sz="5000" dirty="0"/>
          </a:p>
        </p:txBody>
      </p:sp>
      <p:sp>
        <p:nvSpPr>
          <p:cNvPr id="6" name="Text 4"/>
          <p:cNvSpPr/>
          <p:nvPr/>
        </p:nvSpPr>
        <p:spPr>
          <a:xfrm>
            <a:off x="822960" y="3246120"/>
            <a:ext cx="31455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AF2F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compound recall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22960" y="3611880"/>
            <a:ext cx="31455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8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14 / 14 hazards caught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34256" y="2103120"/>
            <a:ext cx="3511296" cy="2011680"/>
          </a:xfrm>
          <a:prstGeom prst="roundRect">
            <a:avLst>
              <a:gd name="adj" fmla="val 4091"/>
            </a:avLst>
          </a:prstGeom>
          <a:solidFill>
            <a:srgbClr val="10161E"/>
          </a:solidFill>
          <a:ln w="12700">
            <a:solidFill>
              <a:srgbClr val="26313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17136" y="2331720"/>
            <a:ext cx="314553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0" b="1" dirty="0">
                <a:solidFill>
                  <a:srgbClr val="34D3B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0%</a:t>
            </a:r>
            <a:endParaRPr lang="en-US" sz="5000" dirty="0"/>
          </a:p>
        </p:txBody>
      </p:sp>
      <p:sp>
        <p:nvSpPr>
          <p:cNvPr id="10" name="Text 8"/>
          <p:cNvSpPr/>
          <p:nvPr/>
        </p:nvSpPr>
        <p:spPr>
          <a:xfrm>
            <a:off x="4517136" y="3246120"/>
            <a:ext cx="31455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AF2F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false-positive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517136" y="3611880"/>
            <a:ext cx="31455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8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 / 11 hard negatives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028432" y="2103120"/>
            <a:ext cx="3511296" cy="2011680"/>
          </a:xfrm>
          <a:prstGeom prst="roundRect">
            <a:avLst>
              <a:gd name="adj" fmla="val 4091"/>
            </a:avLst>
          </a:prstGeom>
          <a:solidFill>
            <a:srgbClr val="10161E"/>
          </a:solidFill>
          <a:ln w="12700">
            <a:solidFill>
              <a:srgbClr val="26313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11312" y="2331720"/>
            <a:ext cx="314553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0" b="1" dirty="0">
                <a:solidFill>
                  <a:srgbClr val="E8862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7.4 min</a:t>
            </a:r>
            <a:endParaRPr lang="en-US" sz="5000" dirty="0"/>
          </a:p>
        </p:txBody>
      </p:sp>
      <p:sp>
        <p:nvSpPr>
          <p:cNvPr id="14" name="Text 12"/>
          <p:cNvSpPr/>
          <p:nvPr/>
        </p:nvSpPr>
        <p:spPr>
          <a:xfrm>
            <a:off x="8211312" y="3246120"/>
            <a:ext cx="31455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AF2F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mean early-warning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8211312" y="3611880"/>
            <a:ext cx="31455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8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vs single-sensor baseline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40080" y="4434840"/>
            <a:ext cx="10908792" cy="1600200"/>
          </a:xfrm>
          <a:prstGeom prst="roundRect">
            <a:avLst>
              <a:gd name="adj" fmla="val 5143"/>
            </a:avLst>
          </a:prstGeom>
          <a:solidFill>
            <a:srgbClr val="0C1218"/>
          </a:solidFill>
          <a:ln w="12700">
            <a:solidFill>
              <a:srgbClr val="26313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" y="46177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6B78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VIZAG RECONSTRUCTION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1097280" y="5577840"/>
            <a:ext cx="10058400" cy="0"/>
          </a:xfrm>
          <a:prstGeom prst="line">
            <a:avLst/>
          </a:prstGeom>
          <a:noFill/>
          <a:ln w="19050">
            <a:solidFill>
              <a:srgbClr val="26313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033272" y="5513832"/>
            <a:ext cx="146304" cy="146304"/>
          </a:xfrm>
          <a:prstGeom prst="ellipse">
            <a:avLst/>
          </a:prstGeom>
          <a:solidFill>
            <a:srgbClr val="6B7888"/>
          </a:solidFill>
          <a:ln/>
        </p:spPr>
      </p:sp>
      <p:sp>
        <p:nvSpPr>
          <p:cNvPr id="20" name="Text 18"/>
          <p:cNvSpPr/>
          <p:nvPr/>
        </p:nvSpPr>
        <p:spPr>
          <a:xfrm>
            <a:off x="731520" y="507492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B78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t0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182880" y="566928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8D3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3959352" y="5513832"/>
            <a:ext cx="146304" cy="146304"/>
          </a:xfrm>
          <a:prstGeom prst="ellipse">
            <a:avLst/>
          </a:prstGeom>
          <a:solidFill>
            <a:srgbClr val="34D3BD"/>
          </a:solidFill>
          <a:ln/>
        </p:spPr>
      </p:sp>
      <p:sp>
        <p:nvSpPr>
          <p:cNvPr id="23" name="Text 21"/>
          <p:cNvSpPr/>
          <p:nvPr/>
        </p:nvSpPr>
        <p:spPr>
          <a:xfrm>
            <a:off x="3657600" y="507492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4D3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t8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3108960" y="566928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8D3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Trinetra: COMPOUND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8714232" y="5513832"/>
            <a:ext cx="146304" cy="146304"/>
          </a:xfrm>
          <a:prstGeom prst="ellipse">
            <a:avLst/>
          </a:prstGeom>
          <a:solidFill>
            <a:srgbClr val="FB3B4E"/>
          </a:solidFill>
          <a:ln/>
        </p:spPr>
      </p:sp>
      <p:sp>
        <p:nvSpPr>
          <p:cNvPr id="26" name="Text 24"/>
          <p:cNvSpPr/>
          <p:nvPr/>
        </p:nvSpPr>
        <p:spPr>
          <a:xfrm>
            <a:off x="8412480" y="507492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B3B4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t14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7863840" y="566928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8D3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Legacy: gas alarm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4937760" y="50749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4D3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+6 min lead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34D3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SCALE &amp; DEPLOY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41248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AF2F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Sits over the sensors you already have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2148840"/>
            <a:ext cx="6217920" cy="1143000"/>
          </a:xfrm>
          <a:prstGeom prst="roundRect">
            <a:avLst>
              <a:gd name="adj" fmla="val 7200"/>
            </a:avLst>
          </a:prstGeom>
          <a:solidFill>
            <a:srgbClr val="10161E"/>
          </a:solidFill>
          <a:ln w="12700">
            <a:solidFill>
              <a:srgbClr val="26313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2606040"/>
            <a:ext cx="182880" cy="182880"/>
          </a:xfrm>
          <a:prstGeom prst="ellipse">
            <a:avLst/>
          </a:prstGeom>
          <a:solidFill>
            <a:srgbClr val="34D3BD"/>
          </a:solidFill>
          <a:ln/>
        </p:spPr>
      </p:sp>
      <p:sp>
        <p:nvSpPr>
          <p:cNvPr id="6" name="Text 4"/>
          <p:cNvSpPr/>
          <p:nvPr/>
        </p:nvSpPr>
        <p:spPr>
          <a:xfrm>
            <a:off x="1280160" y="2313432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AF2F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Standard formats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280160" y="2715768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Ingests SCADA / IoT / permit-to-work data as-is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40080" y="3447288"/>
            <a:ext cx="6217920" cy="1143000"/>
          </a:xfrm>
          <a:prstGeom prst="roundRect">
            <a:avLst>
              <a:gd name="adj" fmla="val 7200"/>
            </a:avLst>
          </a:prstGeom>
          <a:solidFill>
            <a:srgbClr val="10161E"/>
          </a:solidFill>
          <a:ln w="12700">
            <a:solidFill>
              <a:srgbClr val="26313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14400" y="3904488"/>
            <a:ext cx="182880" cy="182880"/>
          </a:xfrm>
          <a:prstGeom prst="ellipse">
            <a:avLst/>
          </a:prstGeom>
          <a:solidFill>
            <a:srgbClr val="34D3BD"/>
          </a:solidFill>
          <a:ln/>
        </p:spPr>
      </p:sp>
      <p:sp>
        <p:nvSpPr>
          <p:cNvPr id="10" name="Text 8"/>
          <p:cNvSpPr/>
          <p:nvPr/>
        </p:nvSpPr>
        <p:spPr>
          <a:xfrm>
            <a:off x="1280160" y="3611880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AF2F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 connector, not a rewrite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280160" y="4014216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twin → live plant swaps the data source, not the brain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4745736"/>
            <a:ext cx="6217920" cy="1143000"/>
          </a:xfrm>
          <a:prstGeom prst="roundRect">
            <a:avLst>
              <a:gd name="adj" fmla="val 7200"/>
            </a:avLst>
          </a:prstGeom>
          <a:solidFill>
            <a:srgbClr val="10161E"/>
          </a:solidFill>
          <a:ln w="12700">
            <a:solidFill>
              <a:srgbClr val="26313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14400" y="5202936"/>
            <a:ext cx="182880" cy="182880"/>
          </a:xfrm>
          <a:prstGeom prst="ellipse">
            <a:avLst/>
          </a:prstGeom>
          <a:solidFill>
            <a:srgbClr val="34D3BD"/>
          </a:solidFill>
          <a:ln/>
        </p:spPr>
      </p:sp>
      <p:sp>
        <p:nvSpPr>
          <p:cNvPr id="14" name="Text 12"/>
          <p:cNvSpPr/>
          <p:nvPr/>
        </p:nvSpPr>
        <p:spPr>
          <a:xfrm>
            <a:off x="1280160" y="4910328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AF2F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Auditable &amp; hybrid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280160" y="5312664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Deterministic decisions a safety officer can defend in an audit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223760" y="2148840"/>
            <a:ext cx="4325112" cy="3694176"/>
          </a:xfrm>
          <a:prstGeom prst="roundRect">
            <a:avLst>
              <a:gd name="adj" fmla="val 2228"/>
            </a:avLst>
          </a:prstGeom>
          <a:solidFill>
            <a:srgbClr val="0C1218"/>
          </a:solidFill>
          <a:ln w="12700">
            <a:solidFill>
              <a:srgbClr val="34D3B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498080" y="23774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34D3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WHERE IT DEPLOYS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7498080" y="283464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AF2F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Steel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7498080" y="3145536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coke ovens, blast furnaces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7498080" y="3584448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AF2F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Refining &amp; Petrochem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7498080" y="3895344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OISD permit-to-work regimes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7498080" y="4334256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AF2F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Mining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7498080" y="4645152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confined-space &amp; gas hazards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7498080" y="5084064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AF2F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Power &amp; Chemicals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7498080" y="539496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asset-intensive operations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89904" y="1097280"/>
            <a:ext cx="411480" cy="822960"/>
          </a:xfrm>
          <a:prstGeom prst="line">
            <a:avLst/>
          </a:prstGeom>
          <a:noFill/>
          <a:ln w="25400">
            <a:solidFill>
              <a:srgbClr val="34D3B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501384" y="1920240"/>
            <a:ext cx="-822960" cy="0"/>
          </a:xfrm>
          <a:prstGeom prst="line">
            <a:avLst/>
          </a:prstGeom>
          <a:noFill/>
          <a:ln w="25400">
            <a:solidFill>
              <a:srgbClr val="34D3BD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678424" y="1920240"/>
            <a:ext cx="411480" cy="-822960"/>
          </a:xfrm>
          <a:prstGeom prst="line">
            <a:avLst/>
          </a:prstGeom>
          <a:noFill/>
          <a:ln w="25400">
            <a:solidFill>
              <a:srgbClr val="34D3B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17082" y="1529334"/>
            <a:ext cx="345643" cy="226314"/>
          </a:xfrm>
          <a:prstGeom prst="ellipse">
            <a:avLst/>
          </a:prstGeom>
          <a:ln w="19050">
            <a:solidFill>
              <a:srgbClr val="34D3B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061100" y="1599286"/>
            <a:ext cx="74066" cy="74066"/>
          </a:xfrm>
          <a:prstGeom prst="ellipse">
            <a:avLst/>
          </a:prstGeom>
          <a:solidFill>
            <a:srgbClr val="34D3BD"/>
          </a:solidFill>
          <a:ln/>
        </p:spPr>
      </p:sp>
      <p:sp>
        <p:nvSpPr>
          <p:cNvPr id="7" name="Text 5"/>
          <p:cNvSpPr/>
          <p:nvPr/>
        </p:nvSpPr>
        <p:spPr>
          <a:xfrm>
            <a:off x="0" y="2377440"/>
            <a:ext cx="1219169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EAF2F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6,500 deaths a year.</a:t>
            </a:r>
            <a:endParaRPr lang="en-US" sz="40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EAF2F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data already exists.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0" y="4114800"/>
            <a:ext cx="121916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34D3B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Trinetra is the layer that acts — before, not after.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0" y="5212080"/>
            <a:ext cx="121916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D3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100% recall</a:t>
            </a:r>
            <a:pPr algn="ctr" indent="0" marL="0">
              <a:buNone/>
            </a:pPr>
            <a:r>
              <a:rPr lang="en-US" sz="1400" b="1" dirty="0">
                <a:solidFill>
                  <a:srgbClr val="6B78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·   </a:t>
            </a:r>
            <a:pPr algn="ctr" indent="0" marL="0">
              <a:buNone/>
            </a:pPr>
            <a:r>
              <a:rPr lang="en-US" sz="1400" b="1" dirty="0">
                <a:solidFill>
                  <a:srgbClr val="34D3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0% false-positive</a:t>
            </a:r>
            <a:pPr algn="ctr" indent="0" marL="0">
              <a:buNone/>
            </a:pPr>
            <a:r>
              <a:rPr lang="en-US" sz="1400" b="1" dirty="0">
                <a:solidFill>
                  <a:srgbClr val="6B78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·   </a:t>
            </a:r>
            <a:pPr algn="ctr" indent="0" marL="0">
              <a:buNone/>
            </a:pPr>
            <a:r>
              <a:rPr lang="en-US" sz="1400" b="1" dirty="0">
                <a:solidFill>
                  <a:srgbClr val="34D3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7.4 min early-warning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0" y="6126480"/>
            <a:ext cx="121916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spc="200" kern="0" dirty="0">
                <a:solidFill>
                  <a:srgbClr val="6B78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TRINETRA   ·   Saud Satopay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Trinetra</dc:title>
  <dc:subject>PptxGenJS Presentation</dc:subject>
  <dc:creator>Saud Satopay</dc:creator>
  <cp:lastModifiedBy>Saud Satopay</cp:lastModifiedBy>
  <cp:revision>1</cp:revision>
  <dcterms:created xsi:type="dcterms:W3CDTF">2026-06-22T16:15:33Z</dcterms:created>
  <dcterms:modified xsi:type="dcterms:W3CDTF">2026-06-22T16:15:33Z</dcterms:modified>
</cp:coreProperties>
</file>