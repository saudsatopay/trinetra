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325880"/>
            <a:ext cx="457200" cy="91440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47104" y="2240280"/>
            <a:ext cx="-914400" cy="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32704" y="2240280"/>
            <a:ext cx="457200" cy="-91440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97880" y="1805940"/>
            <a:ext cx="384048" cy="251460"/>
          </a:xfrm>
          <a:prstGeom prst="ellipse">
            <a:avLst/>
          </a:prstGeom>
          <a:ln w="19050">
            <a:solidFill>
              <a:srgbClr val="FF6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57900" y="1883664"/>
            <a:ext cx="82296" cy="8229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19456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spc="1000" kern="0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0" y="3383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THIRD EYE THAT SEES THE DANGER NO SINGLE SENSOR CAN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0" y="37947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compound-risk intelligence for zero-harm industrial operations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compound recall</a:t>
            </a:r>
            <a:pPr algn="ctr" indent="0" marL="0">
              <a:buNone/>
            </a:pPr>
            <a:r>
              <a:rPr lang="en-US" sz="13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3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·    </a:t>
            </a:r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mean early-warning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Saud Satopay   ·   ET AI Hackathon 2.0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present. Unacted upon.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6126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13 January 2025, eight workers died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coke-oven-battery explosion at the Visakhapatnam Steel Plant.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gas sensors had data. The permits were logged. SCADA was running.</a:t>
            </a:r>
            <a:endParaRPr lang="en-US" sz="1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F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layer connected those signals in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223760" y="1874520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0" y="1874520"/>
            <a:ext cx="64008" cy="1298448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0" y="205740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235440" y="20574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killed at Vizag, Jan 2025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223760" y="3355848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0" y="3355848"/>
            <a:ext cx="64008" cy="1298448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0" y="3538728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day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235440" y="35387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deaths in India's registered factories (DGFASLI)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23760" y="4837176"/>
            <a:ext cx="4297680" cy="1298448"/>
          </a:xfrm>
          <a:prstGeom prst="roundRect">
            <a:avLst>
              <a:gd name="adj" fmla="val 633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23760" y="4837176"/>
            <a:ext cx="64008" cy="129844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0" y="50200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235440" y="502005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connected those signals in time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Rising flammable gas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its alarm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8620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11" name="Text 9"/>
          <p:cNvSpPr/>
          <p:nvPr/>
        </p:nvSpPr>
        <p:spPr>
          <a:xfrm>
            <a:off x="438912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 hot-work permit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1480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ignition source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1480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32320" y="2286000"/>
            <a:ext cx="3017520" cy="1554480"/>
          </a:xfrm>
          <a:prstGeom prst="roundRect">
            <a:avLst>
              <a:gd name="adj" fmla="val 5294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60920" y="2542032"/>
            <a:ext cx="182880" cy="182880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16" name="Text 14"/>
          <p:cNvSpPr/>
          <p:nvPr/>
        </p:nvSpPr>
        <p:spPr>
          <a:xfrm>
            <a:off x="7635240" y="2468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Personnel present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60920" y="30632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confined space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60920" y="34290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3950208"/>
            <a:ext cx="301752" cy="27432"/>
          </a:xfrm>
          <a:prstGeom prst="rect">
            <a:avLst/>
          </a:prstGeom>
          <a:solidFill>
            <a:srgbClr val="7C6F5E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43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lethal combination no single sensor flags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005840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green lights. One lethal combination — minutes before it becomes critical.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MOMENT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 reality at T + 8 min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 SINGLE-SENSOR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14400" y="3154680"/>
            <a:ext cx="292608" cy="292608"/>
          </a:xfrm>
          <a:prstGeom prst="ellipse">
            <a:avLst/>
          </a:prstGeom>
          <a:solidFill>
            <a:srgbClr val="6B7886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78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CLEAR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gas reads below its setpoint.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detection only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40680" y="2971800"/>
            <a:ext cx="1325880" cy="164592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0680" y="3154680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44068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40680" y="42062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76872" y="2011680"/>
            <a:ext cx="4572000" cy="3566160"/>
          </a:xfrm>
          <a:prstGeom prst="roundRect">
            <a:avLst>
              <a:gd name="adj" fmla="val 2308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51192" y="2286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COMPOUND 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51192" y="3154680"/>
            <a:ext cx="292608" cy="292608"/>
          </a:xfrm>
          <a:prstGeom prst="ellipse">
            <a:avLst/>
          </a:prstGeom>
          <a:solidFill>
            <a:srgbClr val="FF2B4E"/>
          </a:solidFill>
          <a:ln/>
        </p:spPr>
      </p:sp>
      <p:sp>
        <p:nvSpPr>
          <p:cNvPr id="17" name="Text 15"/>
          <p:cNvSpPr/>
          <p:nvPr/>
        </p:nvSpPr>
        <p:spPr>
          <a:xfrm>
            <a:off x="7708392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ALERT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251192" y="38404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COB-1 critical · breach predicted ~36 min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CH4 + hot-work permit + 3 personnel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51192" y="49377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multi-signal fusion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minutes of warning — while every gas sensor still reads below its setpoint.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multi-modal brain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94560"/>
            <a:ext cx="2112264" cy="6400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gas trend + permits + people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916936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16936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0" name="Text 8"/>
          <p:cNvSpPr/>
          <p:nvPr/>
        </p:nvSpPr>
        <p:spPr>
          <a:xfrm>
            <a:off x="3081528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081528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&amp; zone-intrusion (monitoring layer)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93792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93792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4" name="Text 12"/>
          <p:cNvSpPr/>
          <p:nvPr/>
        </p:nvSpPr>
        <p:spPr>
          <a:xfrm>
            <a:off x="5358384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Reasoning Graph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358384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6-stage auditable trace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470648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70648" y="2194560"/>
            <a:ext cx="2112264" cy="6400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8" name="Text 16"/>
          <p:cNvSpPr/>
          <p:nvPr/>
        </p:nvSpPr>
        <p:spPr>
          <a:xfrm>
            <a:off x="7635240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Disaster RAG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35240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precedent matching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747504" y="2194560"/>
            <a:ext cx="2112264" cy="2468880"/>
          </a:xfrm>
          <a:prstGeom prst="roundRect">
            <a:avLst>
              <a:gd name="adj" fmla="val 389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47504" y="2194560"/>
            <a:ext cx="2112264" cy="64008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2" name="Text 20"/>
          <p:cNvSpPr/>
          <p:nvPr/>
        </p:nvSpPr>
        <p:spPr>
          <a:xfrm>
            <a:off x="9912096" y="251460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912096" y="342900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+ multilingual alerts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029200"/>
            <a:ext cx="10908792" cy="914400"/>
          </a:xfrm>
          <a:prstGeom prst="roundRect">
            <a:avLst>
              <a:gd name="adj" fmla="val 9000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by design:  </a:t>
            </a:r>
            <a:pPr indent="0" marL="0"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backbone makes the life-safety decision — the LLM only explains, retrieves precedent, and drafts reports. No black box in the loop.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We've seen this death before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657600" cy="3383280"/>
          </a:xfrm>
          <a:prstGeom prst="roundRect">
            <a:avLst>
              <a:gd name="adj" fmla="val 2432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60604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 MATCH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389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Visakhapatnam coke-oven  explosion · 2025 · 8 killed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2103120"/>
            <a:ext cx="6976872" cy="2331720"/>
          </a:xfrm>
          <a:prstGeom prst="roundRect">
            <a:avLst>
              <a:gd name="adj" fmla="val 352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23317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GROUNDED BRIEFING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0" y="2743200"/>
            <a:ext cx="6446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present condition echoes the Visakhapatnam coke-oven explosion — rising CH4 alongside an active ignition source mirrors the precedent's root cause of unacted-upon warnings. The single most important action is the immediate cessation of hot-work and evacuation of personnel.”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0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0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Texas City refinery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40296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23176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71%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854696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Hot-work ignition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308592" y="4617720"/>
            <a:ext cx="2240280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91472" y="47548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—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0222992" y="4754880"/>
            <a:ext cx="1234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Piper Alpha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conditions embedded with Gemini, matched against a corpus of real industrial disasters.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PROACTIVE, NOT REACTIVE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Pre-mortem: the hazard that hasn't happened yet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228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searched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136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hazards found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093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cross-zone (walkdowns miss)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9680" y="2103120"/>
            <a:ext cx="2606040" cy="1417320"/>
          </a:xfrm>
          <a:prstGeom prst="roundRect">
            <a:avLst>
              <a:gd name="adj" fmla="val 5806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22860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78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52560" y="29443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cleared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908792" cy="1554480"/>
          </a:xfrm>
          <a:prstGeom prst="roundRect">
            <a:avLst>
              <a:gd name="adj" fmla="val 5294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931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LARGEST-BLAST-RADIUS DISCOVERY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4242816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methane in Coke Oven Battery #1, hot work in the bay, and the crew working next door in the Gas Cleaning Plant — compound CRITICAL by T+10. The blast radius spans the gas-cleaning plant, the confined sump and the maintenance bay. No single zone looks dangerous on its own.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 runs its own deterministic engine as an oracle across the plant's blast-radius map — discovering the cross-zone compounds a zone-by-zone walkdown rates safe, before they occur.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PREVENTION, NOT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 the permit before it’s issued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977640"/>
          </a:xfrm>
          <a:prstGeom prst="roundRect">
            <a:avLst>
              <a:gd name="adj" fmla="val 2069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 DESK · HOT-WORK REQUEST · COB-1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78608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BLOCKED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914400" y="3584448"/>
            <a:ext cx="1417320" cy="457200"/>
          </a:xfrm>
          <a:prstGeom prst="roundRect">
            <a:avLst>
              <a:gd name="adj" fmla="val 100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584448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80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331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C6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88920" y="3584448"/>
            <a:ext cx="2560320" cy="457200"/>
          </a:xfrm>
          <a:prstGeom prst="roundRect">
            <a:avLst>
              <a:gd name="adj" fmla="val 10000"/>
            </a:avLst>
          </a:prstGeom>
          <a:solidFill>
            <a:srgbClr val="100C09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88920" y="35844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100 · compound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206240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Issuing this hot-work permit completes the lethal compound pattern — flammable gas + ignition + personnel — minutes before any single sensor would alarm.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852160" y="2011680"/>
            <a:ext cx="5696712" cy="3977640"/>
          </a:xfrm>
          <a:prstGeom prst="roundRect">
            <a:avLst>
              <a:gd name="adj" fmla="val 206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240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CONDITIONS TO ISSUE SAFELY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697480"/>
            <a:ext cx="5166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SzPct val="100000"/>
              <a:buChar char="→"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Gas-free certificate — flammable gas below alarm and falling (OISD-STD-105)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Force-ventilate / purge the zone and re-test the atmosphere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flammable release developing in this zone or any blast-radius neighbour</a:t>
            </a:r>
            <a:endParaRPr lang="en-US" sz="14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entry while an ignition source is active in the blast radius (Factory Act §36 / §37)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126480" y="502920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inverse of detection: simulate the plant WITH the proposed permit, and refuse it if issuing it would create — or add people to — a compound hazard.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Vizag hot-work permit, evaluated against that same rising atmosphere, is refused before the crew ever strikes an arc.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RESPONSE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 → draft → alert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4023360"/>
          </a:xfrm>
          <a:prstGeom prst="roundRect">
            <a:avLst>
              <a:gd name="adj" fmla="val 204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AUTO-DRAFTED INCIDENT REPORT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788920"/>
            <a:ext cx="5029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Summary  ·  2. Conditions Detected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Compound Risk Assessment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Immediate Actions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Regulatory References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Factory Act 1948 §36 / §37 / §38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OISD-STD-105 (Work Permit System)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Corrective Actions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2103120"/>
            <a:ext cx="5148072" cy="1874520"/>
          </a:xfrm>
          <a:prstGeom prst="roundRect">
            <a:avLst>
              <a:gd name="adj" fmla="val 4390"/>
            </a:avLst>
          </a:prstGeom>
          <a:solidFill>
            <a:srgbClr val="1D1206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EVACUATION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75120" y="2606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hazard in COB-1. Evacuate now. Do not operate hot-work or electrical equipment.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English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0956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Telugu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3429000"/>
            <a:ext cx="1097280" cy="365760"/>
          </a:xfrm>
          <a:prstGeom prst="roundRect">
            <a:avLst>
              <a:gd name="adj" fmla="val 12500"/>
            </a:avLst>
          </a:prstGeom>
          <a:solidFill>
            <a:srgbClr val="100C09"/>
          </a:solidFill>
          <a:ln w="12700">
            <a:solidFill>
              <a:srgbClr val="F590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0" y="3429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Hindi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0" y="4160520"/>
            <a:ext cx="5148072" cy="1965960"/>
          </a:xfrm>
          <a:prstGeom prst="roundRect">
            <a:avLst>
              <a:gd name="adj" fmla="val 4186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ACTIONS — PREPARED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675120" y="470916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ct val="125000"/>
              </a:lnSpc>
              <a:buSzPct val="100000"/>
              <a:buChar char="✓"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Suspend hot-work permit PTW-7741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&amp; page response team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sensor + CCTV evidence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preliminary incident report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Measured, not claimed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recall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14 hazards caught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34256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17136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4517136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false-positive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17136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/ 14 incl. inerted decoys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28432" y="2103120"/>
            <a:ext cx="3511296" cy="2011680"/>
          </a:xfrm>
          <a:prstGeom prst="roundRect">
            <a:avLst>
              <a:gd name="adj" fmla="val 4091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2331720"/>
            <a:ext cx="31455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7.4 min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8211312" y="324612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mean early-warning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11312" y="3611880"/>
            <a:ext cx="31455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 single-sensor baseline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08792" cy="1600200"/>
          </a:xfrm>
          <a:prstGeom prst="roundRect">
            <a:avLst>
              <a:gd name="adj" fmla="val 5143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VIZAG RECONSTRUCTION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97280" y="5577840"/>
            <a:ext cx="10058400" cy="0"/>
          </a:xfrm>
          <a:prstGeom prst="line">
            <a:avLst/>
          </a:prstGeom>
          <a:noFill/>
          <a:ln w="19050">
            <a:solidFill>
              <a:srgbClr val="3B2E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3272" y="5513832"/>
            <a:ext cx="146304" cy="146304"/>
          </a:xfrm>
          <a:prstGeom prst="ellipse">
            <a:avLst/>
          </a:prstGeom>
          <a:solidFill>
            <a:srgbClr val="7C6F5E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959352" y="5513832"/>
            <a:ext cx="146304" cy="146304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t8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10896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Trinetra: COMPOUND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14232" y="5513832"/>
            <a:ext cx="146304" cy="146304"/>
          </a:xfrm>
          <a:prstGeom prst="ellipse">
            <a:avLst/>
          </a:prstGeom>
          <a:solidFill>
            <a:srgbClr val="FF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50749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t14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0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Legacy: gas alarm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 min lead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REPLAYED FROM TWO REAL INQUIRIES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Would it catch a real one? Twice.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449824" cy="3200400"/>
          </a:xfrm>
          <a:prstGeom prst="roundRect">
            <a:avLst>
              <a:gd name="adj" fmla="val 2571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U.S. CSB · 2005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6151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BP Texas City refinery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200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+10 min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960120" y="4069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440740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documented vapour-cloud ignition (T+20). 15 killed.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501091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2005-04-I-TX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72784" y="2103120"/>
            <a:ext cx="5449824" cy="3200400"/>
          </a:xfrm>
          <a:prstGeom prst="roundRect">
            <a:avLst>
              <a:gd name="adj" fmla="val 2571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2824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MB LAL COMMITTEE · 2009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2824" y="26151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Indian Oil Jaipur depot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592824" y="3200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+36 min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592824" y="4069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earlier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92824" y="440740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documented ignition (T+48) of a long, undetected vapour build-up. 12 killed.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92824" y="5010912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MB Lal Committee report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9474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48640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reconstructed inputs.  </a:t>
            </a:r>
            <a:pPr indent="0" marL="0">
              <a:buNone/>
            </a:pPr>
            <a:r>
              <a:rPr lang="en-US" sz="11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inquiry's documented escalation is reconstructed into a SCADA feed and replayed through the live engine. Where the site had no gas detector (a finding in both), the documented vapour build-up is mapped to the flammable channel; the ignition and personnel are the inquiry's. In-app: connector → Texas City / Jaipur.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BUSINESS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math a buyer underwrites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937760" cy="3840480"/>
          </a:xfrm>
          <a:prstGeom prst="roundRect">
            <a:avLst>
              <a:gd name="adj" fmla="val 214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PREVENTED INCIDENT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389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₹115.5 Cr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loss — Vizag-class event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9776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protected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0" y="397764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₹7.5 Cr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39826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damage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43982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₹40 Cr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48188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(21 d)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48188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₹63 Cr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239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penalty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0" y="523951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₹5 Cr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52160" y="2011680"/>
            <a:ext cx="5696712" cy="2514600"/>
          </a:xfrm>
          <a:prstGeom prst="roundRect">
            <a:avLst>
              <a:gd name="adj" fmla="val 3273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22128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ANNUAL RETURN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26480" y="2542032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≈7.7×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7726680" y="2542032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annual return on the ₹1 Cr/plant/yr platform — even at a conservative 1-in-15-year event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3.9×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264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1-in-30 yr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9552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7.7×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9552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1-in-15 yr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784080" y="3566160"/>
            <a:ext cx="1737360" cy="804672"/>
          </a:xfrm>
          <a:prstGeom prst="roundRect">
            <a:avLst>
              <a:gd name="adj" fmla="val 1022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84080" y="36576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14.4×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84080" y="407822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1-in-8 yr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852160" y="4663440"/>
            <a:ext cx="5696712" cy="1188720"/>
          </a:xfrm>
          <a:prstGeom prst="roundRect">
            <a:avLst>
              <a:gd name="adj" fmla="val 6923"/>
            </a:avLst>
          </a:prstGeom>
          <a:solidFill>
            <a:srgbClr val="14130F"/>
          </a:solidFill>
          <a:ln w="12700">
            <a:solidFill>
              <a:srgbClr val="6B788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48280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INSURANCE LEVER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102352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premium reduction of ₹0.4–1.2 Cr/yr (5–15% for continuous monitoring) — it offsets the platform cost whether or not an incident ever occurs.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Per-incident loss (lives + asset + downtime + penalty), every figure carries its basis, × a conservative event frequency — not a 116×-per-incident headline.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wedge, a buyer, a trigger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41248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1284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Buyer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743200" y="2212848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process-safety head / safety officer — owns permit-to-work and statutory compliance, carries the fatality risk.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54096"/>
            <a:ext cx="64008" cy="84124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6382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Wedge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43200" y="3163824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Permit-to-work intelligence — one discrete, fundable pain — then expand to full gas + permit + CCTV + shift fusion.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05072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05072"/>
            <a:ext cx="64008" cy="841248"/>
          </a:xfrm>
          <a:prstGeom prst="rect">
            <a:avLst/>
          </a:prstGeom>
          <a:solidFill>
            <a:srgbClr val="F7EFE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743200" y="4114800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~₹1 Cr / plant / yr — justified against a single downtime-day (~₹3 Cr) or one OISD / NGT penalty.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956048"/>
            <a:ext cx="10908792" cy="841248"/>
          </a:xfrm>
          <a:prstGeom prst="roundRect">
            <a:avLst>
              <a:gd name="adj" fmla="val 9783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56048"/>
            <a:ext cx="64008" cy="841248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6577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2743200" y="5065776"/>
            <a:ext cx="8595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Post-LG-Polymers / Vizag regulatory pressure — DGMS scrutiny and mandatory near-miss reporting.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943600"/>
            <a:ext cx="10908792" cy="640080"/>
          </a:xfrm>
          <a:prstGeom prst="roundRect">
            <a:avLst>
              <a:gd name="adj" fmla="val 12857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436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40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design partners (steel / refining) for a 90-day pilot on a live permit-to-work + gas feed.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AN INCUMBENT CAN'T JUST SHIP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moat is the fusion, not the sensors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03120"/>
            <a:ext cx="64008" cy="850392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Incumbents sell the silos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4206240" y="219456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Honeywell, Dräger, MSA, Hexagon sell gas detection, permit-to-work and CCTV as SEPARATE products. The danger lives in the seam BETWEEN them — exactly what no one owns end to end.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3063240"/>
            <a:ext cx="64008" cy="850392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15468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deterministic pattern library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206240" y="315468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compound rules — flammable × ignition × personnel × oxidizer × blast-radius, encoded to real OISD / Factory-Act thresholds — are domain IP, not a model cloned from a public dataset.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02336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4023360"/>
            <a:ext cx="64008" cy="850392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11480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per-plant data moat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206240" y="411480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plant's operator feedback tunes its own nuisance profile (the flywheel) — proprietary data that compounds per site and raises switching cost. An incumbent's fixed hardware doesn't learn.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983480"/>
            <a:ext cx="10908792" cy="850392"/>
          </a:xfrm>
          <a:prstGeom prst="roundRect">
            <a:avLst>
              <a:gd name="adj" fmla="val 9677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4983480"/>
            <a:ext cx="64008" cy="850392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5074920"/>
            <a:ext cx="32004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Audit-grade by construction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206240" y="5074920"/>
            <a:ext cx="713232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deterministic core a safety officer can defend in a statutory audit. A pure-LLM bolt-on can't make a life-safety call a regulator will accept.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989320"/>
            <a:ext cx="10908792" cy="594360"/>
          </a:xfrm>
          <a:prstGeom prst="roundRect">
            <a:avLst>
              <a:gd name="adj" fmla="val 13846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9893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wedge:  </a:t>
            </a:r>
            <a:pPr indent="0" marL="0">
              <a:buNone/>
            </a:pPr>
            <a:r>
              <a:rPr lang="en-US" sz="1250" dirty="0">
                <a:solidFill>
                  <a:srgbClr val="F7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on permit-to-work intelligence — one fundable pain — then own the fused gas + permit + CCTV + shift layer the incumbents are structurally unable to assemble.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SCALES HORIZONTALLY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engine. Every plant.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plants online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852928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52928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852928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monitored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65776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65776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65776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compound now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78624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78624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2B4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78624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workers exposed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491472" y="2103120"/>
            <a:ext cx="2048256" cy="1097280"/>
          </a:xfrm>
          <a:prstGeom prst="roundRect">
            <a:avLst>
              <a:gd name="adj" fmla="val 75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1472" y="2212848"/>
            <a:ext cx="20482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0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+6m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491472" y="2798064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lead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40080" y="3273552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273552"/>
            <a:ext cx="54864" cy="402336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3273552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Visakhapatnam Steel — Coke Ovens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675120" y="327355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CRITICAL · COMPOUND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49840" y="32735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+6m lead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721608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3721608"/>
            <a:ext cx="54864" cy="402336"/>
          </a:xfrm>
          <a:prstGeom prst="rect">
            <a:avLst/>
          </a:prstGeom>
          <a:solidFill>
            <a:srgbClr val="FF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721608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Paradip Refinery — Coker Unit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675120" y="372160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· COMPOUND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149840" y="372160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+4m lead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4169664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4169664"/>
            <a:ext cx="54864" cy="402336"/>
          </a:xfrm>
          <a:prstGeom prst="rect">
            <a:avLst/>
          </a:prstGeom>
          <a:solidFill>
            <a:srgbClr val="F5902B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416966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Dahej Petrochemicals — Gas Cleaning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675120" y="416966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9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· gas, no compound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617720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617720"/>
            <a:ext cx="54864" cy="402336"/>
          </a:xfrm>
          <a:prstGeom prst="rect">
            <a:avLst/>
          </a:prstGeom>
          <a:solidFill>
            <a:srgbClr val="EFC23C"/>
          </a:solidFill>
          <a:ln/>
        </p:spPr>
      </p:sp>
      <p:sp>
        <p:nvSpPr>
          <p:cNvPr id="35" name="Text 33"/>
          <p:cNvSpPr/>
          <p:nvPr/>
        </p:nvSpPr>
        <p:spPr>
          <a:xfrm>
            <a:off x="868680" y="4617720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Ennore Terminal — Utilities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675120" y="4617720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FC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 · gas, no compound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" y="5065776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5065776"/>
            <a:ext cx="54864" cy="402336"/>
          </a:xfrm>
          <a:prstGeom prst="rect">
            <a:avLst/>
          </a:prstGeom>
          <a:solidFill>
            <a:srgbClr val="6B7886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" y="5065776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Bhilai Steel — Blast Furnace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6675120" y="50657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· permits clear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513832"/>
            <a:ext cx="10908792" cy="402336"/>
          </a:xfrm>
          <a:prstGeom prst="roundRect">
            <a:avLst>
              <a:gd name="adj" fmla="val 20455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513832"/>
            <a:ext cx="54864" cy="402336"/>
          </a:xfrm>
          <a:prstGeom prst="rect">
            <a:avLst/>
          </a:prstGeom>
          <a:solidFill>
            <a:srgbClr val="6B7886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5513832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Haldia — Pump House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675120" y="551383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88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 · transient cleared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compound engine across every site — O(zones) per plant, horizontally shardable. Digital-twin sites stand in for live OPC-UA / MQTT feeds; ingesting real plant data is a connector, not a rewrite.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 EARNS ITS TRUST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plant learns its own nuisance profile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Operator verdict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145536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511296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Per-plant threshold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016752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82512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73952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Fewer nuisance pages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87968" y="2148840"/>
            <a:ext cx="365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53728" y="2148840"/>
            <a:ext cx="2505456" cy="777240"/>
          </a:xfrm>
          <a:prstGeom prst="roundRect">
            <a:avLst>
              <a:gd name="adj" fmla="val 10588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45168" y="2148840"/>
            <a:ext cx="23225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 ↑ · faster action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200400"/>
            <a:ext cx="10908792" cy="1280160"/>
          </a:xfrm>
          <a:prstGeom prst="roundRect">
            <a:avLst>
              <a:gd name="adj" fmla="val 6429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649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NON-COMPOUND ALERT THRESHOLD · LEARNED PER PLANT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3749040"/>
            <a:ext cx="6400800" cy="548640"/>
          </a:xfrm>
          <a:prstGeom prst="roundRect">
            <a:avLst>
              <a:gd name="adj" fmla="val 8333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749040"/>
            <a:ext cx="1920240" cy="54864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19" name="Shape 17"/>
          <p:cNvSpPr/>
          <p:nvPr/>
        </p:nvSpPr>
        <p:spPr>
          <a:xfrm>
            <a:off x="2825496" y="3749040"/>
            <a:ext cx="27432" cy="548640"/>
          </a:xfrm>
          <a:prstGeom prst="rect">
            <a:avLst/>
          </a:prstGeom>
          <a:solidFill>
            <a:srgbClr val="FF6A1A"/>
          </a:solidFill>
          <a:ln/>
        </p:spPr>
      </p:sp>
      <p:sp>
        <p:nvSpPr>
          <p:cNvPr id="20" name="Text 18"/>
          <p:cNvSpPr/>
          <p:nvPr/>
        </p:nvSpPr>
        <p:spPr>
          <a:xfrm>
            <a:off x="1024128" y="3749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· auto-ack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42316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26480" y="3749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 →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589520" y="3749040"/>
            <a:ext cx="3959352" cy="548640"/>
          </a:xfrm>
          <a:prstGeom prst="roundRect">
            <a:avLst>
              <a:gd name="adj" fmla="val 15000"/>
            </a:avLst>
          </a:prstGeom>
          <a:solidFill>
            <a:srgbClr val="1F0F0B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0" y="3749040"/>
            <a:ext cx="3959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≥60  HIGH / CRITICAL / COMPOUND — ALWAYS PAGES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FF2B4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2B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RECALL GUARDRAIL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4400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Compound, HIGH and CRITICAL alerts bypass the threshold entirely. Feedback can only ever damp non-compound nuisance pages — never reduce recall.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99632" y="4663440"/>
            <a:ext cx="5349240" cy="1325880"/>
          </a:xfrm>
          <a:prstGeom prst="roundRect">
            <a:avLst>
              <a:gd name="adj" fmla="val 6207"/>
            </a:avLst>
          </a:prstGeom>
          <a:solidFill>
            <a:srgbClr val="100C09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73952" y="48280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FLYWHEEL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73952" y="5138928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confirmed false alarm raises the threshold; a confirmed alert relaxes it. Each plant quietly auto-acknowledges its own routine excursions — fewer nuisance pages, faster action on the ones that matter.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engine is untouched — the benchmark (100% recall / 0% false-positive) is byte-identical with or without feedback.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 &amp; DEPLOY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Sits over the sensors you already have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06040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313432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715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permit-to-work data as-is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447288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04488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4014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→ live plant swaps the data source, not the brain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745736"/>
            <a:ext cx="6217920" cy="1143000"/>
          </a:xfrm>
          <a:prstGeom prst="roundRect">
            <a:avLst>
              <a:gd name="adj" fmla="val 7200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202936"/>
            <a:ext cx="182880" cy="182880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9103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Auditable &amp; hybrid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53126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decisions a safety officer can defend in an audit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23760" y="2148840"/>
            <a:ext cx="4325112" cy="3694176"/>
          </a:xfrm>
          <a:prstGeom prst="roundRect">
            <a:avLst>
              <a:gd name="adj" fmla="val 2228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2377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IT DEPLOYS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98080" y="28346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Steel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9808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coke ovens, blast furnaces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0" y="35844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Refining &amp; Petrochem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38953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OISD permit-to-work regimes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0" y="433425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Mining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98080" y="46451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confined-space &amp; gas hazards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98080" y="508406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 &amp; Chemicals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5394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asset-intensive operations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DEPLOYS OVER YOUR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connector, not a rewrite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 historian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OPC-UA / MQTT / PI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permits · CCTV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45536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5576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48456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pre-filter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648456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debounce + normalise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plant edge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71032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91072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Compound engine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deterministic, O(zones)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decision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796528" y="2377440"/>
            <a:ext cx="320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16568" y="2377440"/>
            <a:ext cx="2505456" cy="1783080"/>
          </a:xfrm>
          <a:prstGeom prst="roundRect">
            <a:avLst>
              <a:gd name="adj" fmla="val 461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2578608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Control-room HMI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99448" y="3090672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split-reality view +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response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5394960" cy="1508760"/>
          </a:xfrm>
          <a:prstGeom prst="roundRect">
            <a:avLst>
              <a:gd name="adj" fmla="val 5455"/>
            </a:avLst>
          </a:prstGeom>
          <a:solidFill>
            <a:srgbClr val="100C09"/>
          </a:solidFill>
          <a:ln w="12700">
            <a:solidFill>
              <a:srgbClr val="FF6A1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908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49834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~700k tags / sec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14400" y="54681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— a 10,000-tag plant assesses in ~14 ms per 1 Hz frame, ~70x real-time on one core. O(zones), one instance per plant, no GPU in the life-safety path.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09360" y="4526280"/>
            <a:ext cx="5239512" cy="1508760"/>
          </a:xfrm>
          <a:prstGeom prst="roundRect">
            <a:avLst>
              <a:gd name="adj" fmla="val 5455"/>
            </a:avLst>
          </a:prstGeom>
          <a:solidFill>
            <a:srgbClr val="15110D"/>
          </a:solidFill>
          <a:ln w="12700">
            <a:solidFill>
              <a:srgbClr val="3B2E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65392" y="47823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681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Standard formats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12280" y="4901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ingests SCADA / IoT / permit data as-is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65392" y="52395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51389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Edge or on-prem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12280" y="53583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has to leave the plant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65392" y="5696712"/>
            <a:ext cx="128016" cy="12801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31" name="Text 29"/>
          <p:cNvSpPr/>
          <p:nvPr/>
        </p:nvSpPr>
        <p:spPr>
          <a:xfrm>
            <a:off x="6812280" y="5596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Deterministic core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12280" y="58155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6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auditable decision a safety officer can defend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89904" y="1097280"/>
            <a:ext cx="411480" cy="82296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01384" y="1920240"/>
            <a:ext cx="-822960" cy="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78424" y="1920240"/>
            <a:ext cx="411480" cy="-822960"/>
          </a:xfrm>
          <a:prstGeom prst="line">
            <a:avLst/>
          </a:prstGeom>
          <a:noFill/>
          <a:ln w="25400">
            <a:solidFill>
              <a:srgbClr val="FF6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17082" y="1529334"/>
            <a:ext cx="345643" cy="226314"/>
          </a:xfrm>
          <a:prstGeom prst="ellipse">
            <a:avLst/>
          </a:prstGeom>
          <a:ln w="19050">
            <a:solidFill>
              <a:srgbClr val="FF6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61100" y="1599286"/>
            <a:ext cx="74066" cy="74066"/>
          </a:xfrm>
          <a:prstGeom prst="ellipse">
            <a:avLst/>
          </a:prstGeom>
          <a:solidFill>
            <a:srgbClr val="FF6A1A"/>
          </a:solidFill>
          <a:ln/>
        </p:spPr>
      </p:sp>
      <p:sp>
        <p:nvSpPr>
          <p:cNvPr id="7" name="Text 5"/>
          <p:cNvSpPr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workers a day.</a:t>
            </a:r>
            <a:endParaRPr lang="en-US" sz="4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7EFE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data already exists.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6A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Trinetra is the layer that acts — before, not after.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0" y="52120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 recall</a:t>
            </a:r>
            <a:pPr algn="ctr" indent="0" marL="0">
              <a:buNone/>
            </a:pPr>
            <a:r>
              <a:rPr lang="en-US" sz="14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 false-positive</a:t>
            </a:r>
            <a:pPr algn="ctr" indent="0" marL="0">
              <a:buNone/>
            </a:pPr>
            <a:r>
              <a:rPr lang="en-US" sz="1400" b="1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·   </a:t>
            </a:r>
            <a:pPr algn="ctr" indent="0" marL="0">
              <a:buNone/>
            </a:pPr>
            <a:r>
              <a:rPr lang="en-US" sz="1400" b="1" dirty="0">
                <a:solidFill>
                  <a:srgbClr val="FF6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7.4 min early-warning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7C6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TRINETRA   ·   Saud Satopay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Trinetra</dc:title>
  <dc:subject>PptxGenJS Presentation</dc:subject>
  <dc:creator>Saud Satopay</dc:creator>
  <cp:lastModifiedBy>Saud Satopay</cp:lastModifiedBy>
  <cp:revision>1</cp:revision>
  <dcterms:created xsi:type="dcterms:W3CDTF">2026-06-23T19:57:36Z</dcterms:created>
  <dcterms:modified xsi:type="dcterms:W3CDTF">2026-06-23T19:57:36Z</dcterms:modified>
</cp:coreProperties>
</file>