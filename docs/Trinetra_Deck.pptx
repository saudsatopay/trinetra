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89904" y="1325880"/>
            <a:ext cx="457200" cy="914400"/>
          </a:xfrm>
          <a:prstGeom prst="line">
            <a:avLst/>
          </a:prstGeom>
          <a:noFill/>
          <a:ln w="25400">
            <a:solidFill>
              <a:srgbClr val="FF6A1A"/>
            </a:solidFill>
            <a:prstDash val="solid"/>
          </a:ln>
        </p:spPr>
      </p:sp>
      <p:sp>
        <p:nvSpPr>
          <p:cNvPr id="3" name="Shape 1"/>
          <p:cNvSpPr/>
          <p:nvPr/>
        </p:nvSpPr>
        <p:spPr>
          <a:xfrm>
            <a:off x="5632704" y="2240280"/>
            <a:ext cx="914400" cy="0"/>
          </a:xfrm>
          <a:prstGeom prst="line">
            <a:avLst/>
          </a:prstGeom>
          <a:noFill/>
          <a:ln w="25400">
            <a:solidFill>
              <a:srgbClr val="FF6A1A"/>
            </a:solidFill>
            <a:prstDash val="solid"/>
          </a:ln>
        </p:spPr>
      </p:sp>
      <p:sp>
        <p:nvSpPr>
          <p:cNvPr id="4" name="Shape 2"/>
          <p:cNvSpPr/>
          <p:nvPr/>
        </p:nvSpPr>
        <p:spPr>
          <a:xfrm flipH="1">
            <a:off x="5632704" y="1325880"/>
            <a:ext cx="457200" cy="914400"/>
          </a:xfrm>
          <a:prstGeom prst="line">
            <a:avLst/>
          </a:prstGeom>
          <a:noFill/>
          <a:ln w="25400">
            <a:solidFill>
              <a:srgbClr val="FF6A1A"/>
            </a:solidFill>
            <a:prstDash val="solid"/>
          </a:ln>
        </p:spPr>
      </p:sp>
      <p:sp>
        <p:nvSpPr>
          <p:cNvPr id="5" name="Shape 3"/>
          <p:cNvSpPr/>
          <p:nvPr/>
        </p:nvSpPr>
        <p:spPr>
          <a:xfrm>
            <a:off x="5897880" y="1805940"/>
            <a:ext cx="384048" cy="251460"/>
          </a:xfrm>
          <a:prstGeom prst="ellipse">
            <a:avLst/>
          </a:prstGeom>
          <a:ln w="19050">
            <a:solidFill>
              <a:srgbClr val="FF6A1A"/>
            </a:solidFill>
            <a:prstDash val="solid"/>
          </a:ln>
        </p:spPr>
      </p:sp>
      <p:sp>
        <p:nvSpPr>
          <p:cNvPr id="6" name="Shape 4"/>
          <p:cNvSpPr/>
          <p:nvPr/>
        </p:nvSpPr>
        <p:spPr>
          <a:xfrm>
            <a:off x="6057900" y="1883664"/>
            <a:ext cx="82296" cy="82296"/>
          </a:xfrm>
          <a:prstGeom prst="ellipse">
            <a:avLst/>
          </a:prstGeom>
          <a:solidFill>
            <a:srgbClr val="FF6A1A"/>
          </a:solidFill>
          <a:ln/>
        </p:spPr>
      </p:sp>
      <p:sp>
        <p:nvSpPr>
          <p:cNvPr id="7" name="Text 5"/>
          <p:cNvSpPr/>
          <p:nvPr/>
        </p:nvSpPr>
        <p:spPr>
          <a:xfrm>
            <a:off x="0" y="2194560"/>
            <a:ext cx="12191695" cy="1097280"/>
          </a:xfrm>
          <a:prstGeom prst="rect">
            <a:avLst/>
          </a:prstGeom>
          <a:noFill/>
          <a:ln/>
        </p:spPr>
        <p:txBody>
          <a:bodyPr wrap="square" lIns="0" tIns="0" rIns="0" bIns="0" rtlCol="0" anchor="ctr"/>
          <a:lstStyle/>
          <a:p>
            <a:pPr algn="ctr" indent="0" marL="0">
              <a:buNone/>
            </a:pPr>
            <a:r>
              <a:rPr lang="en-US" sz="6200" b="1" spc="1000" kern="0" dirty="0">
                <a:solidFill>
                  <a:srgbClr val="F7EFE1"/>
                </a:solidFill>
                <a:latin typeface="Trebuchet MS" pitchFamily="34" charset="0"/>
                <a:ea typeface="Trebuchet MS" pitchFamily="34" charset="-122"/>
                <a:cs typeface="Trebuchet MS" pitchFamily="34" charset="-120"/>
              </a:rPr>
              <a:t>TRINETRA</a:t>
            </a:r>
            <a:endParaRPr lang="en-US" sz="6200" dirty="0"/>
          </a:p>
        </p:txBody>
      </p:sp>
      <p:sp>
        <p:nvSpPr>
          <p:cNvPr id="8" name="Text 6"/>
          <p:cNvSpPr/>
          <p:nvPr/>
        </p:nvSpPr>
        <p:spPr>
          <a:xfrm>
            <a:off x="0" y="3383280"/>
            <a:ext cx="12191695" cy="365760"/>
          </a:xfrm>
          <a:prstGeom prst="rect">
            <a:avLst/>
          </a:prstGeom>
          <a:noFill/>
          <a:ln/>
        </p:spPr>
        <p:txBody>
          <a:bodyPr wrap="square" lIns="0" tIns="0" rIns="0" bIns="0" rtlCol="0" anchor="ctr"/>
          <a:lstStyle/>
          <a:p>
            <a:pPr algn="ctr" indent="0" marL="0">
              <a:buNone/>
            </a:pPr>
            <a:r>
              <a:rPr lang="en-US" sz="1300" spc="200" kern="0" dirty="0">
                <a:solidFill>
                  <a:srgbClr val="FF6A1A"/>
                </a:solidFill>
                <a:latin typeface="Consolas" pitchFamily="34" charset="0"/>
                <a:ea typeface="Consolas" pitchFamily="34" charset="-122"/>
                <a:cs typeface="Consolas" pitchFamily="34" charset="-120"/>
              </a:rPr>
              <a:t>THE THIRD EYE THAT SEES THE DANGER NO SINGLE SENSOR CAN</a:t>
            </a:r>
            <a:endParaRPr lang="en-US" sz="1300" dirty="0"/>
          </a:p>
        </p:txBody>
      </p:sp>
      <p:sp>
        <p:nvSpPr>
          <p:cNvPr id="9" name="Text 7"/>
          <p:cNvSpPr/>
          <p:nvPr/>
        </p:nvSpPr>
        <p:spPr>
          <a:xfrm>
            <a:off x="0" y="3794760"/>
            <a:ext cx="12191695" cy="365760"/>
          </a:xfrm>
          <a:prstGeom prst="rect">
            <a:avLst/>
          </a:prstGeom>
          <a:noFill/>
          <a:ln/>
        </p:spPr>
        <p:txBody>
          <a:bodyPr wrap="square" lIns="0" tIns="0" rIns="0" bIns="0" rtlCol="0" anchor="ctr"/>
          <a:lstStyle/>
          <a:p>
            <a:pPr algn="ctr" indent="0" marL="0">
              <a:buNone/>
            </a:pPr>
            <a:r>
              <a:rPr lang="en-US" sz="1600" dirty="0">
                <a:solidFill>
                  <a:srgbClr val="7C6F5E"/>
                </a:solidFill>
                <a:latin typeface="Calibri" pitchFamily="34" charset="0"/>
                <a:ea typeface="Calibri" pitchFamily="34" charset="-122"/>
                <a:cs typeface="Calibri" pitchFamily="34" charset="-120"/>
              </a:rPr>
              <a:t>AI compound-risk intelligence for zero-harm industrial operations</a:t>
            </a:r>
            <a:endParaRPr lang="en-US" sz="1600" dirty="0"/>
          </a:p>
        </p:txBody>
      </p:sp>
      <p:sp>
        <p:nvSpPr>
          <p:cNvPr id="10" name="Text 8"/>
          <p:cNvSpPr/>
          <p:nvPr/>
        </p:nvSpPr>
        <p:spPr>
          <a:xfrm>
            <a:off x="0" y="5212080"/>
            <a:ext cx="12191695" cy="365760"/>
          </a:xfrm>
          <a:prstGeom prst="rect">
            <a:avLst/>
          </a:prstGeom>
          <a:noFill/>
          <a:ln/>
        </p:spPr>
        <p:txBody>
          <a:bodyPr wrap="square" lIns="0" tIns="0" rIns="0" bIns="0" rtlCol="0" anchor="ctr"/>
          <a:lstStyle/>
          <a:p>
            <a:pPr algn="ctr" indent="0" marL="0">
              <a:buNone/>
            </a:pPr>
            <a:r>
              <a:rPr lang="en-US" sz="1300" b="1" dirty="0">
                <a:solidFill>
                  <a:srgbClr val="FF6A1A"/>
                </a:solidFill>
                <a:latin typeface="Consolas" pitchFamily="34" charset="0"/>
                <a:ea typeface="Consolas" pitchFamily="34" charset="-122"/>
                <a:cs typeface="Consolas" pitchFamily="34" charset="-120"/>
              </a:rPr>
              <a:t>100% compound recall</a:t>
            </a:r>
            <a:pPr algn="ctr" indent="0" marL="0">
              <a:buNone/>
            </a:pPr>
            <a:r>
              <a:rPr lang="en-US" sz="1300" b="1" dirty="0">
                <a:solidFill>
                  <a:srgbClr val="7C6F5E"/>
                </a:solidFill>
                <a:latin typeface="Consolas" pitchFamily="34" charset="0"/>
                <a:ea typeface="Consolas" pitchFamily="34" charset="-122"/>
                <a:cs typeface="Consolas" pitchFamily="34" charset="-120"/>
              </a:rPr>
              <a:t>    ·    </a:t>
            </a:r>
            <a:pPr algn="ctr" indent="0" marL="0">
              <a:buNone/>
            </a:pPr>
            <a:r>
              <a:rPr lang="en-US" sz="1300" b="1" dirty="0">
                <a:solidFill>
                  <a:srgbClr val="FF6A1A"/>
                </a:solidFill>
                <a:latin typeface="Consolas" pitchFamily="34" charset="0"/>
                <a:ea typeface="Consolas" pitchFamily="34" charset="-122"/>
                <a:cs typeface="Consolas" pitchFamily="34" charset="-120"/>
              </a:rPr>
              <a:t>0% false-positive</a:t>
            </a:r>
            <a:pPr algn="ctr" indent="0" marL="0">
              <a:buNone/>
            </a:pPr>
            <a:r>
              <a:rPr lang="en-US" sz="1300" b="1" dirty="0">
                <a:solidFill>
                  <a:srgbClr val="7C6F5E"/>
                </a:solidFill>
                <a:latin typeface="Consolas" pitchFamily="34" charset="0"/>
                <a:ea typeface="Consolas" pitchFamily="34" charset="-122"/>
                <a:cs typeface="Consolas" pitchFamily="34" charset="-120"/>
              </a:rPr>
              <a:t>    ·    </a:t>
            </a:r>
            <a:pPr algn="ctr" indent="0" marL="0">
              <a:buNone/>
            </a:pPr>
            <a:r>
              <a:rPr lang="en-US" sz="1300" b="1" dirty="0">
                <a:solidFill>
                  <a:srgbClr val="FF6A1A"/>
                </a:solidFill>
                <a:latin typeface="Consolas" pitchFamily="34" charset="0"/>
                <a:ea typeface="Consolas" pitchFamily="34" charset="-122"/>
                <a:cs typeface="Consolas" pitchFamily="34" charset="-120"/>
              </a:rPr>
              <a:t>7.4 min mean early-warning</a:t>
            </a:r>
            <a:endParaRPr lang="en-US" sz="1300" dirty="0"/>
          </a:p>
        </p:txBody>
      </p:sp>
      <p:sp>
        <p:nvSpPr>
          <p:cNvPr id="11" name="Text 9"/>
          <p:cNvSpPr/>
          <p:nvPr/>
        </p:nvSpPr>
        <p:spPr>
          <a:xfrm>
            <a:off x="0" y="6126480"/>
            <a:ext cx="12191695" cy="27432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Saud Satopay   ·   ET AI Hackathon 2.0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PROBLEM</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Data present. Unacted upon.</a:t>
            </a:r>
            <a:endParaRPr lang="en-US" sz="3400" dirty="0"/>
          </a:p>
        </p:txBody>
      </p:sp>
      <p:sp>
        <p:nvSpPr>
          <p:cNvPr id="4" name="Text 2"/>
          <p:cNvSpPr/>
          <p:nvPr/>
        </p:nvSpPr>
        <p:spPr>
          <a:xfrm>
            <a:off x="640080" y="2011680"/>
            <a:ext cx="6126480" cy="2743200"/>
          </a:xfrm>
          <a:prstGeom prst="rect">
            <a:avLst/>
          </a:prstGeom>
          <a:noFill/>
          <a:ln/>
        </p:spPr>
        <p:txBody>
          <a:bodyPr wrap="square" lIns="0" tIns="0" rIns="0" bIns="0" rtlCol="0" anchor="t"/>
          <a:lstStyle/>
          <a:p>
            <a:pPr indent="0" marL="0">
              <a:lnSpc>
                <a:spcPct val="125000"/>
              </a:lnSpc>
              <a:buNone/>
            </a:pPr>
            <a:r>
              <a:rPr lang="en-US" sz="1800" b="1" dirty="0">
                <a:solidFill>
                  <a:srgbClr val="F7EFE1"/>
                </a:solidFill>
                <a:latin typeface="Calibri" pitchFamily="34" charset="0"/>
                <a:ea typeface="Calibri" pitchFamily="34" charset="-122"/>
                <a:cs typeface="Calibri" pitchFamily="34" charset="-120"/>
              </a:rPr>
              <a:t>On 13 January 2025, eight workers died</a:t>
            </a:r>
            <a:endParaRPr lang="en-US" sz="1800" dirty="0"/>
          </a:p>
          <a:p>
            <a:pPr indent="0" marL="0">
              <a:lnSpc>
                <a:spcPct val="125000"/>
              </a:lnSpc>
              <a:buNone/>
            </a:pPr>
            <a:r>
              <a:rPr lang="en-US" sz="1800" dirty="0">
                <a:solidFill>
                  <a:srgbClr val="C6B9A6"/>
                </a:solidFill>
                <a:latin typeface="Calibri" pitchFamily="34" charset="0"/>
                <a:ea typeface="Calibri" pitchFamily="34" charset="-122"/>
                <a:cs typeface="Calibri" pitchFamily="34" charset="-120"/>
              </a:rPr>
              <a:t>in a coke-oven-battery explosion at the Visakhapatnam Steel Plant.</a:t>
            </a:r>
            <a:endParaRPr lang="en-US" sz="1800" dirty="0"/>
          </a:p>
          <a:p>
            <a:pPr indent="0" marL="0">
              <a:lnSpc>
                <a:spcPct val="125000"/>
              </a:lnSpc>
              <a:buNone/>
            </a:pPr>
            <a:endParaRPr lang="en-US" sz="1800" dirty="0"/>
          </a:p>
          <a:p>
            <a:pPr indent="0" marL="0">
              <a:lnSpc>
                <a:spcPct val="125000"/>
              </a:lnSpc>
              <a:buNone/>
            </a:pPr>
            <a:r>
              <a:rPr lang="en-US" sz="1800" dirty="0">
                <a:solidFill>
                  <a:srgbClr val="C6B9A6"/>
                </a:solidFill>
                <a:latin typeface="Calibri" pitchFamily="34" charset="0"/>
                <a:ea typeface="Calibri" pitchFamily="34" charset="-122"/>
                <a:cs typeface="Calibri" pitchFamily="34" charset="-120"/>
              </a:rPr>
              <a:t>The gas sensors had data. The permits were logged. SCADA was running.</a:t>
            </a:r>
            <a:endParaRPr lang="en-US" sz="1800" dirty="0"/>
          </a:p>
          <a:p>
            <a:pPr indent="0" marL="0">
              <a:lnSpc>
                <a:spcPct val="125000"/>
              </a:lnSpc>
              <a:buNone/>
            </a:pPr>
            <a:r>
              <a:rPr lang="en-US" sz="1800" b="1" dirty="0">
                <a:solidFill>
                  <a:srgbClr val="FF2B4E"/>
                </a:solidFill>
                <a:latin typeface="Calibri" pitchFamily="34" charset="0"/>
                <a:ea typeface="Calibri" pitchFamily="34" charset="-122"/>
                <a:cs typeface="Calibri" pitchFamily="34" charset="-120"/>
              </a:rPr>
              <a:t>No layer connected those signals in time.</a:t>
            </a:r>
            <a:endParaRPr lang="en-US" sz="1800" dirty="0"/>
          </a:p>
        </p:txBody>
      </p:sp>
      <p:sp>
        <p:nvSpPr>
          <p:cNvPr id="5" name="Shape 3"/>
          <p:cNvSpPr/>
          <p:nvPr/>
        </p:nvSpPr>
        <p:spPr>
          <a:xfrm>
            <a:off x="7223760" y="1874520"/>
            <a:ext cx="4297680" cy="1298448"/>
          </a:xfrm>
          <a:prstGeom prst="roundRect">
            <a:avLst>
              <a:gd name="adj" fmla="val 6338"/>
            </a:avLst>
          </a:prstGeom>
          <a:solidFill>
            <a:srgbClr val="15110D"/>
          </a:solidFill>
          <a:ln w="12700">
            <a:solidFill>
              <a:srgbClr val="3B2E22"/>
            </a:solidFill>
            <a:prstDash val="solid"/>
          </a:ln>
        </p:spPr>
      </p:sp>
      <p:sp>
        <p:nvSpPr>
          <p:cNvPr id="6" name="Shape 4"/>
          <p:cNvSpPr/>
          <p:nvPr/>
        </p:nvSpPr>
        <p:spPr>
          <a:xfrm>
            <a:off x="7223760" y="1874520"/>
            <a:ext cx="64008" cy="1298448"/>
          </a:xfrm>
          <a:prstGeom prst="rect">
            <a:avLst/>
          </a:prstGeom>
          <a:solidFill>
            <a:srgbClr val="FF2B4E"/>
          </a:solidFill>
          <a:ln/>
        </p:spPr>
      </p:sp>
      <p:sp>
        <p:nvSpPr>
          <p:cNvPr id="7" name="Text 5"/>
          <p:cNvSpPr/>
          <p:nvPr/>
        </p:nvSpPr>
        <p:spPr>
          <a:xfrm>
            <a:off x="7498080" y="2057400"/>
            <a:ext cx="1691640" cy="914400"/>
          </a:xfrm>
          <a:prstGeom prst="rect">
            <a:avLst/>
          </a:prstGeom>
          <a:noFill/>
          <a:ln/>
        </p:spPr>
        <p:txBody>
          <a:bodyPr wrap="square" lIns="0" tIns="0" rIns="0" bIns="0" rtlCol="0" anchor="ctr"/>
          <a:lstStyle/>
          <a:p>
            <a:pPr indent="0" marL="0">
              <a:buNone/>
            </a:pPr>
            <a:r>
              <a:rPr lang="en-US" sz="3300" b="1" dirty="0">
                <a:solidFill>
                  <a:srgbClr val="FF2B4E"/>
                </a:solidFill>
                <a:latin typeface="Trebuchet MS" pitchFamily="34" charset="0"/>
                <a:ea typeface="Trebuchet MS" pitchFamily="34" charset="-122"/>
                <a:cs typeface="Trebuchet MS" pitchFamily="34" charset="-120"/>
              </a:rPr>
              <a:t>8</a:t>
            </a:r>
            <a:endParaRPr lang="en-US" sz="3300" dirty="0"/>
          </a:p>
        </p:txBody>
      </p:sp>
      <p:sp>
        <p:nvSpPr>
          <p:cNvPr id="8" name="Text 6"/>
          <p:cNvSpPr/>
          <p:nvPr/>
        </p:nvSpPr>
        <p:spPr>
          <a:xfrm>
            <a:off x="9235440" y="2057400"/>
            <a:ext cx="2194560" cy="91440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workers killed at Vizag, Jan 2025</a:t>
            </a:r>
            <a:endParaRPr lang="en-US" sz="1300" dirty="0"/>
          </a:p>
        </p:txBody>
      </p:sp>
      <p:sp>
        <p:nvSpPr>
          <p:cNvPr id="9" name="Shape 7"/>
          <p:cNvSpPr/>
          <p:nvPr/>
        </p:nvSpPr>
        <p:spPr>
          <a:xfrm>
            <a:off x="7223760" y="3355848"/>
            <a:ext cx="4297680" cy="1298448"/>
          </a:xfrm>
          <a:prstGeom prst="roundRect">
            <a:avLst>
              <a:gd name="adj" fmla="val 6338"/>
            </a:avLst>
          </a:prstGeom>
          <a:solidFill>
            <a:srgbClr val="15110D"/>
          </a:solidFill>
          <a:ln w="12700">
            <a:solidFill>
              <a:srgbClr val="3B2E22"/>
            </a:solidFill>
            <a:prstDash val="solid"/>
          </a:ln>
        </p:spPr>
      </p:sp>
      <p:sp>
        <p:nvSpPr>
          <p:cNvPr id="10" name="Shape 8"/>
          <p:cNvSpPr/>
          <p:nvPr/>
        </p:nvSpPr>
        <p:spPr>
          <a:xfrm>
            <a:off x="7223760" y="3355848"/>
            <a:ext cx="64008" cy="1298448"/>
          </a:xfrm>
          <a:prstGeom prst="rect">
            <a:avLst/>
          </a:prstGeom>
          <a:solidFill>
            <a:srgbClr val="F5902B"/>
          </a:solidFill>
          <a:ln/>
        </p:spPr>
      </p:sp>
      <p:sp>
        <p:nvSpPr>
          <p:cNvPr id="11" name="Text 9"/>
          <p:cNvSpPr/>
          <p:nvPr/>
        </p:nvSpPr>
        <p:spPr>
          <a:xfrm>
            <a:off x="7498080" y="3538728"/>
            <a:ext cx="1691640" cy="914400"/>
          </a:xfrm>
          <a:prstGeom prst="rect">
            <a:avLst/>
          </a:prstGeom>
          <a:noFill/>
          <a:ln/>
        </p:spPr>
        <p:txBody>
          <a:bodyPr wrap="square" lIns="0" tIns="0" rIns="0" bIns="0" rtlCol="0" anchor="ctr"/>
          <a:lstStyle/>
          <a:p>
            <a:pPr indent="0" marL="0">
              <a:buNone/>
            </a:pPr>
            <a:r>
              <a:rPr lang="en-US" sz="3300" b="1" dirty="0">
                <a:solidFill>
                  <a:srgbClr val="F5902B"/>
                </a:solidFill>
                <a:latin typeface="Trebuchet MS" pitchFamily="34" charset="0"/>
                <a:ea typeface="Trebuchet MS" pitchFamily="34" charset="-122"/>
                <a:cs typeface="Trebuchet MS" pitchFamily="34" charset="-120"/>
              </a:rPr>
              <a:t>3 / day</a:t>
            </a:r>
            <a:endParaRPr lang="en-US" sz="3300" dirty="0"/>
          </a:p>
        </p:txBody>
      </p:sp>
      <p:sp>
        <p:nvSpPr>
          <p:cNvPr id="12" name="Text 10"/>
          <p:cNvSpPr/>
          <p:nvPr/>
        </p:nvSpPr>
        <p:spPr>
          <a:xfrm>
            <a:off x="9235440" y="3538728"/>
            <a:ext cx="2194560" cy="91440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deaths in India's registered factories (DGFASLI)</a:t>
            </a:r>
            <a:endParaRPr lang="en-US" sz="1300" dirty="0"/>
          </a:p>
        </p:txBody>
      </p:sp>
      <p:sp>
        <p:nvSpPr>
          <p:cNvPr id="13" name="Shape 11"/>
          <p:cNvSpPr/>
          <p:nvPr/>
        </p:nvSpPr>
        <p:spPr>
          <a:xfrm>
            <a:off x="7223760" y="4837176"/>
            <a:ext cx="4297680" cy="1298448"/>
          </a:xfrm>
          <a:prstGeom prst="roundRect">
            <a:avLst>
              <a:gd name="adj" fmla="val 6338"/>
            </a:avLst>
          </a:prstGeom>
          <a:solidFill>
            <a:srgbClr val="15110D"/>
          </a:solidFill>
          <a:ln w="12700">
            <a:solidFill>
              <a:srgbClr val="3B2E22"/>
            </a:solidFill>
            <a:prstDash val="solid"/>
          </a:ln>
        </p:spPr>
      </p:sp>
      <p:sp>
        <p:nvSpPr>
          <p:cNvPr id="14" name="Shape 12"/>
          <p:cNvSpPr/>
          <p:nvPr/>
        </p:nvSpPr>
        <p:spPr>
          <a:xfrm>
            <a:off x="7223760" y="4837176"/>
            <a:ext cx="64008" cy="1298448"/>
          </a:xfrm>
          <a:prstGeom prst="rect">
            <a:avLst/>
          </a:prstGeom>
          <a:solidFill>
            <a:srgbClr val="FF6A1A"/>
          </a:solidFill>
          <a:ln/>
        </p:spPr>
      </p:sp>
      <p:sp>
        <p:nvSpPr>
          <p:cNvPr id="15" name="Text 13"/>
          <p:cNvSpPr/>
          <p:nvPr/>
        </p:nvSpPr>
        <p:spPr>
          <a:xfrm>
            <a:off x="7498080" y="5020056"/>
            <a:ext cx="1691640" cy="914400"/>
          </a:xfrm>
          <a:prstGeom prst="rect">
            <a:avLst/>
          </a:prstGeom>
          <a:noFill/>
          <a:ln/>
        </p:spPr>
        <p:txBody>
          <a:bodyPr wrap="square" lIns="0" tIns="0" rIns="0" bIns="0" rtlCol="0" anchor="ctr"/>
          <a:lstStyle/>
          <a:p>
            <a:pPr indent="0" marL="0">
              <a:buNone/>
            </a:pPr>
            <a:r>
              <a:rPr lang="en-US" sz="3300" b="1" dirty="0">
                <a:solidFill>
                  <a:srgbClr val="FF6A1A"/>
                </a:solidFill>
                <a:latin typeface="Trebuchet MS" pitchFamily="34" charset="0"/>
                <a:ea typeface="Trebuchet MS" pitchFamily="34" charset="-122"/>
                <a:cs typeface="Trebuchet MS" pitchFamily="34" charset="-120"/>
              </a:rPr>
              <a:t>0</a:t>
            </a:r>
            <a:endParaRPr lang="en-US" sz="3300" dirty="0"/>
          </a:p>
        </p:txBody>
      </p:sp>
      <p:sp>
        <p:nvSpPr>
          <p:cNvPr id="16" name="Text 14"/>
          <p:cNvSpPr/>
          <p:nvPr/>
        </p:nvSpPr>
        <p:spPr>
          <a:xfrm>
            <a:off x="9235440" y="5020056"/>
            <a:ext cx="2194560" cy="91440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layers connected those signals in time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VALIDATED BY THE FIELD</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A veteran describes the exact failure mode</a:t>
            </a:r>
            <a:endParaRPr lang="en-US" sz="3400" dirty="0"/>
          </a:p>
        </p:txBody>
      </p:sp>
      <p:sp>
        <p:nvSpPr>
          <p:cNvPr id="4" name="Shape 2"/>
          <p:cNvSpPr/>
          <p:nvPr/>
        </p:nvSpPr>
        <p:spPr>
          <a:xfrm>
            <a:off x="640080" y="1783080"/>
            <a:ext cx="10908792" cy="2788920"/>
          </a:xfrm>
          <a:prstGeom prst="roundRect">
            <a:avLst>
              <a:gd name="adj" fmla="val 2951"/>
            </a:avLst>
          </a:prstGeom>
          <a:solidFill>
            <a:srgbClr val="15110D"/>
          </a:solidFill>
          <a:ln w="12700">
            <a:solidFill>
              <a:srgbClr val="3B2E22"/>
            </a:solidFill>
            <a:prstDash val="solid"/>
          </a:ln>
        </p:spPr>
      </p:sp>
      <p:sp>
        <p:nvSpPr>
          <p:cNvPr id="5" name="Shape 3"/>
          <p:cNvSpPr/>
          <p:nvPr/>
        </p:nvSpPr>
        <p:spPr>
          <a:xfrm>
            <a:off x="640080" y="1783080"/>
            <a:ext cx="64008" cy="2788920"/>
          </a:xfrm>
          <a:prstGeom prst="rect">
            <a:avLst/>
          </a:prstGeom>
          <a:solidFill>
            <a:srgbClr val="FF6A1A"/>
          </a:solidFill>
          <a:ln/>
        </p:spPr>
      </p:sp>
      <p:sp>
        <p:nvSpPr>
          <p:cNvPr id="6" name="Text 4"/>
          <p:cNvSpPr/>
          <p:nvPr/>
        </p:nvSpPr>
        <p:spPr>
          <a:xfrm>
            <a:off x="1051560" y="2103120"/>
            <a:ext cx="10332720" cy="1874520"/>
          </a:xfrm>
          <a:prstGeom prst="rect">
            <a:avLst/>
          </a:prstGeom>
          <a:noFill/>
          <a:ln/>
        </p:spPr>
        <p:txBody>
          <a:bodyPr wrap="square" lIns="0" tIns="0" rIns="0" bIns="0" rtlCol="0" anchor="t"/>
          <a:lstStyle/>
          <a:p>
            <a:pPr indent="0" marL="0">
              <a:lnSpc>
                <a:spcPct val="118000"/>
              </a:lnSpc>
              <a:buNone/>
            </a:pPr>
            <a:r>
              <a:rPr lang="en-US" sz="1800" i="1" dirty="0">
                <a:solidFill>
                  <a:srgbClr val="F7EFE1"/>
                </a:solidFill>
                <a:latin typeface="Calibri" pitchFamily="34" charset="0"/>
                <a:ea typeface="Calibri" pitchFamily="34" charset="-122"/>
                <a:cs typeface="Calibri" pitchFamily="34" charset="-120"/>
              </a:rPr>
              <a:t>In more than 30 years in gas and heavy industry, the worst incidents were never one single failure. They were usually three or four small things lining up at the same time, each looking acceptable on its own. Most of the time, nothing actually flagged that combination before it became a serious event — that's where experience, communication, and a strong safety culture make the difference.</a:t>
            </a:r>
            <a:endParaRPr lang="en-US" sz="1800" dirty="0"/>
          </a:p>
        </p:txBody>
      </p:sp>
      <p:sp>
        <p:nvSpPr>
          <p:cNvPr id="7" name="Text 5"/>
          <p:cNvSpPr/>
          <p:nvPr/>
        </p:nvSpPr>
        <p:spPr>
          <a:xfrm>
            <a:off x="1051560" y="4114800"/>
            <a:ext cx="10332720" cy="320040"/>
          </a:xfrm>
          <a:prstGeom prst="rect">
            <a:avLst/>
          </a:prstGeom>
          <a:noFill/>
          <a:ln/>
        </p:spPr>
        <p:txBody>
          <a:bodyPr wrap="square" lIns="0" tIns="0" rIns="0" bIns="0" rtlCol="0" anchor="ctr"/>
          <a:lstStyle/>
          <a:p>
            <a:pPr indent="0" marL="0">
              <a:buNone/>
            </a:pPr>
            <a:r>
              <a:rPr lang="en-US" sz="1250" dirty="0">
                <a:solidFill>
                  <a:srgbClr val="FF6A1A"/>
                </a:solidFill>
                <a:latin typeface="Consolas" pitchFamily="34" charset="0"/>
                <a:ea typeface="Consolas" pitchFamily="34" charset="-122"/>
                <a:cs typeface="Consolas" pitchFamily="34" charset="-120"/>
              </a:rPr>
              <a:t>— Nishat Mulla, Plant Manager · 30+ years across gas &amp; heavy industry</a:t>
            </a:r>
            <a:endParaRPr lang="en-US" sz="1250" dirty="0"/>
          </a:p>
        </p:txBody>
      </p:sp>
      <p:sp>
        <p:nvSpPr>
          <p:cNvPr id="8" name="Shape 6"/>
          <p:cNvSpPr/>
          <p:nvPr/>
        </p:nvSpPr>
        <p:spPr>
          <a:xfrm>
            <a:off x="640080" y="4800600"/>
            <a:ext cx="10908792" cy="1371600"/>
          </a:xfrm>
          <a:prstGeom prst="roundRect">
            <a:avLst>
              <a:gd name="adj" fmla="val 6000"/>
            </a:avLst>
          </a:prstGeom>
          <a:solidFill>
            <a:srgbClr val="100C09"/>
          </a:solidFill>
          <a:ln w="12700">
            <a:solidFill>
              <a:srgbClr val="3B2E22"/>
            </a:solidFill>
            <a:prstDash val="solid"/>
          </a:ln>
        </p:spPr>
      </p:sp>
      <p:sp>
        <p:nvSpPr>
          <p:cNvPr id="9" name="Text 7"/>
          <p:cNvSpPr/>
          <p:nvPr/>
        </p:nvSpPr>
        <p:spPr>
          <a:xfrm>
            <a:off x="914400" y="4956048"/>
            <a:ext cx="5486400" cy="274320"/>
          </a:xfrm>
          <a:prstGeom prst="rect">
            <a:avLst/>
          </a:prstGeom>
          <a:noFill/>
          <a:ln/>
        </p:spPr>
        <p:txBody>
          <a:bodyPr wrap="square" lIns="0" tIns="0" rIns="0" bIns="0" rtlCol="0" anchor="ctr"/>
          <a:lstStyle/>
          <a:p>
            <a:pPr indent="0" marL="0">
              <a:buNone/>
            </a:pPr>
            <a:r>
              <a:rPr lang="en-US" sz="1100" spc="200" kern="0" dirty="0">
                <a:solidFill>
                  <a:srgbClr val="7C6F5E"/>
                </a:solidFill>
                <a:latin typeface="Consolas" pitchFamily="34" charset="0"/>
                <a:ea typeface="Consolas" pitchFamily="34" charset="-122"/>
                <a:cs typeface="Consolas" pitchFamily="34" charset="-120"/>
              </a:rPr>
              <a:t>TRINETRA — OUR RESPONSE</a:t>
            </a:r>
            <a:endParaRPr lang="en-US" sz="1100" dirty="0"/>
          </a:p>
        </p:txBody>
      </p:sp>
      <p:sp>
        <p:nvSpPr>
          <p:cNvPr id="10" name="Text 8"/>
          <p:cNvSpPr/>
          <p:nvPr/>
        </p:nvSpPr>
        <p:spPr>
          <a:xfrm>
            <a:off x="914400" y="5248656"/>
            <a:ext cx="10424160" cy="841248"/>
          </a:xfrm>
          <a:prstGeom prst="rect">
            <a:avLst/>
          </a:prstGeom>
          <a:noFill/>
          <a:ln/>
        </p:spPr>
        <p:txBody>
          <a:bodyPr wrap="square" lIns="0" tIns="0" rIns="0" bIns="0" rtlCol="0" anchor="t"/>
          <a:lstStyle/>
          <a:p>
            <a:pPr indent="0" marL="0">
              <a:lnSpc>
                <a:spcPct val="114000"/>
              </a:lnSpc>
              <a:buNone/>
            </a:pPr>
            <a:r>
              <a:rPr lang="en-US" sz="1350" b="1" dirty="0">
                <a:solidFill>
                  <a:srgbClr val="FF6A1A"/>
                </a:solidFill>
                <a:latin typeface="Calibri" pitchFamily="34" charset="0"/>
                <a:ea typeface="Calibri" pitchFamily="34" charset="-122"/>
                <a:cs typeface="Calibri" pitchFamily="34" charset="-120"/>
              </a:rPr>
              <a:t>Trinetra is that experience, encoded</a:t>
            </a:r>
            <a:pPr indent="0" marL="0">
              <a:lnSpc>
                <a:spcPct val="114000"/>
              </a:lnSpc>
              <a:buNone/>
            </a:pPr>
            <a:r>
              <a:rPr lang="en-US" sz="1350" dirty="0">
                <a:solidFill>
                  <a:srgbClr val="C6B9A6"/>
                </a:solidFill>
                <a:latin typeface="Calibri" pitchFamily="34" charset="0"/>
                <a:ea typeface="Calibri" pitchFamily="34" charset="-122"/>
                <a:cs typeface="Calibri" pitchFamily="34" charset="-120"/>
              </a:rPr>
              <a:t> — it watches every zone 24/7 and flags the combination the moment it forms, so the catch never depends on the right person paying attention at 3 a.m. We don't replace safety culture; we enforce it consistently across every shift and handover.</a:t>
            </a:r>
            <a:endParaRPr lang="en-US" sz="1350" dirty="0"/>
          </a:p>
        </p:txBody>
      </p:sp>
      <p:sp>
        <p:nvSpPr>
          <p:cNvPr id="11" name="Text 9"/>
          <p:cNvSpPr/>
          <p:nvPr/>
        </p:nvSpPr>
        <p:spPr>
          <a:xfrm>
            <a:off x="640080" y="6291072"/>
            <a:ext cx="10972800" cy="274320"/>
          </a:xfrm>
          <a:prstGeom prst="rect">
            <a:avLst/>
          </a:prstGeom>
          <a:noFill/>
          <a:ln/>
        </p:spPr>
        <p:txBody>
          <a:bodyPr wrap="square" lIns="0" tIns="0" rIns="0" bIns="0" rtlCol="0" anchor="ctr"/>
          <a:lstStyle/>
          <a:p>
            <a:pPr indent="0" marL="0">
              <a:buNone/>
            </a:pPr>
            <a:r>
              <a:rPr lang="en-US" sz="1100" i="1" dirty="0">
                <a:solidFill>
                  <a:srgbClr val="7C6F5E"/>
                </a:solidFill>
                <a:latin typeface="Calibri" pitchFamily="34" charset="0"/>
                <a:ea typeface="Calibri" pitchFamily="34" charset="-122"/>
                <a:cs typeface="Calibri" pitchFamily="34" charset="-120"/>
              </a:rPr>
              <a:t>An independent practitioner's account of the failure mode — problem validation from 30+ years on the floor, in his own words.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INSIGHT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Compound risk</a:t>
            </a:r>
            <a:endParaRPr lang="en-US" sz="3400" dirty="0"/>
          </a:p>
        </p:txBody>
      </p:sp>
      <p:sp>
        <p:nvSpPr>
          <p:cNvPr id="4" name="Shape 2"/>
          <p:cNvSpPr/>
          <p:nvPr/>
        </p:nvSpPr>
        <p:spPr>
          <a:xfrm>
            <a:off x="640080" y="2286000"/>
            <a:ext cx="3017520" cy="1554480"/>
          </a:xfrm>
          <a:prstGeom prst="roundRect">
            <a:avLst>
              <a:gd name="adj" fmla="val 5294"/>
            </a:avLst>
          </a:prstGeom>
          <a:solidFill>
            <a:srgbClr val="15110D"/>
          </a:solidFill>
          <a:ln w="12700">
            <a:solidFill>
              <a:srgbClr val="3B2E22"/>
            </a:solidFill>
            <a:prstDash val="solid"/>
          </a:ln>
        </p:spPr>
      </p:sp>
      <p:sp>
        <p:nvSpPr>
          <p:cNvPr id="5" name="Shape 3"/>
          <p:cNvSpPr/>
          <p:nvPr/>
        </p:nvSpPr>
        <p:spPr>
          <a:xfrm>
            <a:off x="868680" y="2542032"/>
            <a:ext cx="182880" cy="182880"/>
          </a:xfrm>
          <a:prstGeom prst="ellipse">
            <a:avLst/>
          </a:prstGeom>
          <a:solidFill>
            <a:srgbClr val="6B7886"/>
          </a:solidFill>
          <a:ln/>
        </p:spPr>
      </p:sp>
      <p:sp>
        <p:nvSpPr>
          <p:cNvPr id="6" name="Text 4"/>
          <p:cNvSpPr/>
          <p:nvPr/>
        </p:nvSpPr>
        <p:spPr>
          <a:xfrm>
            <a:off x="1143000" y="2468880"/>
            <a:ext cx="2377440" cy="36576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Rising flammable gas</a:t>
            </a:r>
            <a:endParaRPr lang="en-US" sz="1600" dirty="0"/>
          </a:p>
        </p:txBody>
      </p:sp>
      <p:sp>
        <p:nvSpPr>
          <p:cNvPr id="7" name="Text 5"/>
          <p:cNvSpPr/>
          <p:nvPr/>
        </p:nvSpPr>
        <p:spPr>
          <a:xfrm>
            <a:off x="868680" y="3063240"/>
            <a:ext cx="2606040" cy="64008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still below its alarm</a:t>
            </a:r>
            <a:endParaRPr lang="en-US" sz="1400" dirty="0"/>
          </a:p>
        </p:txBody>
      </p:sp>
      <p:sp>
        <p:nvSpPr>
          <p:cNvPr id="8" name="Text 6"/>
          <p:cNvSpPr/>
          <p:nvPr/>
        </p:nvSpPr>
        <p:spPr>
          <a:xfrm>
            <a:off x="868680" y="3429000"/>
            <a:ext cx="2606040" cy="274320"/>
          </a:xfrm>
          <a:prstGeom prst="rect">
            <a:avLst/>
          </a:prstGeom>
          <a:noFill/>
          <a:ln/>
        </p:spPr>
        <p:txBody>
          <a:bodyPr wrap="square" lIns="0" tIns="0" rIns="0" bIns="0" rtlCol="0" anchor="ctr"/>
          <a:lstStyle/>
          <a:p>
            <a:pPr indent="0" marL="0">
              <a:buNone/>
            </a:pPr>
            <a:r>
              <a:rPr lang="en-US" sz="1000" dirty="0">
                <a:solidFill>
                  <a:srgbClr val="6B7886"/>
                </a:solidFill>
                <a:latin typeface="Consolas" pitchFamily="34" charset="0"/>
                <a:ea typeface="Consolas" pitchFamily="34" charset="-122"/>
                <a:cs typeface="Consolas" pitchFamily="34" charset="-120"/>
              </a:rPr>
              <a:t>normal</a:t>
            </a:r>
            <a:endParaRPr lang="en-US" sz="1000" dirty="0"/>
          </a:p>
        </p:txBody>
      </p:sp>
      <p:sp>
        <p:nvSpPr>
          <p:cNvPr id="9" name="Shape 7"/>
          <p:cNvSpPr/>
          <p:nvPr/>
        </p:nvSpPr>
        <p:spPr>
          <a:xfrm>
            <a:off x="3886200" y="2286000"/>
            <a:ext cx="3017520" cy="1554480"/>
          </a:xfrm>
          <a:prstGeom prst="roundRect">
            <a:avLst>
              <a:gd name="adj" fmla="val 5294"/>
            </a:avLst>
          </a:prstGeom>
          <a:solidFill>
            <a:srgbClr val="15110D"/>
          </a:solidFill>
          <a:ln w="12700">
            <a:solidFill>
              <a:srgbClr val="3B2E22"/>
            </a:solidFill>
            <a:prstDash val="solid"/>
          </a:ln>
        </p:spPr>
      </p:sp>
      <p:sp>
        <p:nvSpPr>
          <p:cNvPr id="10" name="Shape 8"/>
          <p:cNvSpPr/>
          <p:nvPr/>
        </p:nvSpPr>
        <p:spPr>
          <a:xfrm>
            <a:off x="4114800" y="2542032"/>
            <a:ext cx="182880" cy="182880"/>
          </a:xfrm>
          <a:prstGeom prst="ellipse">
            <a:avLst/>
          </a:prstGeom>
          <a:solidFill>
            <a:srgbClr val="6B7886"/>
          </a:solidFill>
          <a:ln/>
        </p:spPr>
      </p:sp>
      <p:sp>
        <p:nvSpPr>
          <p:cNvPr id="11" name="Text 9"/>
          <p:cNvSpPr/>
          <p:nvPr/>
        </p:nvSpPr>
        <p:spPr>
          <a:xfrm>
            <a:off x="4389120" y="2468880"/>
            <a:ext cx="2377440" cy="36576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Active hot-work permit</a:t>
            </a:r>
            <a:endParaRPr lang="en-US" sz="1600" dirty="0"/>
          </a:p>
        </p:txBody>
      </p:sp>
      <p:sp>
        <p:nvSpPr>
          <p:cNvPr id="12" name="Text 10"/>
          <p:cNvSpPr/>
          <p:nvPr/>
        </p:nvSpPr>
        <p:spPr>
          <a:xfrm>
            <a:off x="4114800" y="3063240"/>
            <a:ext cx="2606040" cy="64008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an ignition source</a:t>
            </a:r>
            <a:endParaRPr lang="en-US" sz="1400" dirty="0"/>
          </a:p>
        </p:txBody>
      </p:sp>
      <p:sp>
        <p:nvSpPr>
          <p:cNvPr id="13" name="Text 11"/>
          <p:cNvSpPr/>
          <p:nvPr/>
        </p:nvSpPr>
        <p:spPr>
          <a:xfrm>
            <a:off x="4114800" y="3429000"/>
            <a:ext cx="2606040" cy="274320"/>
          </a:xfrm>
          <a:prstGeom prst="rect">
            <a:avLst/>
          </a:prstGeom>
          <a:noFill/>
          <a:ln/>
        </p:spPr>
        <p:txBody>
          <a:bodyPr wrap="square" lIns="0" tIns="0" rIns="0" bIns="0" rtlCol="0" anchor="ctr"/>
          <a:lstStyle/>
          <a:p>
            <a:pPr indent="0" marL="0">
              <a:buNone/>
            </a:pPr>
            <a:r>
              <a:rPr lang="en-US" sz="1000" dirty="0">
                <a:solidFill>
                  <a:srgbClr val="6B7886"/>
                </a:solidFill>
                <a:latin typeface="Consolas" pitchFamily="34" charset="0"/>
                <a:ea typeface="Consolas" pitchFamily="34" charset="-122"/>
                <a:cs typeface="Consolas" pitchFamily="34" charset="-120"/>
              </a:rPr>
              <a:t>normal</a:t>
            </a:r>
            <a:endParaRPr lang="en-US" sz="1000" dirty="0"/>
          </a:p>
        </p:txBody>
      </p:sp>
      <p:sp>
        <p:nvSpPr>
          <p:cNvPr id="14" name="Shape 12"/>
          <p:cNvSpPr/>
          <p:nvPr/>
        </p:nvSpPr>
        <p:spPr>
          <a:xfrm>
            <a:off x="7132320" y="2286000"/>
            <a:ext cx="3017520" cy="1554480"/>
          </a:xfrm>
          <a:prstGeom prst="roundRect">
            <a:avLst>
              <a:gd name="adj" fmla="val 5294"/>
            </a:avLst>
          </a:prstGeom>
          <a:solidFill>
            <a:srgbClr val="15110D"/>
          </a:solidFill>
          <a:ln w="12700">
            <a:solidFill>
              <a:srgbClr val="3B2E22"/>
            </a:solidFill>
            <a:prstDash val="solid"/>
          </a:ln>
        </p:spPr>
      </p:sp>
      <p:sp>
        <p:nvSpPr>
          <p:cNvPr id="15" name="Shape 13"/>
          <p:cNvSpPr/>
          <p:nvPr/>
        </p:nvSpPr>
        <p:spPr>
          <a:xfrm>
            <a:off x="7360920" y="2542032"/>
            <a:ext cx="182880" cy="182880"/>
          </a:xfrm>
          <a:prstGeom prst="ellipse">
            <a:avLst/>
          </a:prstGeom>
          <a:solidFill>
            <a:srgbClr val="6B7886"/>
          </a:solidFill>
          <a:ln/>
        </p:spPr>
      </p:sp>
      <p:sp>
        <p:nvSpPr>
          <p:cNvPr id="16" name="Text 14"/>
          <p:cNvSpPr/>
          <p:nvPr/>
        </p:nvSpPr>
        <p:spPr>
          <a:xfrm>
            <a:off x="7635240" y="2468880"/>
            <a:ext cx="2377440" cy="36576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Personnel present</a:t>
            </a:r>
            <a:endParaRPr lang="en-US" sz="1600" dirty="0"/>
          </a:p>
        </p:txBody>
      </p:sp>
      <p:sp>
        <p:nvSpPr>
          <p:cNvPr id="17" name="Text 15"/>
          <p:cNvSpPr/>
          <p:nvPr/>
        </p:nvSpPr>
        <p:spPr>
          <a:xfrm>
            <a:off x="7360920" y="3063240"/>
            <a:ext cx="2606040" cy="64008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inside a confined space</a:t>
            </a:r>
            <a:endParaRPr lang="en-US" sz="1400" dirty="0"/>
          </a:p>
        </p:txBody>
      </p:sp>
      <p:sp>
        <p:nvSpPr>
          <p:cNvPr id="18" name="Text 16"/>
          <p:cNvSpPr/>
          <p:nvPr/>
        </p:nvSpPr>
        <p:spPr>
          <a:xfrm>
            <a:off x="7360920" y="3429000"/>
            <a:ext cx="2606040" cy="274320"/>
          </a:xfrm>
          <a:prstGeom prst="rect">
            <a:avLst/>
          </a:prstGeom>
          <a:noFill/>
          <a:ln/>
        </p:spPr>
        <p:txBody>
          <a:bodyPr wrap="square" lIns="0" tIns="0" rIns="0" bIns="0" rtlCol="0" anchor="ctr"/>
          <a:lstStyle/>
          <a:p>
            <a:pPr indent="0" marL="0">
              <a:buNone/>
            </a:pPr>
            <a:r>
              <a:rPr lang="en-US" sz="1000" dirty="0">
                <a:solidFill>
                  <a:srgbClr val="6B7886"/>
                </a:solidFill>
                <a:latin typeface="Consolas" pitchFamily="34" charset="0"/>
                <a:ea typeface="Consolas" pitchFamily="34" charset="-122"/>
                <a:cs typeface="Consolas" pitchFamily="34" charset="-120"/>
              </a:rPr>
              <a:t>normal</a:t>
            </a:r>
            <a:endParaRPr lang="en-US" sz="1000" dirty="0"/>
          </a:p>
        </p:txBody>
      </p:sp>
      <p:sp>
        <p:nvSpPr>
          <p:cNvPr id="19" name="Shape 17"/>
          <p:cNvSpPr/>
          <p:nvPr/>
        </p:nvSpPr>
        <p:spPr>
          <a:xfrm>
            <a:off x="5943600" y="3950208"/>
            <a:ext cx="301752" cy="27432"/>
          </a:xfrm>
          <a:prstGeom prst="rect">
            <a:avLst/>
          </a:prstGeom>
          <a:solidFill>
            <a:srgbClr val="7C6F5E"/>
          </a:solidFill>
          <a:ln/>
        </p:spPr>
      </p:sp>
      <p:sp>
        <p:nvSpPr>
          <p:cNvPr id="20" name="Shape 18"/>
          <p:cNvSpPr/>
          <p:nvPr/>
        </p:nvSpPr>
        <p:spPr>
          <a:xfrm>
            <a:off x="640080" y="4160520"/>
            <a:ext cx="10908792" cy="1371600"/>
          </a:xfrm>
          <a:prstGeom prst="roundRect">
            <a:avLst>
              <a:gd name="adj" fmla="val 6000"/>
            </a:avLst>
          </a:prstGeom>
          <a:solidFill>
            <a:srgbClr val="1F0F0B"/>
          </a:solidFill>
          <a:ln w="12700">
            <a:solidFill>
              <a:srgbClr val="FF2B4E"/>
            </a:solidFill>
            <a:prstDash val="solid"/>
          </a:ln>
        </p:spPr>
      </p:sp>
      <p:sp>
        <p:nvSpPr>
          <p:cNvPr id="21" name="Text 19"/>
          <p:cNvSpPr/>
          <p:nvPr/>
        </p:nvSpPr>
        <p:spPr>
          <a:xfrm>
            <a:off x="1005840" y="4343400"/>
            <a:ext cx="10058400" cy="457200"/>
          </a:xfrm>
          <a:prstGeom prst="rect">
            <a:avLst/>
          </a:prstGeom>
          <a:noFill/>
          <a:ln/>
        </p:spPr>
        <p:txBody>
          <a:bodyPr wrap="square" lIns="0" tIns="0" rIns="0" bIns="0" rtlCol="0" anchor="ctr"/>
          <a:lstStyle/>
          <a:p>
            <a:pPr indent="0" marL="0">
              <a:buNone/>
            </a:pPr>
            <a:r>
              <a:rPr lang="en-US" sz="2400" b="1" dirty="0">
                <a:solidFill>
                  <a:srgbClr val="FF2B4E"/>
                </a:solidFill>
                <a:latin typeface="Trebuchet MS" pitchFamily="34" charset="0"/>
                <a:ea typeface="Trebuchet MS" pitchFamily="34" charset="-122"/>
                <a:cs typeface="Trebuchet MS" pitchFamily="34" charset="-120"/>
              </a:rPr>
              <a:t>A lethal combination no single sensor flags</a:t>
            </a:r>
            <a:endParaRPr lang="en-US" sz="2400" dirty="0"/>
          </a:p>
        </p:txBody>
      </p:sp>
      <p:sp>
        <p:nvSpPr>
          <p:cNvPr id="22" name="Text 20"/>
          <p:cNvSpPr/>
          <p:nvPr/>
        </p:nvSpPr>
        <p:spPr>
          <a:xfrm>
            <a:off x="1005840" y="4892040"/>
            <a:ext cx="10058400" cy="457200"/>
          </a:xfrm>
          <a:prstGeom prst="rect">
            <a:avLst/>
          </a:prstGeom>
          <a:noFill/>
          <a:ln/>
        </p:spPr>
        <p:txBody>
          <a:bodyPr wrap="square" lIns="0" tIns="0" rIns="0" bIns="0" rtlCol="0" anchor="ctr"/>
          <a:lstStyle/>
          <a:p>
            <a:pPr indent="0" marL="0">
              <a:buNone/>
            </a:pPr>
            <a:r>
              <a:rPr lang="en-US" sz="1500" dirty="0">
                <a:solidFill>
                  <a:srgbClr val="C6B9A6"/>
                </a:solidFill>
                <a:latin typeface="Calibri" pitchFamily="34" charset="0"/>
                <a:ea typeface="Calibri" pitchFamily="34" charset="-122"/>
                <a:cs typeface="Calibri" pitchFamily="34" charset="-120"/>
              </a:rPr>
              <a:t>Three green lights. One lethal combination — minutes before it becomes critical.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MOMENT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Split reality at T + 8 min</a:t>
            </a:r>
            <a:endParaRPr lang="en-US" sz="3400" dirty="0"/>
          </a:p>
        </p:txBody>
      </p:sp>
      <p:sp>
        <p:nvSpPr>
          <p:cNvPr id="4" name="Shape 2"/>
          <p:cNvSpPr/>
          <p:nvPr/>
        </p:nvSpPr>
        <p:spPr>
          <a:xfrm>
            <a:off x="640080" y="2011680"/>
            <a:ext cx="4572000" cy="3566160"/>
          </a:xfrm>
          <a:prstGeom prst="roundRect">
            <a:avLst>
              <a:gd name="adj" fmla="val 2308"/>
            </a:avLst>
          </a:prstGeom>
          <a:solidFill>
            <a:srgbClr val="15110D"/>
          </a:solidFill>
          <a:ln w="12700">
            <a:solidFill>
              <a:srgbClr val="3B2E22"/>
            </a:solidFill>
            <a:prstDash val="solid"/>
          </a:ln>
        </p:spPr>
      </p:sp>
      <p:sp>
        <p:nvSpPr>
          <p:cNvPr id="5" name="Text 3"/>
          <p:cNvSpPr/>
          <p:nvPr/>
        </p:nvSpPr>
        <p:spPr>
          <a:xfrm>
            <a:off x="914400" y="2286000"/>
            <a:ext cx="4023360" cy="274320"/>
          </a:xfrm>
          <a:prstGeom prst="rect">
            <a:avLst/>
          </a:prstGeom>
          <a:noFill/>
          <a:ln/>
        </p:spPr>
        <p:txBody>
          <a:bodyPr wrap="square" lIns="0" tIns="0" rIns="0" bIns="0" rtlCol="0" anchor="ctr"/>
          <a:lstStyle/>
          <a:p>
            <a:pPr indent="0" marL="0">
              <a:buNone/>
            </a:pPr>
            <a:r>
              <a:rPr lang="en-US" sz="1200" spc="100" kern="0" dirty="0">
                <a:solidFill>
                  <a:srgbClr val="7C6F5E"/>
                </a:solidFill>
                <a:latin typeface="Consolas" pitchFamily="34" charset="0"/>
                <a:ea typeface="Consolas" pitchFamily="34" charset="-122"/>
                <a:cs typeface="Consolas" pitchFamily="34" charset="-120"/>
              </a:rPr>
              <a:t>LEGACY SINGLE-SENSOR</a:t>
            </a:r>
            <a:endParaRPr lang="en-US" sz="1200" dirty="0"/>
          </a:p>
        </p:txBody>
      </p:sp>
      <p:sp>
        <p:nvSpPr>
          <p:cNvPr id="6" name="Shape 4"/>
          <p:cNvSpPr/>
          <p:nvPr/>
        </p:nvSpPr>
        <p:spPr>
          <a:xfrm>
            <a:off x="914400" y="3154680"/>
            <a:ext cx="292608" cy="292608"/>
          </a:xfrm>
          <a:prstGeom prst="ellipse">
            <a:avLst/>
          </a:prstGeom>
          <a:solidFill>
            <a:srgbClr val="6B7886"/>
          </a:solidFill>
          <a:ln/>
        </p:spPr>
      </p:sp>
      <p:sp>
        <p:nvSpPr>
          <p:cNvPr id="7" name="Text 5"/>
          <p:cNvSpPr/>
          <p:nvPr/>
        </p:nvSpPr>
        <p:spPr>
          <a:xfrm>
            <a:off x="1371600" y="2971800"/>
            <a:ext cx="3657600" cy="548640"/>
          </a:xfrm>
          <a:prstGeom prst="rect">
            <a:avLst/>
          </a:prstGeom>
          <a:noFill/>
          <a:ln/>
        </p:spPr>
        <p:txBody>
          <a:bodyPr wrap="square" lIns="0" tIns="0" rIns="0" bIns="0" rtlCol="0" anchor="ctr"/>
          <a:lstStyle/>
          <a:p>
            <a:pPr indent="0" marL="0">
              <a:buNone/>
            </a:pPr>
            <a:r>
              <a:rPr lang="en-US" sz="3000" b="1" dirty="0">
                <a:solidFill>
                  <a:srgbClr val="6B7886"/>
                </a:solidFill>
                <a:latin typeface="Trebuchet MS" pitchFamily="34" charset="0"/>
                <a:ea typeface="Trebuchet MS" pitchFamily="34" charset="-122"/>
                <a:cs typeface="Trebuchet MS" pitchFamily="34" charset="-120"/>
              </a:rPr>
              <a:t>ALL CLEAR</a:t>
            </a:r>
            <a:endParaRPr lang="en-US" sz="3000" dirty="0"/>
          </a:p>
        </p:txBody>
      </p:sp>
      <p:sp>
        <p:nvSpPr>
          <p:cNvPr id="8" name="Text 6"/>
          <p:cNvSpPr/>
          <p:nvPr/>
        </p:nvSpPr>
        <p:spPr>
          <a:xfrm>
            <a:off x="914400" y="3840480"/>
            <a:ext cx="4023360" cy="365760"/>
          </a:xfrm>
          <a:prstGeom prst="rect">
            <a:avLst/>
          </a:prstGeom>
          <a:noFill/>
          <a:ln/>
        </p:spPr>
        <p:txBody>
          <a:bodyPr wrap="square" lIns="0" tIns="0" rIns="0" bIns="0" rtlCol="0" anchor="ctr"/>
          <a:lstStyle/>
          <a:p>
            <a:pPr indent="0" marL="0">
              <a:buNone/>
            </a:pPr>
            <a:r>
              <a:rPr lang="en-US" sz="1500" dirty="0">
                <a:solidFill>
                  <a:srgbClr val="C6B9A6"/>
                </a:solidFill>
                <a:latin typeface="Calibri" pitchFamily="34" charset="0"/>
                <a:ea typeface="Calibri" pitchFamily="34" charset="-122"/>
                <a:cs typeface="Calibri" pitchFamily="34" charset="-120"/>
              </a:rPr>
              <a:t>Every gas reads below its setpoint.</a:t>
            </a:r>
            <a:endParaRPr lang="en-US" sz="1500" dirty="0"/>
          </a:p>
        </p:txBody>
      </p:sp>
      <p:sp>
        <p:nvSpPr>
          <p:cNvPr id="9" name="Text 7"/>
          <p:cNvSpPr/>
          <p:nvPr/>
        </p:nvSpPr>
        <p:spPr>
          <a:xfrm>
            <a:off x="914400" y="4937760"/>
            <a:ext cx="4023360" cy="274320"/>
          </a:xfrm>
          <a:prstGeom prst="rect">
            <a:avLst/>
          </a:prstGeom>
          <a:noFill/>
          <a:ln/>
        </p:spPr>
        <p:txBody>
          <a:bodyPr wrap="square" lIns="0" tIns="0" rIns="0" bIns="0" rtlCol="0" anchor="ctr"/>
          <a:lstStyle/>
          <a:p>
            <a:pPr indent="0" marL="0">
              <a:buNone/>
            </a:pPr>
            <a:r>
              <a:rPr lang="en-US" sz="1100" dirty="0">
                <a:solidFill>
                  <a:srgbClr val="7C6F5E"/>
                </a:solidFill>
                <a:latin typeface="Consolas" pitchFamily="34" charset="0"/>
                <a:ea typeface="Consolas" pitchFamily="34" charset="-122"/>
                <a:cs typeface="Consolas" pitchFamily="34" charset="-120"/>
              </a:rPr>
              <a:t>threshold detection only</a:t>
            </a:r>
            <a:endParaRPr lang="en-US" sz="1100" dirty="0"/>
          </a:p>
        </p:txBody>
      </p:sp>
      <p:sp>
        <p:nvSpPr>
          <p:cNvPr id="10" name="Shape 8"/>
          <p:cNvSpPr/>
          <p:nvPr/>
        </p:nvSpPr>
        <p:spPr>
          <a:xfrm>
            <a:off x="5440680" y="2971800"/>
            <a:ext cx="1325880" cy="1645920"/>
          </a:xfrm>
          <a:prstGeom prst="roundRect">
            <a:avLst>
              <a:gd name="adj" fmla="val 6207"/>
            </a:avLst>
          </a:prstGeom>
          <a:solidFill>
            <a:srgbClr val="100C09"/>
          </a:solidFill>
          <a:ln w="12700">
            <a:solidFill>
              <a:srgbClr val="FF6A1A"/>
            </a:solidFill>
            <a:prstDash val="solid"/>
          </a:ln>
        </p:spPr>
      </p:sp>
      <p:sp>
        <p:nvSpPr>
          <p:cNvPr id="11" name="Text 9"/>
          <p:cNvSpPr/>
          <p:nvPr/>
        </p:nvSpPr>
        <p:spPr>
          <a:xfrm>
            <a:off x="5440680" y="3154680"/>
            <a:ext cx="1325880" cy="731520"/>
          </a:xfrm>
          <a:prstGeom prst="rect">
            <a:avLst/>
          </a:prstGeom>
          <a:noFill/>
          <a:ln/>
        </p:spPr>
        <p:txBody>
          <a:bodyPr wrap="square" lIns="0" tIns="0" rIns="0" bIns="0" rtlCol="0" anchor="ctr"/>
          <a:lstStyle/>
          <a:p>
            <a:pPr algn="ctr" indent="0" marL="0">
              <a:buNone/>
            </a:pPr>
            <a:r>
              <a:rPr lang="en-US" sz="3800" b="1" dirty="0">
                <a:solidFill>
                  <a:srgbClr val="FF6A1A"/>
                </a:solidFill>
                <a:latin typeface="Trebuchet MS" pitchFamily="34" charset="0"/>
                <a:ea typeface="Trebuchet MS" pitchFamily="34" charset="-122"/>
                <a:cs typeface="Trebuchet MS" pitchFamily="34" charset="-120"/>
              </a:rPr>
              <a:t>+6</a:t>
            </a:r>
            <a:endParaRPr lang="en-US" sz="3800" dirty="0"/>
          </a:p>
        </p:txBody>
      </p:sp>
      <p:sp>
        <p:nvSpPr>
          <p:cNvPr id="12" name="Text 10"/>
          <p:cNvSpPr/>
          <p:nvPr/>
        </p:nvSpPr>
        <p:spPr>
          <a:xfrm>
            <a:off x="5440680" y="3886200"/>
            <a:ext cx="1325880" cy="274320"/>
          </a:xfrm>
          <a:prstGeom prst="rect">
            <a:avLst/>
          </a:prstGeom>
          <a:noFill/>
          <a:ln/>
        </p:spPr>
        <p:txBody>
          <a:bodyPr wrap="square" lIns="0" tIns="0" rIns="0" bIns="0" rtlCol="0" anchor="ctr"/>
          <a:lstStyle/>
          <a:p>
            <a:pPr algn="ctr" indent="0" marL="0">
              <a:buNone/>
            </a:pPr>
            <a:r>
              <a:rPr lang="en-US" sz="1200" dirty="0">
                <a:solidFill>
                  <a:srgbClr val="FF6A1A"/>
                </a:solidFill>
                <a:latin typeface="Consolas" pitchFamily="34" charset="0"/>
                <a:ea typeface="Consolas" pitchFamily="34" charset="-122"/>
                <a:cs typeface="Consolas" pitchFamily="34" charset="-120"/>
              </a:rPr>
              <a:t>MIN</a:t>
            </a:r>
            <a:endParaRPr lang="en-US" sz="1200" dirty="0"/>
          </a:p>
        </p:txBody>
      </p:sp>
      <p:sp>
        <p:nvSpPr>
          <p:cNvPr id="13" name="Text 11"/>
          <p:cNvSpPr/>
          <p:nvPr/>
        </p:nvSpPr>
        <p:spPr>
          <a:xfrm>
            <a:off x="5440680" y="4206240"/>
            <a:ext cx="1325880" cy="274320"/>
          </a:xfrm>
          <a:prstGeom prst="rect">
            <a:avLst/>
          </a:prstGeom>
          <a:noFill/>
          <a:ln/>
        </p:spPr>
        <p:txBody>
          <a:bodyPr wrap="square" lIns="0" tIns="0" rIns="0" bIns="0" rtlCol="0" anchor="ctr"/>
          <a:lstStyle/>
          <a:p>
            <a:pPr algn="ctr" indent="0" marL="0">
              <a:buNone/>
            </a:pPr>
            <a:r>
              <a:rPr lang="en-US" sz="1000" dirty="0">
                <a:solidFill>
                  <a:srgbClr val="7C6F5E"/>
                </a:solidFill>
                <a:latin typeface="Consolas" pitchFamily="34" charset="0"/>
                <a:ea typeface="Consolas" pitchFamily="34" charset="-122"/>
                <a:cs typeface="Consolas" pitchFamily="34" charset="-120"/>
              </a:rPr>
              <a:t>early</a:t>
            </a:r>
            <a:endParaRPr lang="en-US" sz="1000" dirty="0"/>
          </a:p>
        </p:txBody>
      </p:sp>
      <p:sp>
        <p:nvSpPr>
          <p:cNvPr id="14" name="Shape 12"/>
          <p:cNvSpPr/>
          <p:nvPr/>
        </p:nvSpPr>
        <p:spPr>
          <a:xfrm>
            <a:off x="6976872" y="2011680"/>
            <a:ext cx="4572000" cy="3566160"/>
          </a:xfrm>
          <a:prstGeom prst="roundRect">
            <a:avLst>
              <a:gd name="adj" fmla="val 2308"/>
            </a:avLst>
          </a:prstGeom>
          <a:solidFill>
            <a:srgbClr val="1F0F0B"/>
          </a:solidFill>
          <a:ln w="12700">
            <a:solidFill>
              <a:srgbClr val="FF2B4E"/>
            </a:solidFill>
            <a:prstDash val="solid"/>
          </a:ln>
        </p:spPr>
      </p:sp>
      <p:sp>
        <p:nvSpPr>
          <p:cNvPr id="15" name="Text 13"/>
          <p:cNvSpPr/>
          <p:nvPr/>
        </p:nvSpPr>
        <p:spPr>
          <a:xfrm>
            <a:off x="7251192" y="2286000"/>
            <a:ext cx="4023360" cy="274320"/>
          </a:xfrm>
          <a:prstGeom prst="rect">
            <a:avLst/>
          </a:prstGeom>
          <a:noFill/>
          <a:ln/>
        </p:spPr>
        <p:txBody>
          <a:bodyPr wrap="square" lIns="0" tIns="0" rIns="0" bIns="0" rtlCol="0" anchor="ctr"/>
          <a:lstStyle/>
          <a:p>
            <a:pPr indent="0" marL="0">
              <a:buNone/>
            </a:pPr>
            <a:r>
              <a:rPr lang="en-US" sz="1200" spc="100" kern="0" dirty="0">
                <a:solidFill>
                  <a:srgbClr val="FF6A1A"/>
                </a:solidFill>
                <a:latin typeface="Consolas" pitchFamily="34" charset="0"/>
                <a:ea typeface="Consolas" pitchFamily="34" charset="-122"/>
                <a:cs typeface="Consolas" pitchFamily="34" charset="-120"/>
              </a:rPr>
              <a:t>TRINETRA COMPOUND AI</a:t>
            </a:r>
            <a:endParaRPr lang="en-US" sz="1200" dirty="0"/>
          </a:p>
        </p:txBody>
      </p:sp>
      <p:sp>
        <p:nvSpPr>
          <p:cNvPr id="16" name="Shape 14"/>
          <p:cNvSpPr/>
          <p:nvPr/>
        </p:nvSpPr>
        <p:spPr>
          <a:xfrm>
            <a:off x="7251192" y="3154680"/>
            <a:ext cx="292608" cy="292608"/>
          </a:xfrm>
          <a:prstGeom prst="ellipse">
            <a:avLst/>
          </a:prstGeom>
          <a:solidFill>
            <a:srgbClr val="FF2B4E"/>
          </a:solidFill>
          <a:ln/>
        </p:spPr>
      </p:sp>
      <p:sp>
        <p:nvSpPr>
          <p:cNvPr id="17" name="Text 15"/>
          <p:cNvSpPr/>
          <p:nvPr/>
        </p:nvSpPr>
        <p:spPr>
          <a:xfrm>
            <a:off x="7708392" y="2971800"/>
            <a:ext cx="3657600" cy="548640"/>
          </a:xfrm>
          <a:prstGeom prst="rect">
            <a:avLst/>
          </a:prstGeom>
          <a:noFill/>
          <a:ln/>
        </p:spPr>
        <p:txBody>
          <a:bodyPr wrap="square" lIns="0" tIns="0" rIns="0" bIns="0" rtlCol="0" anchor="ctr"/>
          <a:lstStyle/>
          <a:p>
            <a:pPr indent="0" marL="0">
              <a:buNone/>
            </a:pPr>
            <a:r>
              <a:rPr lang="en-US" sz="2600" b="1" dirty="0">
                <a:solidFill>
                  <a:srgbClr val="FF2B4E"/>
                </a:solidFill>
                <a:latin typeface="Trebuchet MS" pitchFamily="34" charset="0"/>
                <a:ea typeface="Trebuchet MS" pitchFamily="34" charset="-122"/>
                <a:cs typeface="Trebuchet MS" pitchFamily="34" charset="-120"/>
              </a:rPr>
              <a:t>COMPOUND ALERT</a:t>
            </a:r>
            <a:endParaRPr lang="en-US" sz="2600" dirty="0"/>
          </a:p>
        </p:txBody>
      </p:sp>
      <p:sp>
        <p:nvSpPr>
          <p:cNvPr id="18" name="Text 16"/>
          <p:cNvSpPr/>
          <p:nvPr/>
        </p:nvSpPr>
        <p:spPr>
          <a:xfrm>
            <a:off x="7251192" y="3840480"/>
            <a:ext cx="4023360" cy="731520"/>
          </a:xfrm>
          <a:prstGeom prst="rect">
            <a:avLst/>
          </a:prstGeom>
          <a:noFill/>
          <a:ln/>
        </p:spPr>
        <p:txBody>
          <a:bodyPr wrap="square" lIns="0" tIns="0" rIns="0" bIns="0" rtlCol="0" anchor="ctr"/>
          <a:lstStyle/>
          <a:p>
            <a:pPr indent="0" marL="0">
              <a:lnSpc>
                <a:spcPct val="120000"/>
              </a:lnSpc>
              <a:buNone/>
            </a:pPr>
            <a:r>
              <a:rPr lang="en-US" sz="1400" dirty="0">
                <a:solidFill>
                  <a:srgbClr val="C6B9A6"/>
                </a:solidFill>
                <a:latin typeface="Calibri" pitchFamily="34" charset="0"/>
                <a:ea typeface="Calibri" pitchFamily="34" charset="-122"/>
                <a:cs typeface="Calibri" pitchFamily="34" charset="-120"/>
              </a:rPr>
              <a:t>COB-1 critical · breach predicted ~36 min</a:t>
            </a:r>
            <a:endParaRPr lang="en-US" sz="1400" dirty="0"/>
          </a:p>
          <a:p>
            <a:pPr indent="0" marL="0">
              <a:lnSpc>
                <a:spcPct val="120000"/>
              </a:lnSpc>
              <a:buNone/>
            </a:pPr>
            <a:r>
              <a:rPr lang="en-US" sz="1400" dirty="0">
                <a:solidFill>
                  <a:srgbClr val="7C6F5E"/>
                </a:solidFill>
                <a:latin typeface="Calibri" pitchFamily="34" charset="0"/>
                <a:ea typeface="Calibri" pitchFamily="34" charset="-122"/>
                <a:cs typeface="Calibri" pitchFamily="34" charset="-120"/>
              </a:rPr>
              <a:t>rising CH4 + hot-work permit + 3 personnel</a:t>
            </a:r>
            <a:endParaRPr lang="en-US" sz="1400" dirty="0"/>
          </a:p>
        </p:txBody>
      </p:sp>
      <p:sp>
        <p:nvSpPr>
          <p:cNvPr id="19" name="Text 17"/>
          <p:cNvSpPr/>
          <p:nvPr/>
        </p:nvSpPr>
        <p:spPr>
          <a:xfrm>
            <a:off x="7251192" y="4937760"/>
            <a:ext cx="4023360" cy="274320"/>
          </a:xfrm>
          <a:prstGeom prst="rect">
            <a:avLst/>
          </a:prstGeom>
          <a:noFill/>
          <a:ln/>
        </p:spPr>
        <p:txBody>
          <a:bodyPr wrap="square" lIns="0" tIns="0" rIns="0" bIns="0" rtlCol="0" anchor="ctr"/>
          <a:lstStyle/>
          <a:p>
            <a:pPr indent="0" marL="0">
              <a:buNone/>
            </a:pPr>
            <a:r>
              <a:rPr lang="en-US" sz="1100" dirty="0">
                <a:solidFill>
                  <a:srgbClr val="7C6F5E"/>
                </a:solidFill>
                <a:latin typeface="Consolas" pitchFamily="34" charset="0"/>
                <a:ea typeface="Consolas" pitchFamily="34" charset="-122"/>
                <a:cs typeface="Consolas" pitchFamily="34" charset="-120"/>
              </a:rPr>
              <a:t>multi-signal fusion</a:t>
            </a:r>
            <a:endParaRPr lang="en-US" sz="1100" dirty="0"/>
          </a:p>
        </p:txBody>
      </p:sp>
      <p:sp>
        <p:nvSpPr>
          <p:cNvPr id="20" name="Text 18"/>
          <p:cNvSpPr/>
          <p:nvPr/>
        </p:nvSpPr>
        <p:spPr>
          <a:xfrm>
            <a:off x="640080" y="5897880"/>
            <a:ext cx="10972800" cy="365760"/>
          </a:xfrm>
          <a:prstGeom prst="rect">
            <a:avLst/>
          </a:prstGeom>
          <a:noFill/>
          <a:ln/>
        </p:spPr>
        <p:txBody>
          <a:bodyPr wrap="square" lIns="0" tIns="0" rIns="0" bIns="0" rtlCol="0" anchor="ctr"/>
          <a:lstStyle/>
          <a:p>
            <a:pPr indent="0" marL="0">
              <a:buNone/>
            </a:pPr>
            <a:r>
              <a:rPr lang="en-US" sz="1500" i="1" dirty="0">
                <a:solidFill>
                  <a:srgbClr val="7C6F5E"/>
                </a:solidFill>
                <a:latin typeface="Calibri" pitchFamily="34" charset="0"/>
                <a:ea typeface="Calibri" pitchFamily="34" charset="-122"/>
                <a:cs typeface="Calibri" pitchFamily="34" charset="-120"/>
              </a:rPr>
              <a:t>Six minutes of warning — while every gas sensor still reads below its setpoint.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HOW IT WORKS</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One multi-modal brain</a:t>
            </a:r>
            <a:endParaRPr lang="en-US" sz="3400" dirty="0"/>
          </a:p>
        </p:txBody>
      </p:sp>
      <p:sp>
        <p:nvSpPr>
          <p:cNvPr id="4" name="Shape 2"/>
          <p:cNvSpPr/>
          <p:nvPr/>
        </p:nvSpPr>
        <p:spPr>
          <a:xfrm>
            <a:off x="640080" y="2194560"/>
            <a:ext cx="2112264" cy="2468880"/>
          </a:xfrm>
          <a:prstGeom prst="roundRect">
            <a:avLst>
              <a:gd name="adj" fmla="val 3896"/>
            </a:avLst>
          </a:prstGeom>
          <a:solidFill>
            <a:srgbClr val="15110D"/>
          </a:solidFill>
          <a:ln w="12700">
            <a:solidFill>
              <a:srgbClr val="3B2E22"/>
            </a:solidFill>
            <a:prstDash val="solid"/>
          </a:ln>
        </p:spPr>
      </p:sp>
      <p:sp>
        <p:nvSpPr>
          <p:cNvPr id="5" name="Shape 3"/>
          <p:cNvSpPr/>
          <p:nvPr/>
        </p:nvSpPr>
        <p:spPr>
          <a:xfrm>
            <a:off x="640080" y="2194560"/>
            <a:ext cx="2112264" cy="64008"/>
          </a:xfrm>
          <a:prstGeom prst="rect">
            <a:avLst/>
          </a:prstGeom>
          <a:solidFill>
            <a:srgbClr val="FF6A1A"/>
          </a:solidFill>
          <a:ln/>
        </p:spPr>
      </p:sp>
      <p:sp>
        <p:nvSpPr>
          <p:cNvPr id="6" name="Text 4"/>
          <p:cNvSpPr/>
          <p:nvPr/>
        </p:nvSpPr>
        <p:spPr>
          <a:xfrm>
            <a:off x="804672"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Compound Engine</a:t>
            </a:r>
            <a:endParaRPr lang="en-US" sz="1700" dirty="0"/>
          </a:p>
        </p:txBody>
      </p:sp>
      <p:sp>
        <p:nvSpPr>
          <p:cNvPr id="7" name="Text 5"/>
          <p:cNvSpPr/>
          <p:nvPr/>
        </p:nvSpPr>
        <p:spPr>
          <a:xfrm>
            <a:off x="804672"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fuses gas trend + permits + people</a:t>
            </a:r>
            <a:endParaRPr lang="en-US" sz="1300" dirty="0"/>
          </a:p>
        </p:txBody>
      </p:sp>
      <p:sp>
        <p:nvSpPr>
          <p:cNvPr id="8" name="Shape 6"/>
          <p:cNvSpPr/>
          <p:nvPr/>
        </p:nvSpPr>
        <p:spPr>
          <a:xfrm>
            <a:off x="2916936" y="2194560"/>
            <a:ext cx="2112264" cy="2468880"/>
          </a:xfrm>
          <a:prstGeom prst="roundRect">
            <a:avLst>
              <a:gd name="adj" fmla="val 3896"/>
            </a:avLst>
          </a:prstGeom>
          <a:solidFill>
            <a:srgbClr val="15110D"/>
          </a:solidFill>
          <a:ln w="12700">
            <a:solidFill>
              <a:srgbClr val="3B2E22"/>
            </a:solidFill>
            <a:prstDash val="solid"/>
          </a:ln>
        </p:spPr>
      </p:sp>
      <p:sp>
        <p:nvSpPr>
          <p:cNvPr id="9" name="Shape 7"/>
          <p:cNvSpPr/>
          <p:nvPr/>
        </p:nvSpPr>
        <p:spPr>
          <a:xfrm>
            <a:off x="2916936" y="2194560"/>
            <a:ext cx="2112264" cy="64008"/>
          </a:xfrm>
          <a:prstGeom prst="rect">
            <a:avLst/>
          </a:prstGeom>
          <a:solidFill>
            <a:srgbClr val="F7EFE1"/>
          </a:solidFill>
          <a:ln/>
        </p:spPr>
      </p:sp>
      <p:sp>
        <p:nvSpPr>
          <p:cNvPr id="10" name="Text 8"/>
          <p:cNvSpPr/>
          <p:nvPr/>
        </p:nvSpPr>
        <p:spPr>
          <a:xfrm>
            <a:off x="3081528"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Vision</a:t>
            </a:r>
            <a:endParaRPr lang="en-US" sz="1700" dirty="0"/>
          </a:p>
        </p:txBody>
      </p:sp>
      <p:sp>
        <p:nvSpPr>
          <p:cNvPr id="11" name="Text 9"/>
          <p:cNvSpPr/>
          <p:nvPr/>
        </p:nvSpPr>
        <p:spPr>
          <a:xfrm>
            <a:off x="3081528"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person &amp; zone-intrusion (monitoring layer)</a:t>
            </a:r>
            <a:endParaRPr lang="en-US" sz="1300" dirty="0"/>
          </a:p>
        </p:txBody>
      </p:sp>
      <p:sp>
        <p:nvSpPr>
          <p:cNvPr id="12" name="Shape 10"/>
          <p:cNvSpPr/>
          <p:nvPr/>
        </p:nvSpPr>
        <p:spPr>
          <a:xfrm>
            <a:off x="5193792" y="2194560"/>
            <a:ext cx="2112264" cy="2468880"/>
          </a:xfrm>
          <a:prstGeom prst="roundRect">
            <a:avLst>
              <a:gd name="adj" fmla="val 3896"/>
            </a:avLst>
          </a:prstGeom>
          <a:solidFill>
            <a:srgbClr val="15110D"/>
          </a:solidFill>
          <a:ln w="12700">
            <a:solidFill>
              <a:srgbClr val="3B2E22"/>
            </a:solidFill>
            <a:prstDash val="solid"/>
          </a:ln>
        </p:spPr>
      </p:sp>
      <p:sp>
        <p:nvSpPr>
          <p:cNvPr id="13" name="Shape 11"/>
          <p:cNvSpPr/>
          <p:nvPr/>
        </p:nvSpPr>
        <p:spPr>
          <a:xfrm>
            <a:off x="5193792" y="2194560"/>
            <a:ext cx="2112264" cy="64008"/>
          </a:xfrm>
          <a:prstGeom prst="rect">
            <a:avLst/>
          </a:prstGeom>
          <a:solidFill>
            <a:srgbClr val="F7EFE1"/>
          </a:solidFill>
          <a:ln/>
        </p:spPr>
      </p:sp>
      <p:sp>
        <p:nvSpPr>
          <p:cNvPr id="14" name="Text 12"/>
          <p:cNvSpPr/>
          <p:nvPr/>
        </p:nvSpPr>
        <p:spPr>
          <a:xfrm>
            <a:off x="5358384"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Reasoning Graph</a:t>
            </a:r>
            <a:endParaRPr lang="en-US" sz="1700" dirty="0"/>
          </a:p>
        </p:txBody>
      </p:sp>
      <p:sp>
        <p:nvSpPr>
          <p:cNvPr id="15" name="Text 13"/>
          <p:cNvSpPr/>
          <p:nvPr/>
        </p:nvSpPr>
        <p:spPr>
          <a:xfrm>
            <a:off x="5358384"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LangGraph 6-stage auditable trace</a:t>
            </a:r>
            <a:endParaRPr lang="en-US" sz="1300" dirty="0"/>
          </a:p>
        </p:txBody>
      </p:sp>
      <p:sp>
        <p:nvSpPr>
          <p:cNvPr id="16" name="Shape 14"/>
          <p:cNvSpPr/>
          <p:nvPr/>
        </p:nvSpPr>
        <p:spPr>
          <a:xfrm>
            <a:off x="7470648" y="2194560"/>
            <a:ext cx="2112264" cy="2468880"/>
          </a:xfrm>
          <a:prstGeom prst="roundRect">
            <a:avLst>
              <a:gd name="adj" fmla="val 3896"/>
            </a:avLst>
          </a:prstGeom>
          <a:solidFill>
            <a:srgbClr val="15110D"/>
          </a:solidFill>
          <a:ln w="12700">
            <a:solidFill>
              <a:srgbClr val="3B2E22"/>
            </a:solidFill>
            <a:prstDash val="solid"/>
          </a:ln>
        </p:spPr>
      </p:sp>
      <p:sp>
        <p:nvSpPr>
          <p:cNvPr id="17" name="Shape 15"/>
          <p:cNvSpPr/>
          <p:nvPr/>
        </p:nvSpPr>
        <p:spPr>
          <a:xfrm>
            <a:off x="7470648" y="2194560"/>
            <a:ext cx="2112264" cy="64008"/>
          </a:xfrm>
          <a:prstGeom prst="rect">
            <a:avLst/>
          </a:prstGeom>
          <a:solidFill>
            <a:srgbClr val="F7EFE1"/>
          </a:solidFill>
          <a:ln/>
        </p:spPr>
      </p:sp>
      <p:sp>
        <p:nvSpPr>
          <p:cNvPr id="18" name="Text 16"/>
          <p:cNvSpPr/>
          <p:nvPr/>
        </p:nvSpPr>
        <p:spPr>
          <a:xfrm>
            <a:off x="7635240"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Disaster RAG</a:t>
            </a:r>
            <a:endParaRPr lang="en-US" sz="1700" dirty="0"/>
          </a:p>
        </p:txBody>
      </p:sp>
      <p:sp>
        <p:nvSpPr>
          <p:cNvPr id="19" name="Text 17"/>
          <p:cNvSpPr/>
          <p:nvPr/>
        </p:nvSpPr>
        <p:spPr>
          <a:xfrm>
            <a:off x="7635240"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Gemini precedent matching</a:t>
            </a:r>
            <a:endParaRPr lang="en-US" sz="1300" dirty="0"/>
          </a:p>
        </p:txBody>
      </p:sp>
      <p:sp>
        <p:nvSpPr>
          <p:cNvPr id="20" name="Shape 18"/>
          <p:cNvSpPr/>
          <p:nvPr/>
        </p:nvSpPr>
        <p:spPr>
          <a:xfrm>
            <a:off x="9747504" y="2194560"/>
            <a:ext cx="2112264" cy="2468880"/>
          </a:xfrm>
          <a:prstGeom prst="roundRect">
            <a:avLst>
              <a:gd name="adj" fmla="val 3896"/>
            </a:avLst>
          </a:prstGeom>
          <a:solidFill>
            <a:srgbClr val="15110D"/>
          </a:solidFill>
          <a:ln w="12700">
            <a:solidFill>
              <a:srgbClr val="3B2E22"/>
            </a:solidFill>
            <a:prstDash val="solid"/>
          </a:ln>
        </p:spPr>
      </p:sp>
      <p:sp>
        <p:nvSpPr>
          <p:cNvPr id="21" name="Shape 19"/>
          <p:cNvSpPr/>
          <p:nvPr/>
        </p:nvSpPr>
        <p:spPr>
          <a:xfrm>
            <a:off x="9747504" y="2194560"/>
            <a:ext cx="2112264" cy="64008"/>
          </a:xfrm>
          <a:prstGeom prst="rect">
            <a:avLst/>
          </a:prstGeom>
          <a:solidFill>
            <a:srgbClr val="FF2B4E"/>
          </a:solidFill>
          <a:ln/>
        </p:spPr>
      </p:sp>
      <p:sp>
        <p:nvSpPr>
          <p:cNvPr id="22" name="Text 20"/>
          <p:cNvSpPr/>
          <p:nvPr/>
        </p:nvSpPr>
        <p:spPr>
          <a:xfrm>
            <a:off x="9912096" y="2514600"/>
            <a:ext cx="1783080" cy="822960"/>
          </a:xfrm>
          <a:prstGeom prst="rect">
            <a:avLst/>
          </a:prstGeom>
          <a:noFill/>
          <a:ln/>
        </p:spPr>
        <p:txBody>
          <a:bodyPr wrap="square" lIns="0" tIns="0" rIns="0" bIns="0" rtlCol="0" anchor="t"/>
          <a:lstStyle/>
          <a:p>
            <a:pPr indent="0" marL="0">
              <a:buNone/>
            </a:pPr>
            <a:r>
              <a:rPr lang="en-US" sz="1700" b="1" dirty="0">
                <a:solidFill>
                  <a:srgbClr val="F7EFE1"/>
                </a:solidFill>
                <a:latin typeface="Trebuchet MS" pitchFamily="34" charset="0"/>
                <a:ea typeface="Trebuchet MS" pitchFamily="34" charset="-122"/>
                <a:cs typeface="Trebuchet MS" pitchFamily="34" charset="-120"/>
              </a:rPr>
              <a:t>Response</a:t>
            </a:r>
            <a:endParaRPr lang="en-US" sz="1700" dirty="0"/>
          </a:p>
        </p:txBody>
      </p:sp>
      <p:sp>
        <p:nvSpPr>
          <p:cNvPr id="23" name="Text 21"/>
          <p:cNvSpPr/>
          <p:nvPr/>
        </p:nvSpPr>
        <p:spPr>
          <a:xfrm>
            <a:off x="9912096" y="3429000"/>
            <a:ext cx="1783080" cy="1005840"/>
          </a:xfrm>
          <a:prstGeom prst="rect">
            <a:avLst/>
          </a:prstGeom>
          <a:noFill/>
          <a:ln/>
        </p:spPr>
        <p:txBody>
          <a:bodyPr wrap="square" lIns="0" tIns="0" rIns="0" bIns="0" rtlCol="0" anchor="t"/>
          <a:lstStyle/>
          <a:p>
            <a:pPr indent="0" marL="0">
              <a:buNone/>
            </a:pPr>
            <a:r>
              <a:rPr lang="en-US" sz="1300" dirty="0">
                <a:solidFill>
                  <a:srgbClr val="7C6F5E"/>
                </a:solidFill>
                <a:latin typeface="Calibri" pitchFamily="34" charset="0"/>
                <a:ea typeface="Calibri" pitchFamily="34" charset="-122"/>
                <a:cs typeface="Calibri" pitchFamily="34" charset="-120"/>
              </a:rPr>
              <a:t>report + multilingual alerts</a:t>
            </a:r>
            <a:endParaRPr lang="en-US" sz="1300" dirty="0"/>
          </a:p>
        </p:txBody>
      </p:sp>
      <p:sp>
        <p:nvSpPr>
          <p:cNvPr id="24" name="Shape 22"/>
          <p:cNvSpPr/>
          <p:nvPr/>
        </p:nvSpPr>
        <p:spPr>
          <a:xfrm>
            <a:off x="640080" y="5029200"/>
            <a:ext cx="10908792" cy="914400"/>
          </a:xfrm>
          <a:prstGeom prst="roundRect">
            <a:avLst>
              <a:gd name="adj" fmla="val 9000"/>
            </a:avLst>
          </a:prstGeom>
          <a:solidFill>
            <a:srgbClr val="100C09"/>
          </a:solidFill>
          <a:ln w="12700">
            <a:solidFill>
              <a:srgbClr val="FF6A1A"/>
            </a:solidFill>
            <a:prstDash val="solid"/>
          </a:ln>
        </p:spPr>
      </p:sp>
      <p:sp>
        <p:nvSpPr>
          <p:cNvPr id="25" name="Text 23"/>
          <p:cNvSpPr/>
          <p:nvPr/>
        </p:nvSpPr>
        <p:spPr>
          <a:xfrm>
            <a:off x="914400" y="5029200"/>
            <a:ext cx="10332720" cy="914400"/>
          </a:xfrm>
          <a:prstGeom prst="rect">
            <a:avLst/>
          </a:prstGeom>
          <a:noFill/>
          <a:ln/>
        </p:spPr>
        <p:txBody>
          <a:bodyPr wrap="square" lIns="0" tIns="0" rIns="0" bIns="0" rtlCol="0" anchor="ctr"/>
          <a:lstStyle/>
          <a:p>
            <a:pPr indent="0" marL="0">
              <a:buNone/>
            </a:pPr>
            <a:r>
              <a:rPr lang="en-US" sz="1500" b="1" dirty="0">
                <a:solidFill>
                  <a:srgbClr val="FF6A1A"/>
                </a:solidFill>
                <a:latin typeface="Calibri" pitchFamily="34" charset="0"/>
                <a:ea typeface="Calibri" pitchFamily="34" charset="-122"/>
                <a:cs typeface="Calibri" pitchFamily="34" charset="-120"/>
              </a:rPr>
              <a:t>Hybrid by design:  </a:t>
            </a:r>
            <a:pPr indent="0" marL="0">
              <a:buNone/>
            </a:pPr>
            <a:r>
              <a:rPr lang="en-US" sz="1500" dirty="0">
                <a:solidFill>
                  <a:srgbClr val="C6B9A6"/>
                </a:solidFill>
                <a:latin typeface="Calibri" pitchFamily="34" charset="0"/>
                <a:ea typeface="Calibri" pitchFamily="34" charset="-122"/>
                <a:cs typeface="Calibri" pitchFamily="34" charset="-120"/>
              </a:rPr>
              <a:t>a transparent, deterministic backbone makes the life-safety decision — the LLM only explains, retrieves precedent, and drafts reports. No black box in the loop.</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DIFFERENTIATOR</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We've seen this death before</a:t>
            </a:r>
            <a:endParaRPr lang="en-US" sz="3400" dirty="0"/>
          </a:p>
        </p:txBody>
      </p:sp>
      <p:sp>
        <p:nvSpPr>
          <p:cNvPr id="4" name="Shape 2"/>
          <p:cNvSpPr/>
          <p:nvPr/>
        </p:nvSpPr>
        <p:spPr>
          <a:xfrm>
            <a:off x="640080" y="2103120"/>
            <a:ext cx="3657600" cy="3383280"/>
          </a:xfrm>
          <a:prstGeom prst="roundRect">
            <a:avLst>
              <a:gd name="adj" fmla="val 2432"/>
            </a:avLst>
          </a:prstGeom>
          <a:solidFill>
            <a:srgbClr val="1F0F0B"/>
          </a:solidFill>
          <a:ln w="12700">
            <a:solidFill>
              <a:srgbClr val="FF2B4E"/>
            </a:solidFill>
            <a:prstDash val="solid"/>
          </a:ln>
        </p:spPr>
      </p:sp>
      <p:sp>
        <p:nvSpPr>
          <p:cNvPr id="5" name="Text 3"/>
          <p:cNvSpPr/>
          <p:nvPr/>
        </p:nvSpPr>
        <p:spPr>
          <a:xfrm>
            <a:off x="640080" y="2606040"/>
            <a:ext cx="3657600" cy="1188720"/>
          </a:xfrm>
          <a:prstGeom prst="rect">
            <a:avLst/>
          </a:prstGeom>
          <a:noFill/>
          <a:ln/>
        </p:spPr>
        <p:txBody>
          <a:bodyPr wrap="square" lIns="0" tIns="0" rIns="0" bIns="0" rtlCol="0" anchor="ctr"/>
          <a:lstStyle/>
          <a:p>
            <a:pPr algn="ctr" indent="0" marL="0">
              <a:buNone/>
            </a:pPr>
            <a:r>
              <a:rPr lang="en-US" sz="9600" b="1" dirty="0">
                <a:solidFill>
                  <a:srgbClr val="FF2B4E"/>
                </a:solidFill>
                <a:latin typeface="Trebuchet MS" pitchFamily="34" charset="0"/>
                <a:ea typeface="Trebuchet MS" pitchFamily="34" charset="-122"/>
                <a:cs typeface="Trebuchet MS" pitchFamily="34" charset="-120"/>
              </a:rPr>
              <a:t>81</a:t>
            </a:r>
            <a:endParaRPr lang="en-US" sz="9600" dirty="0"/>
          </a:p>
        </p:txBody>
      </p:sp>
      <p:sp>
        <p:nvSpPr>
          <p:cNvPr id="6" name="Text 4"/>
          <p:cNvSpPr/>
          <p:nvPr/>
        </p:nvSpPr>
        <p:spPr>
          <a:xfrm>
            <a:off x="640080" y="3794760"/>
            <a:ext cx="3657600" cy="365760"/>
          </a:xfrm>
          <a:prstGeom prst="rect">
            <a:avLst/>
          </a:prstGeom>
          <a:noFill/>
          <a:ln/>
        </p:spPr>
        <p:txBody>
          <a:bodyPr wrap="square" lIns="0" tIns="0" rIns="0" bIns="0" rtlCol="0" anchor="ctr"/>
          <a:lstStyle/>
          <a:p>
            <a:pPr algn="ctr" indent="0" marL="0">
              <a:buNone/>
            </a:pPr>
            <a:r>
              <a:rPr lang="en-US" sz="1600" spc="200" kern="0" dirty="0">
                <a:solidFill>
                  <a:srgbClr val="FF6A1A"/>
                </a:solidFill>
                <a:latin typeface="Consolas" pitchFamily="34" charset="0"/>
                <a:ea typeface="Consolas" pitchFamily="34" charset="-122"/>
                <a:cs typeface="Consolas" pitchFamily="34" charset="-120"/>
              </a:rPr>
              <a:t>% MATCH</a:t>
            </a:r>
            <a:endParaRPr lang="en-US" sz="1600" dirty="0"/>
          </a:p>
        </p:txBody>
      </p:sp>
      <p:sp>
        <p:nvSpPr>
          <p:cNvPr id="7" name="Text 5"/>
          <p:cNvSpPr/>
          <p:nvPr/>
        </p:nvSpPr>
        <p:spPr>
          <a:xfrm>
            <a:off x="822960" y="4389120"/>
            <a:ext cx="3291840" cy="731520"/>
          </a:xfrm>
          <a:prstGeom prst="rect">
            <a:avLst/>
          </a:prstGeom>
          <a:noFill/>
          <a:ln/>
        </p:spPr>
        <p:txBody>
          <a:bodyPr wrap="square" lIns="0" tIns="0" rIns="0" bIns="0" rtlCol="0" anchor="ctr"/>
          <a:lstStyle/>
          <a:p>
            <a:pPr algn="ctr" indent="0" marL="0">
              <a:buNone/>
            </a:pPr>
            <a:r>
              <a:rPr lang="en-US" sz="1400" dirty="0">
                <a:solidFill>
                  <a:srgbClr val="C6B9A6"/>
                </a:solidFill>
                <a:latin typeface="Calibri" pitchFamily="34" charset="0"/>
                <a:ea typeface="Calibri" pitchFamily="34" charset="-122"/>
                <a:cs typeface="Calibri" pitchFamily="34" charset="-120"/>
              </a:rPr>
              <a:t>Visakhapatnam coke-oven  explosion · 2025 · 8 killed</a:t>
            </a:r>
            <a:endParaRPr lang="en-US" sz="1400" dirty="0"/>
          </a:p>
        </p:txBody>
      </p:sp>
      <p:sp>
        <p:nvSpPr>
          <p:cNvPr id="8" name="Shape 6"/>
          <p:cNvSpPr/>
          <p:nvPr/>
        </p:nvSpPr>
        <p:spPr>
          <a:xfrm>
            <a:off x="4572000" y="2103120"/>
            <a:ext cx="6976872" cy="2331720"/>
          </a:xfrm>
          <a:prstGeom prst="roundRect">
            <a:avLst>
              <a:gd name="adj" fmla="val 3529"/>
            </a:avLst>
          </a:prstGeom>
          <a:solidFill>
            <a:srgbClr val="15110D"/>
          </a:solidFill>
          <a:ln w="12700">
            <a:solidFill>
              <a:srgbClr val="3B2E22"/>
            </a:solidFill>
            <a:prstDash val="solid"/>
          </a:ln>
        </p:spPr>
      </p:sp>
      <p:sp>
        <p:nvSpPr>
          <p:cNvPr id="9" name="Text 7"/>
          <p:cNvSpPr/>
          <p:nvPr/>
        </p:nvSpPr>
        <p:spPr>
          <a:xfrm>
            <a:off x="4846320" y="2331720"/>
            <a:ext cx="6400800" cy="274320"/>
          </a:xfrm>
          <a:prstGeom prst="rect">
            <a:avLst/>
          </a:prstGeom>
          <a:noFill/>
          <a:ln/>
        </p:spPr>
        <p:txBody>
          <a:bodyPr wrap="square" lIns="0" tIns="0" rIns="0" bIns="0" rtlCol="0" anchor="ctr"/>
          <a:lstStyle/>
          <a:p>
            <a:pPr indent="0" marL="0">
              <a:buNone/>
            </a:pPr>
            <a:r>
              <a:rPr lang="en-US" sz="1100" spc="200" kern="0" dirty="0">
                <a:solidFill>
                  <a:srgbClr val="7C6F5E"/>
                </a:solidFill>
                <a:latin typeface="Consolas" pitchFamily="34" charset="0"/>
                <a:ea typeface="Consolas" pitchFamily="34" charset="-122"/>
                <a:cs typeface="Consolas" pitchFamily="34" charset="-120"/>
              </a:rPr>
              <a:t>GROUNDED BRIEFING</a:t>
            </a:r>
            <a:endParaRPr lang="en-US" sz="1100" dirty="0"/>
          </a:p>
        </p:txBody>
      </p:sp>
      <p:sp>
        <p:nvSpPr>
          <p:cNvPr id="10" name="Text 8"/>
          <p:cNvSpPr/>
          <p:nvPr/>
        </p:nvSpPr>
        <p:spPr>
          <a:xfrm>
            <a:off x="4846320" y="2743200"/>
            <a:ext cx="6446520" cy="1554480"/>
          </a:xfrm>
          <a:prstGeom prst="rect">
            <a:avLst/>
          </a:prstGeom>
          <a:noFill/>
          <a:ln/>
        </p:spPr>
        <p:txBody>
          <a:bodyPr wrap="square" lIns="0" tIns="0" rIns="0" bIns="0" rtlCol="0" anchor="t"/>
          <a:lstStyle/>
          <a:p>
            <a:pPr indent="0" marL="0">
              <a:buNone/>
            </a:pPr>
            <a:r>
              <a:rPr lang="en-US" sz="1600" i="1" dirty="0">
                <a:solidFill>
                  <a:srgbClr val="F7EFE1"/>
                </a:solidFill>
                <a:latin typeface="Calibri" pitchFamily="34" charset="0"/>
                <a:ea typeface="Calibri" pitchFamily="34" charset="-122"/>
                <a:cs typeface="Calibri" pitchFamily="34" charset="-120"/>
              </a:rPr>
              <a:t>“The present condition echoes the Visakhapatnam coke-oven explosion — rising CH4 alongside an active ignition source mirrors the precedent's root cause of unacted-upon warnings. The single most important action is the immediate cessation of hot-work and evacuation of personnel.”</a:t>
            </a:r>
            <a:endParaRPr lang="en-US" sz="1600" dirty="0"/>
          </a:p>
        </p:txBody>
      </p:sp>
      <p:sp>
        <p:nvSpPr>
          <p:cNvPr id="11" name="Shape 9"/>
          <p:cNvSpPr/>
          <p:nvPr/>
        </p:nvSpPr>
        <p:spPr>
          <a:xfrm>
            <a:off x="4572000" y="4617720"/>
            <a:ext cx="2240280" cy="868680"/>
          </a:xfrm>
          <a:prstGeom prst="roundRect">
            <a:avLst>
              <a:gd name="adj" fmla="val 9474"/>
            </a:avLst>
          </a:prstGeom>
          <a:solidFill>
            <a:srgbClr val="100C09"/>
          </a:solidFill>
          <a:ln w="12700">
            <a:solidFill>
              <a:srgbClr val="3B2E22"/>
            </a:solidFill>
            <a:prstDash val="solid"/>
          </a:ln>
        </p:spPr>
      </p:sp>
      <p:sp>
        <p:nvSpPr>
          <p:cNvPr id="12" name="Text 10"/>
          <p:cNvSpPr/>
          <p:nvPr/>
        </p:nvSpPr>
        <p:spPr>
          <a:xfrm>
            <a:off x="4754880" y="4754880"/>
            <a:ext cx="822960" cy="594360"/>
          </a:xfrm>
          <a:prstGeom prst="rect">
            <a:avLst/>
          </a:prstGeom>
          <a:noFill/>
          <a:ln/>
        </p:spPr>
        <p:txBody>
          <a:bodyPr wrap="square" lIns="0" tIns="0" rIns="0" bIns="0" rtlCol="0" anchor="ctr"/>
          <a:lstStyle/>
          <a:p>
            <a:pPr indent="0" marL="0">
              <a:buNone/>
            </a:pPr>
            <a:r>
              <a:rPr lang="en-US" sz="2200" b="1" dirty="0">
                <a:solidFill>
                  <a:srgbClr val="FF6A1A"/>
                </a:solidFill>
                <a:latin typeface="Trebuchet MS" pitchFamily="34" charset="0"/>
                <a:ea typeface="Trebuchet MS" pitchFamily="34" charset="-122"/>
                <a:cs typeface="Trebuchet MS" pitchFamily="34" charset="-120"/>
              </a:rPr>
              <a:t>73%</a:t>
            </a:r>
            <a:endParaRPr lang="en-US" sz="2200" dirty="0"/>
          </a:p>
        </p:txBody>
      </p:sp>
      <p:sp>
        <p:nvSpPr>
          <p:cNvPr id="13" name="Text 11"/>
          <p:cNvSpPr/>
          <p:nvPr/>
        </p:nvSpPr>
        <p:spPr>
          <a:xfrm>
            <a:off x="5486400" y="4754880"/>
            <a:ext cx="1234440" cy="59436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Texas City refinery</a:t>
            </a:r>
            <a:endParaRPr lang="en-US" sz="1200" dirty="0"/>
          </a:p>
        </p:txBody>
      </p:sp>
      <p:sp>
        <p:nvSpPr>
          <p:cNvPr id="14" name="Shape 12"/>
          <p:cNvSpPr/>
          <p:nvPr/>
        </p:nvSpPr>
        <p:spPr>
          <a:xfrm>
            <a:off x="6940296" y="4617720"/>
            <a:ext cx="2240280" cy="868680"/>
          </a:xfrm>
          <a:prstGeom prst="roundRect">
            <a:avLst>
              <a:gd name="adj" fmla="val 9474"/>
            </a:avLst>
          </a:prstGeom>
          <a:solidFill>
            <a:srgbClr val="100C09"/>
          </a:solidFill>
          <a:ln w="12700">
            <a:solidFill>
              <a:srgbClr val="3B2E22"/>
            </a:solidFill>
            <a:prstDash val="solid"/>
          </a:ln>
        </p:spPr>
      </p:sp>
      <p:sp>
        <p:nvSpPr>
          <p:cNvPr id="15" name="Text 13"/>
          <p:cNvSpPr/>
          <p:nvPr/>
        </p:nvSpPr>
        <p:spPr>
          <a:xfrm>
            <a:off x="7123176" y="4754880"/>
            <a:ext cx="822960" cy="594360"/>
          </a:xfrm>
          <a:prstGeom prst="rect">
            <a:avLst/>
          </a:prstGeom>
          <a:noFill/>
          <a:ln/>
        </p:spPr>
        <p:txBody>
          <a:bodyPr wrap="square" lIns="0" tIns="0" rIns="0" bIns="0" rtlCol="0" anchor="ctr"/>
          <a:lstStyle/>
          <a:p>
            <a:pPr indent="0" marL="0">
              <a:buNone/>
            </a:pPr>
            <a:r>
              <a:rPr lang="en-US" sz="2200" b="1" dirty="0">
                <a:solidFill>
                  <a:srgbClr val="FF6A1A"/>
                </a:solidFill>
                <a:latin typeface="Trebuchet MS" pitchFamily="34" charset="0"/>
                <a:ea typeface="Trebuchet MS" pitchFamily="34" charset="-122"/>
                <a:cs typeface="Trebuchet MS" pitchFamily="34" charset="-120"/>
              </a:rPr>
              <a:t>71%</a:t>
            </a:r>
            <a:endParaRPr lang="en-US" sz="2200" dirty="0"/>
          </a:p>
        </p:txBody>
      </p:sp>
      <p:sp>
        <p:nvSpPr>
          <p:cNvPr id="16" name="Text 14"/>
          <p:cNvSpPr/>
          <p:nvPr/>
        </p:nvSpPr>
        <p:spPr>
          <a:xfrm>
            <a:off x="7854696" y="4754880"/>
            <a:ext cx="1234440" cy="59436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Hot-work ignition</a:t>
            </a:r>
            <a:endParaRPr lang="en-US" sz="1200" dirty="0"/>
          </a:p>
        </p:txBody>
      </p:sp>
      <p:sp>
        <p:nvSpPr>
          <p:cNvPr id="17" name="Shape 15"/>
          <p:cNvSpPr/>
          <p:nvPr/>
        </p:nvSpPr>
        <p:spPr>
          <a:xfrm>
            <a:off x="9308592" y="4617720"/>
            <a:ext cx="2240280" cy="868680"/>
          </a:xfrm>
          <a:prstGeom prst="roundRect">
            <a:avLst>
              <a:gd name="adj" fmla="val 9474"/>
            </a:avLst>
          </a:prstGeom>
          <a:solidFill>
            <a:srgbClr val="100C09"/>
          </a:solidFill>
          <a:ln w="12700">
            <a:solidFill>
              <a:srgbClr val="3B2E22"/>
            </a:solidFill>
            <a:prstDash val="solid"/>
          </a:ln>
        </p:spPr>
      </p:sp>
      <p:sp>
        <p:nvSpPr>
          <p:cNvPr id="18" name="Text 16"/>
          <p:cNvSpPr/>
          <p:nvPr/>
        </p:nvSpPr>
        <p:spPr>
          <a:xfrm>
            <a:off x="9491472" y="4754880"/>
            <a:ext cx="822960" cy="594360"/>
          </a:xfrm>
          <a:prstGeom prst="rect">
            <a:avLst/>
          </a:prstGeom>
          <a:noFill/>
          <a:ln/>
        </p:spPr>
        <p:txBody>
          <a:bodyPr wrap="square" lIns="0" tIns="0" rIns="0" bIns="0" rtlCol="0" anchor="ctr"/>
          <a:lstStyle/>
          <a:p>
            <a:pPr indent="0" marL="0">
              <a:buNone/>
            </a:pPr>
            <a:r>
              <a:rPr lang="en-US" sz="2200" b="1" dirty="0">
                <a:solidFill>
                  <a:srgbClr val="FF6A1A"/>
                </a:solidFill>
                <a:latin typeface="Trebuchet MS" pitchFamily="34" charset="0"/>
                <a:ea typeface="Trebuchet MS" pitchFamily="34" charset="-122"/>
                <a:cs typeface="Trebuchet MS" pitchFamily="34" charset="-120"/>
              </a:rPr>
              <a:t>—</a:t>
            </a:r>
            <a:endParaRPr lang="en-US" sz="2200" dirty="0"/>
          </a:p>
        </p:txBody>
      </p:sp>
      <p:sp>
        <p:nvSpPr>
          <p:cNvPr id="19" name="Text 17"/>
          <p:cNvSpPr/>
          <p:nvPr/>
        </p:nvSpPr>
        <p:spPr>
          <a:xfrm>
            <a:off x="10222992" y="4754880"/>
            <a:ext cx="1234440" cy="59436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Piper Alpha</a:t>
            </a:r>
            <a:endParaRPr lang="en-US" sz="1200" dirty="0"/>
          </a:p>
        </p:txBody>
      </p:sp>
      <p:sp>
        <p:nvSpPr>
          <p:cNvPr id="20" name="Text 18"/>
          <p:cNvSpPr/>
          <p:nvPr/>
        </p:nvSpPr>
        <p:spPr>
          <a:xfrm>
            <a:off x="640080" y="5760720"/>
            <a:ext cx="10972800" cy="365760"/>
          </a:xfrm>
          <a:prstGeom prst="rect">
            <a:avLst/>
          </a:prstGeom>
          <a:noFill/>
          <a:ln/>
        </p:spPr>
        <p:txBody>
          <a:bodyPr wrap="square" lIns="0" tIns="0" rIns="0" bIns="0" rtlCol="0" anchor="ctr"/>
          <a:lstStyle/>
          <a:p>
            <a:pPr indent="0" marL="0">
              <a:buNone/>
            </a:pPr>
            <a:r>
              <a:rPr lang="en-US" sz="1400" i="1" dirty="0">
                <a:solidFill>
                  <a:srgbClr val="7C6F5E"/>
                </a:solidFill>
                <a:latin typeface="Calibri" pitchFamily="34" charset="0"/>
                <a:ea typeface="Calibri" pitchFamily="34" charset="-122"/>
                <a:cs typeface="Calibri" pitchFamily="34" charset="-120"/>
              </a:rPr>
              <a:t>Live conditions embedded with Gemini, matched against a corpus of real industrial disasters.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PROACTIVE, NOT REACTIVE</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Pre-mortem: the hazard that hasn't happened yet</a:t>
            </a:r>
            <a:endParaRPr lang="en-US" sz="3400" dirty="0"/>
          </a:p>
        </p:txBody>
      </p:sp>
      <p:sp>
        <p:nvSpPr>
          <p:cNvPr id="4" name="Shape 2"/>
          <p:cNvSpPr/>
          <p:nvPr/>
        </p:nvSpPr>
        <p:spPr>
          <a:xfrm>
            <a:off x="640080" y="2103120"/>
            <a:ext cx="2606040" cy="1417320"/>
          </a:xfrm>
          <a:prstGeom prst="roundRect">
            <a:avLst>
              <a:gd name="adj" fmla="val 5806"/>
            </a:avLst>
          </a:prstGeom>
          <a:solidFill>
            <a:srgbClr val="15110D"/>
          </a:solidFill>
          <a:ln w="12700">
            <a:solidFill>
              <a:srgbClr val="3B2E22"/>
            </a:solidFill>
            <a:prstDash val="solid"/>
          </a:ln>
        </p:spPr>
      </p:sp>
      <p:sp>
        <p:nvSpPr>
          <p:cNvPr id="5" name="Text 3"/>
          <p:cNvSpPr/>
          <p:nvPr/>
        </p:nvSpPr>
        <p:spPr>
          <a:xfrm>
            <a:off x="822960" y="2286000"/>
            <a:ext cx="2240280" cy="640080"/>
          </a:xfrm>
          <a:prstGeom prst="rect">
            <a:avLst/>
          </a:prstGeom>
          <a:noFill/>
          <a:ln/>
        </p:spPr>
        <p:txBody>
          <a:bodyPr wrap="square" lIns="0" tIns="0" rIns="0" bIns="0" rtlCol="0" anchor="ctr"/>
          <a:lstStyle/>
          <a:p>
            <a:pPr indent="0" marL="0">
              <a:buNone/>
            </a:pPr>
            <a:r>
              <a:rPr lang="en-US" sz="3400" b="1" dirty="0">
                <a:solidFill>
                  <a:srgbClr val="FF6A1A"/>
                </a:solidFill>
                <a:latin typeface="Trebuchet MS" pitchFamily="34" charset="0"/>
                <a:ea typeface="Trebuchet MS" pitchFamily="34" charset="-122"/>
                <a:cs typeface="Trebuchet MS" pitchFamily="34" charset="-120"/>
              </a:rPr>
              <a:t>228</a:t>
            </a:r>
            <a:endParaRPr lang="en-US" sz="3400" dirty="0"/>
          </a:p>
        </p:txBody>
      </p:sp>
      <p:sp>
        <p:nvSpPr>
          <p:cNvPr id="6" name="Text 4"/>
          <p:cNvSpPr/>
          <p:nvPr/>
        </p:nvSpPr>
        <p:spPr>
          <a:xfrm>
            <a:off x="8229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placements searched</a:t>
            </a:r>
            <a:endParaRPr lang="en-US" sz="1150" dirty="0"/>
          </a:p>
        </p:txBody>
      </p:sp>
      <p:sp>
        <p:nvSpPr>
          <p:cNvPr id="7" name="Shape 5"/>
          <p:cNvSpPr/>
          <p:nvPr/>
        </p:nvSpPr>
        <p:spPr>
          <a:xfrm>
            <a:off x="3383280" y="2103120"/>
            <a:ext cx="2606040" cy="1417320"/>
          </a:xfrm>
          <a:prstGeom prst="roundRect">
            <a:avLst>
              <a:gd name="adj" fmla="val 5806"/>
            </a:avLst>
          </a:prstGeom>
          <a:solidFill>
            <a:srgbClr val="15110D"/>
          </a:solidFill>
          <a:ln w="12700">
            <a:solidFill>
              <a:srgbClr val="3B2E22"/>
            </a:solidFill>
            <a:prstDash val="solid"/>
          </a:ln>
        </p:spPr>
      </p:sp>
      <p:sp>
        <p:nvSpPr>
          <p:cNvPr id="8" name="Text 6"/>
          <p:cNvSpPr/>
          <p:nvPr/>
        </p:nvSpPr>
        <p:spPr>
          <a:xfrm>
            <a:off x="3566160" y="2286000"/>
            <a:ext cx="2240280" cy="640080"/>
          </a:xfrm>
          <a:prstGeom prst="rect">
            <a:avLst/>
          </a:prstGeom>
          <a:noFill/>
          <a:ln/>
        </p:spPr>
        <p:txBody>
          <a:bodyPr wrap="square" lIns="0" tIns="0" rIns="0" bIns="0" rtlCol="0" anchor="ctr"/>
          <a:lstStyle/>
          <a:p>
            <a:pPr indent="0" marL="0">
              <a:buNone/>
            </a:pPr>
            <a:r>
              <a:rPr lang="en-US" sz="3400" b="1" dirty="0">
                <a:solidFill>
                  <a:srgbClr val="FF2B4E"/>
                </a:solidFill>
                <a:latin typeface="Trebuchet MS" pitchFamily="34" charset="0"/>
                <a:ea typeface="Trebuchet MS" pitchFamily="34" charset="-122"/>
                <a:cs typeface="Trebuchet MS" pitchFamily="34" charset="-120"/>
              </a:rPr>
              <a:t>136</a:t>
            </a:r>
            <a:endParaRPr lang="en-US" sz="3400" dirty="0"/>
          </a:p>
        </p:txBody>
      </p:sp>
      <p:sp>
        <p:nvSpPr>
          <p:cNvPr id="9" name="Text 7"/>
          <p:cNvSpPr/>
          <p:nvPr/>
        </p:nvSpPr>
        <p:spPr>
          <a:xfrm>
            <a:off x="35661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compound hazards found</a:t>
            </a:r>
            <a:endParaRPr lang="en-US" sz="1150" dirty="0"/>
          </a:p>
        </p:txBody>
      </p:sp>
      <p:sp>
        <p:nvSpPr>
          <p:cNvPr id="10" name="Shape 8"/>
          <p:cNvSpPr/>
          <p:nvPr/>
        </p:nvSpPr>
        <p:spPr>
          <a:xfrm>
            <a:off x="6126480" y="2103120"/>
            <a:ext cx="2606040" cy="1417320"/>
          </a:xfrm>
          <a:prstGeom prst="roundRect">
            <a:avLst>
              <a:gd name="adj" fmla="val 5806"/>
            </a:avLst>
          </a:prstGeom>
          <a:solidFill>
            <a:srgbClr val="15110D"/>
          </a:solidFill>
          <a:ln w="12700">
            <a:solidFill>
              <a:srgbClr val="3B2E22"/>
            </a:solidFill>
            <a:prstDash val="solid"/>
          </a:ln>
        </p:spPr>
      </p:sp>
      <p:sp>
        <p:nvSpPr>
          <p:cNvPr id="11" name="Text 9"/>
          <p:cNvSpPr/>
          <p:nvPr/>
        </p:nvSpPr>
        <p:spPr>
          <a:xfrm>
            <a:off x="6309360" y="2286000"/>
            <a:ext cx="2240280" cy="640080"/>
          </a:xfrm>
          <a:prstGeom prst="rect">
            <a:avLst/>
          </a:prstGeom>
          <a:noFill/>
          <a:ln/>
        </p:spPr>
        <p:txBody>
          <a:bodyPr wrap="square" lIns="0" tIns="0" rIns="0" bIns="0" rtlCol="0" anchor="ctr"/>
          <a:lstStyle/>
          <a:p>
            <a:pPr indent="0" marL="0">
              <a:buNone/>
            </a:pPr>
            <a:r>
              <a:rPr lang="en-US" sz="3400" b="1" dirty="0">
                <a:solidFill>
                  <a:srgbClr val="F5902B"/>
                </a:solidFill>
                <a:latin typeface="Trebuchet MS" pitchFamily="34" charset="0"/>
                <a:ea typeface="Trebuchet MS" pitchFamily="34" charset="-122"/>
                <a:cs typeface="Trebuchet MS" pitchFamily="34" charset="-120"/>
              </a:rPr>
              <a:t>124</a:t>
            </a:r>
            <a:endParaRPr lang="en-US" sz="3400" dirty="0"/>
          </a:p>
        </p:txBody>
      </p:sp>
      <p:sp>
        <p:nvSpPr>
          <p:cNvPr id="12" name="Text 10"/>
          <p:cNvSpPr/>
          <p:nvPr/>
        </p:nvSpPr>
        <p:spPr>
          <a:xfrm>
            <a:off x="63093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cross-zone (walkdowns miss)</a:t>
            </a:r>
            <a:endParaRPr lang="en-US" sz="1150" dirty="0"/>
          </a:p>
        </p:txBody>
      </p:sp>
      <p:sp>
        <p:nvSpPr>
          <p:cNvPr id="13" name="Shape 11"/>
          <p:cNvSpPr/>
          <p:nvPr/>
        </p:nvSpPr>
        <p:spPr>
          <a:xfrm>
            <a:off x="8869680" y="2103120"/>
            <a:ext cx="2606040" cy="1417320"/>
          </a:xfrm>
          <a:prstGeom prst="roundRect">
            <a:avLst>
              <a:gd name="adj" fmla="val 5806"/>
            </a:avLst>
          </a:prstGeom>
          <a:solidFill>
            <a:srgbClr val="15110D"/>
          </a:solidFill>
          <a:ln w="12700">
            <a:solidFill>
              <a:srgbClr val="3B2E22"/>
            </a:solidFill>
            <a:prstDash val="solid"/>
          </a:ln>
        </p:spPr>
      </p:sp>
      <p:sp>
        <p:nvSpPr>
          <p:cNvPr id="14" name="Text 12"/>
          <p:cNvSpPr/>
          <p:nvPr/>
        </p:nvSpPr>
        <p:spPr>
          <a:xfrm>
            <a:off x="9052560" y="2286000"/>
            <a:ext cx="2240280" cy="640080"/>
          </a:xfrm>
          <a:prstGeom prst="rect">
            <a:avLst/>
          </a:prstGeom>
          <a:noFill/>
          <a:ln/>
        </p:spPr>
        <p:txBody>
          <a:bodyPr wrap="square" lIns="0" tIns="0" rIns="0" bIns="0" rtlCol="0" anchor="ctr"/>
          <a:lstStyle/>
          <a:p>
            <a:pPr indent="0" marL="0">
              <a:buNone/>
            </a:pPr>
            <a:r>
              <a:rPr lang="en-US" sz="3400" b="1" dirty="0">
                <a:solidFill>
                  <a:srgbClr val="6B7886"/>
                </a:solidFill>
                <a:latin typeface="Trebuchet MS" pitchFamily="34" charset="0"/>
                <a:ea typeface="Trebuchet MS" pitchFamily="34" charset="-122"/>
                <a:cs typeface="Trebuchet MS" pitchFamily="34" charset="-120"/>
              </a:rPr>
              <a:t>92</a:t>
            </a:r>
            <a:endParaRPr lang="en-US" sz="3400" dirty="0"/>
          </a:p>
        </p:txBody>
      </p:sp>
      <p:sp>
        <p:nvSpPr>
          <p:cNvPr id="15" name="Text 13"/>
          <p:cNvSpPr/>
          <p:nvPr/>
        </p:nvSpPr>
        <p:spPr>
          <a:xfrm>
            <a:off x="9052560" y="2944368"/>
            <a:ext cx="2286000" cy="502920"/>
          </a:xfrm>
          <a:prstGeom prst="rect">
            <a:avLst/>
          </a:prstGeom>
          <a:noFill/>
          <a:ln/>
        </p:spPr>
        <p:txBody>
          <a:bodyPr wrap="square" lIns="0" tIns="0" rIns="0" bIns="0" rtlCol="0" anchor="t"/>
          <a:lstStyle/>
          <a:p>
            <a:pPr indent="0" marL="0">
              <a:buNone/>
            </a:pPr>
            <a:r>
              <a:rPr lang="en-US" sz="1150" dirty="0">
                <a:solidFill>
                  <a:srgbClr val="7C6F5E"/>
                </a:solidFill>
                <a:latin typeface="Calibri" pitchFamily="34" charset="0"/>
                <a:ea typeface="Calibri" pitchFamily="34" charset="-122"/>
                <a:cs typeface="Calibri" pitchFamily="34" charset="-120"/>
              </a:rPr>
              <a:t>correctly cleared</a:t>
            </a:r>
            <a:endParaRPr lang="en-US" sz="1150" dirty="0"/>
          </a:p>
        </p:txBody>
      </p:sp>
      <p:sp>
        <p:nvSpPr>
          <p:cNvPr id="16" name="Shape 14"/>
          <p:cNvSpPr/>
          <p:nvPr/>
        </p:nvSpPr>
        <p:spPr>
          <a:xfrm>
            <a:off x="640080" y="3749040"/>
            <a:ext cx="10908792" cy="1554480"/>
          </a:xfrm>
          <a:prstGeom prst="roundRect">
            <a:avLst>
              <a:gd name="adj" fmla="val 5294"/>
            </a:avLst>
          </a:prstGeom>
          <a:solidFill>
            <a:srgbClr val="1F0F0B"/>
          </a:solidFill>
          <a:ln w="12700">
            <a:solidFill>
              <a:srgbClr val="FF2B4E"/>
            </a:solidFill>
            <a:prstDash val="solid"/>
          </a:ln>
        </p:spPr>
      </p:sp>
      <p:sp>
        <p:nvSpPr>
          <p:cNvPr id="17" name="Text 15"/>
          <p:cNvSpPr/>
          <p:nvPr/>
        </p:nvSpPr>
        <p:spPr>
          <a:xfrm>
            <a:off x="914400" y="3931920"/>
            <a:ext cx="10058400" cy="274320"/>
          </a:xfrm>
          <a:prstGeom prst="rect">
            <a:avLst/>
          </a:prstGeom>
          <a:noFill/>
          <a:ln/>
        </p:spPr>
        <p:txBody>
          <a:bodyPr wrap="square" lIns="0" tIns="0" rIns="0" bIns="0" rtlCol="0" anchor="ctr"/>
          <a:lstStyle/>
          <a:p>
            <a:pPr indent="0" marL="0">
              <a:buNone/>
            </a:pPr>
            <a:r>
              <a:rPr lang="en-US" sz="1100" spc="100" kern="0" dirty="0">
                <a:solidFill>
                  <a:srgbClr val="FF2B4E"/>
                </a:solidFill>
                <a:latin typeface="Consolas" pitchFamily="34" charset="0"/>
                <a:ea typeface="Consolas" pitchFamily="34" charset="-122"/>
                <a:cs typeface="Consolas" pitchFamily="34" charset="-120"/>
              </a:rPr>
              <a:t>LARGEST-BLAST-RADIUS DISCOVERY</a:t>
            </a:r>
            <a:endParaRPr lang="en-US" sz="1100" dirty="0"/>
          </a:p>
        </p:txBody>
      </p:sp>
      <p:sp>
        <p:nvSpPr>
          <p:cNvPr id="18" name="Text 16"/>
          <p:cNvSpPr/>
          <p:nvPr/>
        </p:nvSpPr>
        <p:spPr>
          <a:xfrm>
            <a:off x="914400" y="4242816"/>
            <a:ext cx="10332720" cy="960120"/>
          </a:xfrm>
          <a:prstGeom prst="rect">
            <a:avLst/>
          </a:prstGeom>
          <a:noFill/>
          <a:ln/>
        </p:spPr>
        <p:txBody>
          <a:bodyPr wrap="square" lIns="0" tIns="0" rIns="0" bIns="0" rtlCol="0" anchor="t"/>
          <a:lstStyle/>
          <a:p>
            <a:pPr indent="0" marL="0">
              <a:buNone/>
            </a:pPr>
            <a:r>
              <a:rPr lang="en-US" sz="1500" dirty="0">
                <a:solidFill>
                  <a:srgbClr val="F7EFE1"/>
                </a:solidFill>
                <a:latin typeface="Calibri" pitchFamily="34" charset="0"/>
                <a:ea typeface="Calibri" pitchFamily="34" charset="-122"/>
                <a:cs typeface="Calibri" pitchFamily="34" charset="-120"/>
              </a:rPr>
              <a:t>Rising methane in Coke Oven Battery #1, hot work in the bay, and the crew working next door in the Gas Cleaning Plant — compound CRITICAL by T+10. The blast radius spans the gas-cleaning plant, the confined sump and the maintenance bay. No single zone looks dangerous on its own.</a:t>
            </a:r>
            <a:endParaRPr lang="en-US" sz="1500" dirty="0"/>
          </a:p>
        </p:txBody>
      </p:sp>
      <p:sp>
        <p:nvSpPr>
          <p:cNvPr id="19" name="Text 17"/>
          <p:cNvSpPr/>
          <p:nvPr/>
        </p:nvSpPr>
        <p:spPr>
          <a:xfrm>
            <a:off x="640080" y="5532120"/>
            <a:ext cx="10972800" cy="548640"/>
          </a:xfrm>
          <a:prstGeom prst="rect">
            <a:avLst/>
          </a:prstGeom>
          <a:noFill/>
          <a:ln/>
        </p:spPr>
        <p:txBody>
          <a:bodyPr wrap="square" lIns="0" tIns="0" rIns="0" bIns="0" rtlCol="0" anchor="t"/>
          <a:lstStyle/>
          <a:p>
            <a:pPr indent="0" marL="0">
              <a:buNone/>
            </a:pPr>
            <a:r>
              <a:rPr lang="en-US" sz="1300" i="1" dirty="0">
                <a:solidFill>
                  <a:srgbClr val="7C6F5E"/>
                </a:solidFill>
                <a:latin typeface="Calibri" pitchFamily="34" charset="0"/>
                <a:ea typeface="Calibri" pitchFamily="34" charset="-122"/>
                <a:cs typeface="Calibri" pitchFamily="34" charset="-120"/>
              </a:rPr>
              <a:t>Trinetra runs its own deterministic engine as an oracle across the plant's blast-radius map — discovering the cross-zone compounds a zone-by-zone walkdown rates safe, before they occur.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PREVENTION, NOT DETECTION</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Block the permit before it’s issued</a:t>
            </a:r>
            <a:endParaRPr lang="en-US" sz="3400" dirty="0"/>
          </a:p>
        </p:txBody>
      </p:sp>
      <p:sp>
        <p:nvSpPr>
          <p:cNvPr id="4" name="Shape 2"/>
          <p:cNvSpPr/>
          <p:nvPr/>
        </p:nvSpPr>
        <p:spPr>
          <a:xfrm>
            <a:off x="640080" y="2011680"/>
            <a:ext cx="4937760" cy="3977640"/>
          </a:xfrm>
          <a:prstGeom prst="roundRect">
            <a:avLst>
              <a:gd name="adj" fmla="val 2069"/>
            </a:avLst>
          </a:prstGeom>
          <a:solidFill>
            <a:srgbClr val="1F0F0B"/>
          </a:solidFill>
          <a:ln w="12700">
            <a:solidFill>
              <a:srgbClr val="FF2B4E"/>
            </a:solidFill>
            <a:prstDash val="solid"/>
          </a:ln>
        </p:spPr>
      </p:sp>
      <p:sp>
        <p:nvSpPr>
          <p:cNvPr id="5" name="Text 3"/>
          <p:cNvSpPr/>
          <p:nvPr/>
        </p:nvSpPr>
        <p:spPr>
          <a:xfrm>
            <a:off x="914400" y="2240280"/>
            <a:ext cx="43891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PERMIT DESK · HOT-WORK REQUEST · COB-1</a:t>
            </a:r>
            <a:endParaRPr lang="en-US" sz="1100" dirty="0"/>
          </a:p>
        </p:txBody>
      </p:sp>
      <p:sp>
        <p:nvSpPr>
          <p:cNvPr id="6" name="Text 4"/>
          <p:cNvSpPr/>
          <p:nvPr/>
        </p:nvSpPr>
        <p:spPr>
          <a:xfrm>
            <a:off x="914400" y="2578608"/>
            <a:ext cx="4389120" cy="822960"/>
          </a:xfrm>
          <a:prstGeom prst="rect">
            <a:avLst/>
          </a:prstGeom>
          <a:noFill/>
          <a:ln/>
        </p:spPr>
        <p:txBody>
          <a:bodyPr wrap="square" lIns="0" tIns="0" rIns="0" bIns="0" rtlCol="0" anchor="ctr"/>
          <a:lstStyle/>
          <a:p>
            <a:pPr indent="0" marL="0">
              <a:buNone/>
            </a:pPr>
            <a:r>
              <a:rPr lang="en-US" sz="4600" b="1" dirty="0">
                <a:solidFill>
                  <a:srgbClr val="FF2B4E"/>
                </a:solidFill>
                <a:latin typeface="Trebuchet MS" pitchFamily="34" charset="0"/>
                <a:ea typeface="Trebuchet MS" pitchFamily="34" charset="-122"/>
                <a:cs typeface="Trebuchet MS" pitchFamily="34" charset="-120"/>
              </a:rPr>
              <a:t>BLOCKED</a:t>
            </a:r>
            <a:endParaRPr lang="en-US" sz="4600" dirty="0"/>
          </a:p>
        </p:txBody>
      </p:sp>
      <p:sp>
        <p:nvSpPr>
          <p:cNvPr id="7" name="Shape 5"/>
          <p:cNvSpPr/>
          <p:nvPr/>
        </p:nvSpPr>
        <p:spPr>
          <a:xfrm>
            <a:off x="914400" y="3584448"/>
            <a:ext cx="1417320" cy="457200"/>
          </a:xfrm>
          <a:prstGeom prst="roundRect">
            <a:avLst>
              <a:gd name="adj" fmla="val 10000"/>
            </a:avLst>
          </a:prstGeom>
          <a:solidFill>
            <a:srgbClr val="100C09"/>
          </a:solidFill>
          <a:ln w="12700">
            <a:solidFill>
              <a:srgbClr val="F5902B"/>
            </a:solidFill>
            <a:prstDash val="solid"/>
          </a:ln>
        </p:spPr>
      </p:sp>
      <p:sp>
        <p:nvSpPr>
          <p:cNvPr id="8" name="Text 6"/>
          <p:cNvSpPr/>
          <p:nvPr/>
        </p:nvSpPr>
        <p:spPr>
          <a:xfrm>
            <a:off x="914400" y="3584448"/>
            <a:ext cx="1417320" cy="457200"/>
          </a:xfrm>
          <a:prstGeom prst="rect">
            <a:avLst/>
          </a:prstGeom>
          <a:noFill/>
          <a:ln/>
        </p:spPr>
        <p:txBody>
          <a:bodyPr wrap="square" lIns="0" tIns="0" rIns="0" bIns="0" rtlCol="0" anchor="ctr"/>
          <a:lstStyle/>
          <a:p>
            <a:pPr algn="ctr" indent="0" marL="0">
              <a:buNone/>
            </a:pPr>
            <a:r>
              <a:rPr lang="en-US" sz="1200" dirty="0">
                <a:solidFill>
                  <a:srgbClr val="F5902B"/>
                </a:solidFill>
                <a:latin typeface="Consolas" pitchFamily="34" charset="0"/>
                <a:ea typeface="Consolas" pitchFamily="34" charset="-122"/>
                <a:cs typeface="Consolas" pitchFamily="34" charset="-120"/>
              </a:rPr>
              <a:t>HIGH 80</a:t>
            </a:r>
            <a:endParaRPr lang="en-US" sz="1200" dirty="0"/>
          </a:p>
        </p:txBody>
      </p:sp>
      <p:sp>
        <p:nvSpPr>
          <p:cNvPr id="9" name="Text 7"/>
          <p:cNvSpPr/>
          <p:nvPr/>
        </p:nvSpPr>
        <p:spPr>
          <a:xfrm>
            <a:off x="2331720" y="3584448"/>
            <a:ext cx="457200" cy="457200"/>
          </a:xfrm>
          <a:prstGeom prst="rect">
            <a:avLst/>
          </a:prstGeom>
          <a:noFill/>
          <a:ln/>
        </p:spPr>
        <p:txBody>
          <a:bodyPr wrap="square" lIns="0" tIns="0" rIns="0" bIns="0" rtlCol="0" anchor="ctr"/>
          <a:lstStyle/>
          <a:p>
            <a:pPr algn="ctr" indent="0" marL="0">
              <a:buNone/>
            </a:pPr>
            <a:r>
              <a:rPr lang="en-US" sz="1800" dirty="0">
                <a:solidFill>
                  <a:srgbClr val="7C6F5E"/>
                </a:solidFill>
                <a:latin typeface="Trebuchet MS" pitchFamily="34" charset="0"/>
                <a:ea typeface="Trebuchet MS" pitchFamily="34" charset="-122"/>
                <a:cs typeface="Trebuchet MS" pitchFamily="34" charset="-120"/>
              </a:rPr>
              <a:t>→</a:t>
            </a:r>
            <a:endParaRPr lang="en-US" sz="1800" dirty="0"/>
          </a:p>
        </p:txBody>
      </p:sp>
      <p:sp>
        <p:nvSpPr>
          <p:cNvPr id="10" name="Shape 8"/>
          <p:cNvSpPr/>
          <p:nvPr/>
        </p:nvSpPr>
        <p:spPr>
          <a:xfrm>
            <a:off x="2788920" y="3584448"/>
            <a:ext cx="2560320" cy="457200"/>
          </a:xfrm>
          <a:prstGeom prst="roundRect">
            <a:avLst>
              <a:gd name="adj" fmla="val 10000"/>
            </a:avLst>
          </a:prstGeom>
          <a:solidFill>
            <a:srgbClr val="100C09"/>
          </a:solidFill>
          <a:ln w="12700">
            <a:solidFill>
              <a:srgbClr val="FF2B4E"/>
            </a:solidFill>
            <a:prstDash val="solid"/>
          </a:ln>
        </p:spPr>
      </p:sp>
      <p:sp>
        <p:nvSpPr>
          <p:cNvPr id="11" name="Text 9"/>
          <p:cNvSpPr/>
          <p:nvPr/>
        </p:nvSpPr>
        <p:spPr>
          <a:xfrm>
            <a:off x="2788920" y="3584448"/>
            <a:ext cx="2560320" cy="457200"/>
          </a:xfrm>
          <a:prstGeom prst="rect">
            <a:avLst/>
          </a:prstGeom>
          <a:noFill/>
          <a:ln/>
        </p:spPr>
        <p:txBody>
          <a:bodyPr wrap="square" lIns="0" tIns="0" rIns="0" bIns="0" rtlCol="0" anchor="ctr"/>
          <a:lstStyle/>
          <a:p>
            <a:pPr algn="ctr" indent="0" marL="0">
              <a:buNone/>
            </a:pPr>
            <a:r>
              <a:rPr lang="en-US" sz="1100" dirty="0">
                <a:solidFill>
                  <a:srgbClr val="FF2B4E"/>
                </a:solidFill>
                <a:latin typeface="Consolas" pitchFamily="34" charset="0"/>
                <a:ea typeface="Consolas" pitchFamily="34" charset="-122"/>
                <a:cs typeface="Consolas" pitchFamily="34" charset="-120"/>
              </a:rPr>
              <a:t>CRITICAL 100 · compound</a:t>
            </a:r>
            <a:endParaRPr lang="en-US" sz="1100" dirty="0"/>
          </a:p>
        </p:txBody>
      </p:sp>
      <p:sp>
        <p:nvSpPr>
          <p:cNvPr id="12" name="Text 10"/>
          <p:cNvSpPr/>
          <p:nvPr/>
        </p:nvSpPr>
        <p:spPr>
          <a:xfrm>
            <a:off x="914400" y="4206240"/>
            <a:ext cx="4389120" cy="1645920"/>
          </a:xfrm>
          <a:prstGeom prst="rect">
            <a:avLst/>
          </a:prstGeom>
          <a:noFill/>
          <a:ln/>
        </p:spPr>
        <p:txBody>
          <a:bodyPr wrap="square" lIns="0" tIns="0" rIns="0" bIns="0" rtlCol="0" anchor="t"/>
          <a:lstStyle/>
          <a:p>
            <a:pPr indent="0" marL="0">
              <a:lnSpc>
                <a:spcPct val="120000"/>
              </a:lnSpc>
              <a:buNone/>
            </a:pPr>
            <a:r>
              <a:rPr lang="en-US" sz="1450" dirty="0">
                <a:solidFill>
                  <a:srgbClr val="F7EFE1"/>
                </a:solidFill>
                <a:latin typeface="Calibri" pitchFamily="34" charset="0"/>
                <a:ea typeface="Calibri" pitchFamily="34" charset="-122"/>
                <a:cs typeface="Calibri" pitchFamily="34" charset="-120"/>
              </a:rPr>
              <a:t>Issuing this hot-work permit completes the lethal compound pattern — flammable gas + ignition + personnel — minutes before any single sensor would alarm.</a:t>
            </a:r>
            <a:endParaRPr lang="en-US" sz="1450" dirty="0"/>
          </a:p>
        </p:txBody>
      </p:sp>
      <p:sp>
        <p:nvSpPr>
          <p:cNvPr id="13" name="Shape 11"/>
          <p:cNvSpPr/>
          <p:nvPr/>
        </p:nvSpPr>
        <p:spPr>
          <a:xfrm>
            <a:off x="5852160" y="2011680"/>
            <a:ext cx="5696712" cy="3977640"/>
          </a:xfrm>
          <a:prstGeom prst="roundRect">
            <a:avLst>
              <a:gd name="adj" fmla="val 2069"/>
            </a:avLst>
          </a:prstGeom>
          <a:solidFill>
            <a:srgbClr val="15110D"/>
          </a:solidFill>
          <a:ln w="12700">
            <a:solidFill>
              <a:srgbClr val="3B2E22"/>
            </a:solidFill>
            <a:prstDash val="solid"/>
          </a:ln>
        </p:spPr>
      </p:sp>
      <p:sp>
        <p:nvSpPr>
          <p:cNvPr id="14" name="Text 12"/>
          <p:cNvSpPr/>
          <p:nvPr/>
        </p:nvSpPr>
        <p:spPr>
          <a:xfrm>
            <a:off x="6126480" y="2240280"/>
            <a:ext cx="512064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CONDITIONS TO ISSUE SAFELY</a:t>
            </a:r>
            <a:endParaRPr lang="en-US" sz="1100" dirty="0"/>
          </a:p>
        </p:txBody>
      </p:sp>
      <p:sp>
        <p:nvSpPr>
          <p:cNvPr id="15" name="Text 13"/>
          <p:cNvSpPr/>
          <p:nvPr/>
        </p:nvSpPr>
        <p:spPr>
          <a:xfrm>
            <a:off x="6126480" y="2697480"/>
            <a:ext cx="5166360" cy="2286000"/>
          </a:xfrm>
          <a:prstGeom prst="rect">
            <a:avLst/>
          </a:prstGeom>
          <a:noFill/>
          <a:ln/>
        </p:spPr>
        <p:txBody>
          <a:bodyPr wrap="square" lIns="0" tIns="0" rIns="0" bIns="0" rtlCol="0" anchor="t"/>
          <a:lstStyle/>
          <a:p>
            <a:pPr marL="228600" indent="-228600">
              <a:lnSpc>
                <a:spcPct val="135000"/>
              </a:lnSpc>
              <a:buSzPct val="100000"/>
              <a:buChar char="→"/>
            </a:pPr>
            <a:r>
              <a:rPr lang="en-US" sz="1450" dirty="0">
                <a:solidFill>
                  <a:srgbClr val="C6B9A6"/>
                </a:solidFill>
                <a:latin typeface="Calibri" pitchFamily="34" charset="0"/>
                <a:ea typeface="Calibri" pitchFamily="34" charset="-122"/>
                <a:cs typeface="Calibri" pitchFamily="34" charset="-120"/>
              </a:rPr>
              <a:t>Gas-free certificate — flammable gas below alarm and falling (OISD-STD-105)</a:t>
            </a:r>
            <a:endParaRPr lang="en-US" sz="1450" dirty="0"/>
          </a:p>
          <a:p>
            <a:pPr indent="0" marL="0">
              <a:lnSpc>
                <a:spcPct val="135000"/>
              </a:lnSpc>
              <a:buNone/>
            </a:pPr>
            <a:r>
              <a:rPr lang="en-US" sz="1450" dirty="0">
                <a:solidFill>
                  <a:srgbClr val="C6B9A6"/>
                </a:solidFill>
                <a:latin typeface="Calibri" pitchFamily="34" charset="0"/>
                <a:ea typeface="Calibri" pitchFamily="34" charset="-122"/>
                <a:cs typeface="Calibri" pitchFamily="34" charset="-120"/>
              </a:rPr>
              <a:t>Force-ventilate / purge the zone and re-test the atmosphere</a:t>
            </a:r>
            <a:endParaRPr lang="en-US" sz="1450" dirty="0"/>
          </a:p>
          <a:p>
            <a:pPr indent="0" marL="0">
              <a:lnSpc>
                <a:spcPct val="135000"/>
              </a:lnSpc>
              <a:buNone/>
            </a:pPr>
            <a:r>
              <a:rPr lang="en-US" sz="1450" dirty="0">
                <a:solidFill>
                  <a:srgbClr val="C6B9A6"/>
                </a:solidFill>
                <a:latin typeface="Calibri" pitchFamily="34" charset="0"/>
                <a:ea typeface="Calibri" pitchFamily="34" charset="-122"/>
                <a:cs typeface="Calibri" pitchFamily="34" charset="-120"/>
              </a:rPr>
              <a:t>No flammable release developing in this zone or any blast-radius neighbour</a:t>
            </a:r>
            <a:endParaRPr lang="en-US" sz="1450" dirty="0"/>
          </a:p>
          <a:p>
            <a:pPr indent="0" marL="0">
              <a:lnSpc>
                <a:spcPct val="135000"/>
              </a:lnSpc>
              <a:buNone/>
            </a:pPr>
            <a:r>
              <a:rPr lang="en-US" sz="1450" dirty="0">
                <a:solidFill>
                  <a:srgbClr val="C6B9A6"/>
                </a:solidFill>
                <a:latin typeface="Calibri" pitchFamily="34" charset="0"/>
                <a:ea typeface="Calibri" pitchFamily="34" charset="-122"/>
                <a:cs typeface="Calibri" pitchFamily="34" charset="-120"/>
              </a:rPr>
              <a:t>No entry while an ignition source is active in the blast radius (Factory Act §36 / §37)</a:t>
            </a:r>
            <a:endParaRPr lang="en-US" sz="1450" dirty="0"/>
          </a:p>
        </p:txBody>
      </p:sp>
      <p:sp>
        <p:nvSpPr>
          <p:cNvPr id="16" name="Text 14"/>
          <p:cNvSpPr/>
          <p:nvPr/>
        </p:nvSpPr>
        <p:spPr>
          <a:xfrm>
            <a:off x="6126480" y="5029200"/>
            <a:ext cx="5166360" cy="822960"/>
          </a:xfrm>
          <a:prstGeom prst="rect">
            <a:avLst/>
          </a:prstGeom>
          <a:noFill/>
          <a:ln/>
        </p:spPr>
        <p:txBody>
          <a:bodyPr wrap="square" lIns="0" tIns="0" rIns="0" bIns="0" rtlCol="0" anchor="t"/>
          <a:lstStyle/>
          <a:p>
            <a:pPr indent="0" marL="0">
              <a:buNone/>
            </a:pPr>
            <a:r>
              <a:rPr lang="en-US" sz="1250" i="1" dirty="0">
                <a:solidFill>
                  <a:srgbClr val="7C6F5E"/>
                </a:solidFill>
                <a:latin typeface="Calibri" pitchFamily="34" charset="0"/>
                <a:ea typeface="Calibri" pitchFamily="34" charset="-122"/>
                <a:cs typeface="Calibri" pitchFamily="34" charset="-120"/>
              </a:rPr>
              <a:t>The inverse of detection: simulate the plant WITH the proposed permit, and refuse it if issuing it would create — or add people to — a compound hazard.</a:t>
            </a:r>
            <a:endParaRPr lang="en-US" sz="1250" dirty="0"/>
          </a:p>
        </p:txBody>
      </p:sp>
      <p:sp>
        <p:nvSpPr>
          <p:cNvPr id="17" name="Text 15"/>
          <p:cNvSpPr/>
          <p:nvPr/>
        </p:nvSpPr>
        <p:spPr>
          <a:xfrm>
            <a:off x="640080" y="6172200"/>
            <a:ext cx="10972800" cy="365760"/>
          </a:xfrm>
          <a:prstGeom prst="rect">
            <a:avLst/>
          </a:prstGeom>
          <a:noFill/>
          <a:ln/>
        </p:spPr>
        <p:txBody>
          <a:bodyPr wrap="square" lIns="0" tIns="0" rIns="0" bIns="0" rtlCol="0" anchor="ctr"/>
          <a:lstStyle/>
          <a:p>
            <a:pPr indent="0" marL="0">
              <a:buNone/>
            </a:pPr>
            <a:r>
              <a:rPr lang="en-US" sz="1300" i="1" dirty="0">
                <a:solidFill>
                  <a:srgbClr val="7C6F5E"/>
                </a:solidFill>
                <a:latin typeface="Calibri" pitchFamily="34" charset="0"/>
                <a:ea typeface="Calibri" pitchFamily="34" charset="-122"/>
                <a:cs typeface="Calibri" pitchFamily="34" charset="-120"/>
              </a:rPr>
              <a:t>The Vizag hot-work permit, evaluated against that same rising atmosphere, is refused before the crew ever strikes an arc.</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AUTONOMOUS RESPONSE</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Detect → draft → alert</a:t>
            </a:r>
            <a:endParaRPr lang="en-US" sz="3400" dirty="0"/>
          </a:p>
        </p:txBody>
      </p:sp>
      <p:sp>
        <p:nvSpPr>
          <p:cNvPr id="4" name="Shape 2"/>
          <p:cNvSpPr/>
          <p:nvPr/>
        </p:nvSpPr>
        <p:spPr>
          <a:xfrm>
            <a:off x="640080" y="2103120"/>
            <a:ext cx="5577840" cy="4023360"/>
          </a:xfrm>
          <a:prstGeom prst="roundRect">
            <a:avLst>
              <a:gd name="adj" fmla="val 2045"/>
            </a:avLst>
          </a:prstGeom>
          <a:solidFill>
            <a:srgbClr val="15110D"/>
          </a:solidFill>
          <a:ln w="12700">
            <a:solidFill>
              <a:srgbClr val="3B2E22"/>
            </a:solidFill>
            <a:prstDash val="solid"/>
          </a:ln>
        </p:spPr>
      </p:sp>
      <p:sp>
        <p:nvSpPr>
          <p:cNvPr id="5" name="Text 3"/>
          <p:cNvSpPr/>
          <p:nvPr/>
        </p:nvSpPr>
        <p:spPr>
          <a:xfrm>
            <a:off x="914400" y="2331720"/>
            <a:ext cx="502920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AUTO-DRAFTED INCIDENT REPORT</a:t>
            </a:r>
            <a:endParaRPr lang="en-US" sz="1100" dirty="0"/>
          </a:p>
        </p:txBody>
      </p:sp>
      <p:sp>
        <p:nvSpPr>
          <p:cNvPr id="6" name="Text 4"/>
          <p:cNvSpPr/>
          <p:nvPr/>
        </p:nvSpPr>
        <p:spPr>
          <a:xfrm>
            <a:off x="914400" y="2788920"/>
            <a:ext cx="5029200" cy="3108960"/>
          </a:xfrm>
          <a:prstGeom prst="rect">
            <a:avLst/>
          </a:prstGeom>
          <a:noFill/>
          <a:ln/>
        </p:spPr>
        <p:txBody>
          <a:bodyPr wrap="square" lIns="0" tIns="0" rIns="0" bIns="0" rtlCol="0" anchor="t"/>
          <a:lstStyle/>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1. Summary  ·  2. Conditions Detected</a:t>
            </a:r>
            <a:endParaRPr lang="en-US" sz="1500" dirty="0"/>
          </a:p>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3. Compound Risk Assessment</a:t>
            </a:r>
            <a:endParaRPr lang="en-US" sz="1500" dirty="0"/>
          </a:p>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4. Immediate Actions</a:t>
            </a:r>
            <a:endParaRPr lang="en-US" sz="1500" dirty="0"/>
          </a:p>
          <a:p>
            <a:pPr indent="0" marL="0">
              <a:lnSpc>
                <a:spcPct val="130000"/>
              </a:lnSpc>
              <a:buNone/>
            </a:pPr>
            <a:r>
              <a:rPr lang="en-US" sz="1500" b="1" dirty="0">
                <a:solidFill>
                  <a:srgbClr val="F7EFE1"/>
                </a:solidFill>
                <a:latin typeface="Calibri" pitchFamily="34" charset="0"/>
                <a:ea typeface="Calibri" pitchFamily="34" charset="-122"/>
                <a:cs typeface="Calibri" pitchFamily="34" charset="-120"/>
              </a:rPr>
              <a:t>5. Regulatory References</a:t>
            </a:r>
            <a:endParaRPr lang="en-US" sz="1500" dirty="0"/>
          </a:p>
          <a:p>
            <a:pPr indent="0" marL="0">
              <a:lnSpc>
                <a:spcPct val="130000"/>
              </a:lnSpc>
              <a:buNone/>
            </a:pPr>
            <a:r>
              <a:rPr lang="en-US" sz="1500" dirty="0">
                <a:solidFill>
                  <a:srgbClr val="FF6A1A"/>
                </a:solidFill>
                <a:latin typeface="Calibri" pitchFamily="34" charset="0"/>
                <a:ea typeface="Calibri" pitchFamily="34" charset="-122"/>
                <a:cs typeface="Calibri" pitchFamily="34" charset="-120"/>
              </a:rPr>
              <a:t>    Factory Act 1948 §36 / §37 / §38</a:t>
            </a:r>
            <a:endParaRPr lang="en-US" sz="1500" dirty="0"/>
          </a:p>
          <a:p>
            <a:pPr indent="0" marL="0">
              <a:lnSpc>
                <a:spcPct val="130000"/>
              </a:lnSpc>
              <a:buNone/>
            </a:pPr>
            <a:r>
              <a:rPr lang="en-US" sz="1500" dirty="0">
                <a:solidFill>
                  <a:srgbClr val="FF6A1A"/>
                </a:solidFill>
                <a:latin typeface="Calibri" pitchFamily="34" charset="0"/>
                <a:ea typeface="Calibri" pitchFamily="34" charset="-122"/>
                <a:cs typeface="Calibri" pitchFamily="34" charset="-120"/>
              </a:rPr>
              <a:t>    OISD-STD-105 (Work Permit System)</a:t>
            </a:r>
            <a:endParaRPr lang="en-US" sz="1500" dirty="0"/>
          </a:p>
          <a:p>
            <a:pPr indent="0" marL="0">
              <a:lnSpc>
                <a:spcPct val="130000"/>
              </a:lnSpc>
              <a:buNone/>
            </a:pPr>
            <a:r>
              <a:rPr lang="en-US" sz="1500" dirty="0">
                <a:solidFill>
                  <a:srgbClr val="C6B9A6"/>
                </a:solidFill>
                <a:latin typeface="Calibri" pitchFamily="34" charset="0"/>
                <a:ea typeface="Calibri" pitchFamily="34" charset="-122"/>
                <a:cs typeface="Calibri" pitchFamily="34" charset="-120"/>
              </a:rPr>
              <a:t>6. Corrective Actions</a:t>
            </a:r>
            <a:endParaRPr lang="en-US" sz="1500" dirty="0"/>
          </a:p>
        </p:txBody>
      </p:sp>
      <p:sp>
        <p:nvSpPr>
          <p:cNvPr id="7" name="Shape 5"/>
          <p:cNvSpPr/>
          <p:nvPr/>
        </p:nvSpPr>
        <p:spPr>
          <a:xfrm>
            <a:off x="6400800" y="2103120"/>
            <a:ext cx="5148072" cy="1874520"/>
          </a:xfrm>
          <a:prstGeom prst="roundRect">
            <a:avLst>
              <a:gd name="adj" fmla="val 4390"/>
            </a:avLst>
          </a:prstGeom>
          <a:solidFill>
            <a:srgbClr val="1D1206"/>
          </a:solidFill>
          <a:ln w="12700">
            <a:solidFill>
              <a:srgbClr val="F5902B"/>
            </a:solidFill>
            <a:prstDash val="solid"/>
          </a:ln>
        </p:spPr>
      </p:sp>
      <p:sp>
        <p:nvSpPr>
          <p:cNvPr id="8" name="Text 6"/>
          <p:cNvSpPr/>
          <p:nvPr/>
        </p:nvSpPr>
        <p:spPr>
          <a:xfrm>
            <a:off x="6675120" y="2286000"/>
            <a:ext cx="4572000" cy="274320"/>
          </a:xfrm>
          <a:prstGeom prst="rect">
            <a:avLst/>
          </a:prstGeom>
          <a:noFill/>
          <a:ln/>
        </p:spPr>
        <p:txBody>
          <a:bodyPr wrap="square" lIns="0" tIns="0" rIns="0" bIns="0" rtlCol="0" anchor="ctr"/>
          <a:lstStyle/>
          <a:p>
            <a:pPr indent="0" marL="0">
              <a:buNone/>
            </a:pPr>
            <a:r>
              <a:rPr lang="en-US" sz="1100" spc="100" kern="0" dirty="0">
                <a:solidFill>
                  <a:srgbClr val="F5902B"/>
                </a:solidFill>
                <a:latin typeface="Consolas" pitchFamily="34" charset="0"/>
                <a:ea typeface="Consolas" pitchFamily="34" charset="-122"/>
                <a:cs typeface="Consolas" pitchFamily="34" charset="-120"/>
              </a:rPr>
              <a:t>EVACUATION ALERT</a:t>
            </a:r>
            <a:endParaRPr lang="en-US" sz="1100" dirty="0"/>
          </a:p>
        </p:txBody>
      </p:sp>
      <p:sp>
        <p:nvSpPr>
          <p:cNvPr id="9" name="Text 7"/>
          <p:cNvSpPr/>
          <p:nvPr/>
        </p:nvSpPr>
        <p:spPr>
          <a:xfrm>
            <a:off x="6675120" y="2606040"/>
            <a:ext cx="4572000" cy="731520"/>
          </a:xfrm>
          <a:prstGeom prst="rect">
            <a:avLst/>
          </a:prstGeom>
          <a:noFill/>
          <a:ln/>
        </p:spPr>
        <p:txBody>
          <a:bodyPr wrap="square" lIns="0" tIns="0" rIns="0" bIns="0" rtlCol="0" anchor="t"/>
          <a:lstStyle/>
          <a:p>
            <a:pPr indent="0" marL="0">
              <a:buNone/>
            </a:pPr>
            <a:r>
              <a:rPr lang="en-US" sz="1400" dirty="0">
                <a:solidFill>
                  <a:srgbClr val="F7EFE1"/>
                </a:solidFill>
                <a:latin typeface="Calibri" pitchFamily="34" charset="0"/>
                <a:ea typeface="Calibri" pitchFamily="34" charset="-122"/>
                <a:cs typeface="Calibri" pitchFamily="34" charset="-120"/>
              </a:rPr>
              <a:t>Compound hazard in COB-1. Evacuate now. Do not operate hot-work or electrical equipment.</a:t>
            </a:r>
            <a:endParaRPr lang="en-US" sz="1400" dirty="0"/>
          </a:p>
        </p:txBody>
      </p:sp>
      <p:sp>
        <p:nvSpPr>
          <p:cNvPr id="10" name="Shape 8"/>
          <p:cNvSpPr/>
          <p:nvPr/>
        </p:nvSpPr>
        <p:spPr>
          <a:xfrm>
            <a:off x="6675120" y="3429000"/>
            <a:ext cx="1097280" cy="365760"/>
          </a:xfrm>
          <a:prstGeom prst="roundRect">
            <a:avLst>
              <a:gd name="adj" fmla="val 12500"/>
            </a:avLst>
          </a:prstGeom>
          <a:solidFill>
            <a:srgbClr val="100C09"/>
          </a:solidFill>
          <a:ln w="12700">
            <a:solidFill>
              <a:srgbClr val="F5902B"/>
            </a:solidFill>
            <a:prstDash val="solid"/>
          </a:ln>
        </p:spPr>
      </p:sp>
      <p:sp>
        <p:nvSpPr>
          <p:cNvPr id="11" name="Text 9"/>
          <p:cNvSpPr/>
          <p:nvPr/>
        </p:nvSpPr>
        <p:spPr>
          <a:xfrm>
            <a:off x="6675120" y="3429000"/>
            <a:ext cx="1097280" cy="365760"/>
          </a:xfrm>
          <a:prstGeom prst="rect">
            <a:avLst/>
          </a:prstGeom>
          <a:noFill/>
          <a:ln/>
        </p:spPr>
        <p:txBody>
          <a:bodyPr wrap="square" lIns="0" tIns="0" rIns="0" bIns="0" rtlCol="0" anchor="ctr"/>
          <a:lstStyle/>
          <a:p>
            <a:pPr algn="ctr" indent="0" marL="0">
              <a:buNone/>
            </a:pPr>
            <a:r>
              <a:rPr lang="en-US" sz="1100" dirty="0">
                <a:solidFill>
                  <a:srgbClr val="F5902B"/>
                </a:solidFill>
                <a:latin typeface="Consolas" pitchFamily="34" charset="0"/>
                <a:ea typeface="Consolas" pitchFamily="34" charset="-122"/>
                <a:cs typeface="Consolas" pitchFamily="34" charset="-120"/>
              </a:rPr>
              <a:t>English</a:t>
            </a:r>
            <a:endParaRPr lang="en-US" sz="1100" dirty="0"/>
          </a:p>
        </p:txBody>
      </p:sp>
      <p:sp>
        <p:nvSpPr>
          <p:cNvPr id="12" name="Shape 10"/>
          <p:cNvSpPr/>
          <p:nvPr/>
        </p:nvSpPr>
        <p:spPr>
          <a:xfrm>
            <a:off x="7909560" y="3429000"/>
            <a:ext cx="1097280" cy="365760"/>
          </a:xfrm>
          <a:prstGeom prst="roundRect">
            <a:avLst>
              <a:gd name="adj" fmla="val 12500"/>
            </a:avLst>
          </a:prstGeom>
          <a:solidFill>
            <a:srgbClr val="100C09"/>
          </a:solidFill>
          <a:ln w="12700">
            <a:solidFill>
              <a:srgbClr val="F5902B"/>
            </a:solidFill>
            <a:prstDash val="solid"/>
          </a:ln>
        </p:spPr>
      </p:sp>
      <p:sp>
        <p:nvSpPr>
          <p:cNvPr id="13" name="Text 11"/>
          <p:cNvSpPr/>
          <p:nvPr/>
        </p:nvSpPr>
        <p:spPr>
          <a:xfrm>
            <a:off x="7909560" y="3429000"/>
            <a:ext cx="1097280" cy="365760"/>
          </a:xfrm>
          <a:prstGeom prst="rect">
            <a:avLst/>
          </a:prstGeom>
          <a:noFill/>
          <a:ln/>
        </p:spPr>
        <p:txBody>
          <a:bodyPr wrap="square" lIns="0" tIns="0" rIns="0" bIns="0" rtlCol="0" anchor="ctr"/>
          <a:lstStyle/>
          <a:p>
            <a:pPr algn="ctr" indent="0" marL="0">
              <a:buNone/>
            </a:pPr>
            <a:r>
              <a:rPr lang="en-US" sz="1100" dirty="0">
                <a:solidFill>
                  <a:srgbClr val="F5902B"/>
                </a:solidFill>
                <a:latin typeface="Consolas" pitchFamily="34" charset="0"/>
                <a:ea typeface="Consolas" pitchFamily="34" charset="-122"/>
                <a:cs typeface="Consolas" pitchFamily="34" charset="-120"/>
              </a:rPr>
              <a:t>Telugu</a:t>
            </a:r>
            <a:endParaRPr lang="en-US" sz="1100" dirty="0"/>
          </a:p>
        </p:txBody>
      </p:sp>
      <p:sp>
        <p:nvSpPr>
          <p:cNvPr id="14" name="Shape 12"/>
          <p:cNvSpPr/>
          <p:nvPr/>
        </p:nvSpPr>
        <p:spPr>
          <a:xfrm>
            <a:off x="9144000" y="3429000"/>
            <a:ext cx="1097280" cy="365760"/>
          </a:xfrm>
          <a:prstGeom prst="roundRect">
            <a:avLst>
              <a:gd name="adj" fmla="val 12500"/>
            </a:avLst>
          </a:prstGeom>
          <a:solidFill>
            <a:srgbClr val="100C09"/>
          </a:solidFill>
          <a:ln w="12700">
            <a:solidFill>
              <a:srgbClr val="F5902B"/>
            </a:solidFill>
            <a:prstDash val="solid"/>
          </a:ln>
        </p:spPr>
      </p:sp>
      <p:sp>
        <p:nvSpPr>
          <p:cNvPr id="15" name="Text 13"/>
          <p:cNvSpPr/>
          <p:nvPr/>
        </p:nvSpPr>
        <p:spPr>
          <a:xfrm>
            <a:off x="9144000" y="3429000"/>
            <a:ext cx="1097280" cy="365760"/>
          </a:xfrm>
          <a:prstGeom prst="rect">
            <a:avLst/>
          </a:prstGeom>
          <a:noFill/>
          <a:ln/>
        </p:spPr>
        <p:txBody>
          <a:bodyPr wrap="square" lIns="0" tIns="0" rIns="0" bIns="0" rtlCol="0" anchor="ctr"/>
          <a:lstStyle/>
          <a:p>
            <a:pPr algn="ctr" indent="0" marL="0">
              <a:buNone/>
            </a:pPr>
            <a:r>
              <a:rPr lang="en-US" sz="1100" dirty="0">
                <a:solidFill>
                  <a:srgbClr val="F5902B"/>
                </a:solidFill>
                <a:latin typeface="Consolas" pitchFamily="34" charset="0"/>
                <a:ea typeface="Consolas" pitchFamily="34" charset="-122"/>
                <a:cs typeface="Consolas" pitchFamily="34" charset="-120"/>
              </a:rPr>
              <a:t>Hindi</a:t>
            </a:r>
            <a:endParaRPr lang="en-US" sz="1100" dirty="0"/>
          </a:p>
        </p:txBody>
      </p:sp>
      <p:sp>
        <p:nvSpPr>
          <p:cNvPr id="16" name="Shape 14"/>
          <p:cNvSpPr/>
          <p:nvPr/>
        </p:nvSpPr>
        <p:spPr>
          <a:xfrm>
            <a:off x="6400800" y="4160520"/>
            <a:ext cx="5148072" cy="1965960"/>
          </a:xfrm>
          <a:prstGeom prst="roundRect">
            <a:avLst>
              <a:gd name="adj" fmla="val 4186"/>
            </a:avLst>
          </a:prstGeom>
          <a:solidFill>
            <a:srgbClr val="100C09"/>
          </a:solidFill>
          <a:ln w="12700">
            <a:solidFill>
              <a:srgbClr val="3B2E22"/>
            </a:solidFill>
            <a:prstDash val="solid"/>
          </a:ln>
        </p:spPr>
      </p:sp>
      <p:sp>
        <p:nvSpPr>
          <p:cNvPr id="17" name="Text 15"/>
          <p:cNvSpPr/>
          <p:nvPr/>
        </p:nvSpPr>
        <p:spPr>
          <a:xfrm>
            <a:off x="6675120" y="4343400"/>
            <a:ext cx="457200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RESPONSE ACTIONS — PREPARED</a:t>
            </a:r>
            <a:endParaRPr lang="en-US" sz="1100" dirty="0"/>
          </a:p>
        </p:txBody>
      </p:sp>
      <p:sp>
        <p:nvSpPr>
          <p:cNvPr id="18" name="Text 16"/>
          <p:cNvSpPr/>
          <p:nvPr/>
        </p:nvSpPr>
        <p:spPr>
          <a:xfrm>
            <a:off x="6675120" y="4709160"/>
            <a:ext cx="4572000" cy="1280160"/>
          </a:xfrm>
          <a:prstGeom prst="rect">
            <a:avLst/>
          </a:prstGeom>
          <a:noFill/>
          <a:ln/>
        </p:spPr>
        <p:txBody>
          <a:bodyPr wrap="square" lIns="0" tIns="0" rIns="0" bIns="0" rtlCol="0" anchor="ctr"/>
          <a:lstStyle/>
          <a:p>
            <a:pPr marL="228600" indent="-228600">
              <a:lnSpc>
                <a:spcPct val="125000"/>
              </a:lnSpc>
              <a:buSzPct val="100000"/>
              <a:buChar char="✓"/>
            </a:pPr>
            <a:r>
              <a:rPr lang="en-US" sz="1400" dirty="0">
                <a:solidFill>
                  <a:srgbClr val="C6B9A6"/>
                </a:solidFill>
                <a:latin typeface="Calibri" pitchFamily="34" charset="0"/>
                <a:ea typeface="Calibri" pitchFamily="34" charset="-122"/>
                <a:cs typeface="Calibri" pitchFamily="34" charset="-120"/>
              </a:rPr>
              <a:t>Suspend hot-work permit PTW-7741</a:t>
            </a:r>
            <a:endParaRPr lang="en-US" sz="1400" dirty="0"/>
          </a:p>
          <a:p>
            <a:pPr indent="0" marL="0">
              <a:lnSpc>
                <a:spcPct val="125000"/>
              </a:lnSpc>
              <a:buNone/>
            </a:pPr>
            <a:r>
              <a:rPr lang="en-US" sz="1400" dirty="0">
                <a:solidFill>
                  <a:srgbClr val="C6B9A6"/>
                </a:solidFill>
                <a:latin typeface="Calibri" pitchFamily="34" charset="0"/>
                <a:ea typeface="Calibri" pitchFamily="34" charset="-122"/>
                <a:cs typeface="Calibri" pitchFamily="34" charset="-120"/>
              </a:rPr>
              <a:t>Evacuate &amp; page response team</a:t>
            </a:r>
            <a:endParaRPr lang="en-US" sz="1400" dirty="0"/>
          </a:p>
          <a:p>
            <a:pPr indent="0" marL="0">
              <a:lnSpc>
                <a:spcPct val="125000"/>
              </a:lnSpc>
              <a:buNone/>
            </a:pPr>
            <a:r>
              <a:rPr lang="en-US" sz="1400" dirty="0">
                <a:solidFill>
                  <a:srgbClr val="C6B9A6"/>
                </a:solidFill>
                <a:latin typeface="Calibri" pitchFamily="34" charset="0"/>
                <a:ea typeface="Calibri" pitchFamily="34" charset="-122"/>
                <a:cs typeface="Calibri" pitchFamily="34" charset="-120"/>
              </a:rPr>
              <a:t>Freeze sensor + CCTV evidence</a:t>
            </a:r>
            <a:endParaRPr lang="en-US" sz="1400" dirty="0"/>
          </a:p>
          <a:p>
            <a:pPr indent="0" marL="0">
              <a:lnSpc>
                <a:spcPct val="125000"/>
              </a:lnSpc>
              <a:buNone/>
            </a:pPr>
            <a:r>
              <a:rPr lang="en-US" sz="1400" dirty="0">
                <a:solidFill>
                  <a:srgbClr val="C6B9A6"/>
                </a:solidFill>
                <a:latin typeface="Calibri" pitchFamily="34" charset="0"/>
                <a:ea typeface="Calibri" pitchFamily="34" charset="-122"/>
                <a:cs typeface="Calibri" pitchFamily="34" charset="-120"/>
              </a:rPr>
              <a:t>File preliminary incident report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THE PROOF</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Measured, not claimed</a:t>
            </a:r>
            <a:endParaRPr lang="en-US" sz="3400" dirty="0"/>
          </a:p>
        </p:txBody>
      </p:sp>
      <p:sp>
        <p:nvSpPr>
          <p:cNvPr id="4" name="Shape 2"/>
          <p:cNvSpPr/>
          <p:nvPr/>
        </p:nvSpPr>
        <p:spPr>
          <a:xfrm>
            <a:off x="640080" y="2103120"/>
            <a:ext cx="3511296" cy="2011680"/>
          </a:xfrm>
          <a:prstGeom prst="roundRect">
            <a:avLst>
              <a:gd name="adj" fmla="val 4091"/>
            </a:avLst>
          </a:prstGeom>
          <a:solidFill>
            <a:srgbClr val="15110D"/>
          </a:solidFill>
          <a:ln w="12700">
            <a:solidFill>
              <a:srgbClr val="3B2E22"/>
            </a:solidFill>
            <a:prstDash val="solid"/>
          </a:ln>
        </p:spPr>
      </p:sp>
      <p:sp>
        <p:nvSpPr>
          <p:cNvPr id="5" name="Text 3"/>
          <p:cNvSpPr/>
          <p:nvPr/>
        </p:nvSpPr>
        <p:spPr>
          <a:xfrm>
            <a:off x="822960" y="2331720"/>
            <a:ext cx="3145536" cy="914400"/>
          </a:xfrm>
          <a:prstGeom prst="rect">
            <a:avLst/>
          </a:prstGeom>
          <a:noFill/>
          <a:ln/>
        </p:spPr>
        <p:txBody>
          <a:bodyPr wrap="square" lIns="0" tIns="0" rIns="0" bIns="0" rtlCol="0" anchor="ctr"/>
          <a:lstStyle/>
          <a:p>
            <a:pPr algn="ctr" indent="0" marL="0">
              <a:buNone/>
            </a:pPr>
            <a:r>
              <a:rPr lang="en-US" sz="5000" b="1" dirty="0">
                <a:solidFill>
                  <a:srgbClr val="FF6A1A"/>
                </a:solidFill>
                <a:latin typeface="Trebuchet MS" pitchFamily="34" charset="0"/>
                <a:ea typeface="Trebuchet MS" pitchFamily="34" charset="-122"/>
                <a:cs typeface="Trebuchet MS" pitchFamily="34" charset="-120"/>
              </a:rPr>
              <a:t>100%</a:t>
            </a:r>
            <a:endParaRPr lang="en-US" sz="5000" dirty="0"/>
          </a:p>
        </p:txBody>
      </p:sp>
      <p:sp>
        <p:nvSpPr>
          <p:cNvPr id="6" name="Text 4"/>
          <p:cNvSpPr/>
          <p:nvPr/>
        </p:nvSpPr>
        <p:spPr>
          <a:xfrm>
            <a:off x="822960" y="3246120"/>
            <a:ext cx="3145536" cy="365760"/>
          </a:xfrm>
          <a:prstGeom prst="rect">
            <a:avLst/>
          </a:prstGeom>
          <a:noFill/>
          <a:ln/>
        </p:spPr>
        <p:txBody>
          <a:bodyPr wrap="square" lIns="0" tIns="0" rIns="0" bIns="0" rtlCol="0" anchor="ctr"/>
          <a:lstStyle/>
          <a:p>
            <a:pPr algn="ctr" indent="0" marL="0">
              <a:buNone/>
            </a:pPr>
            <a:r>
              <a:rPr lang="en-US" sz="1600" b="1" dirty="0">
                <a:solidFill>
                  <a:srgbClr val="F7EFE1"/>
                </a:solidFill>
                <a:latin typeface="Trebuchet MS" pitchFamily="34" charset="0"/>
                <a:ea typeface="Trebuchet MS" pitchFamily="34" charset="-122"/>
                <a:cs typeface="Trebuchet MS" pitchFamily="34" charset="-120"/>
              </a:rPr>
              <a:t>compound recall</a:t>
            </a:r>
            <a:endParaRPr lang="en-US" sz="1600" dirty="0"/>
          </a:p>
        </p:txBody>
      </p:sp>
      <p:sp>
        <p:nvSpPr>
          <p:cNvPr id="7" name="Text 5"/>
          <p:cNvSpPr/>
          <p:nvPr/>
        </p:nvSpPr>
        <p:spPr>
          <a:xfrm>
            <a:off x="822960" y="3611880"/>
            <a:ext cx="3145536" cy="36576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14 / 14 hazards caught</a:t>
            </a:r>
            <a:endParaRPr lang="en-US" sz="1100" dirty="0"/>
          </a:p>
        </p:txBody>
      </p:sp>
      <p:sp>
        <p:nvSpPr>
          <p:cNvPr id="8" name="Shape 6"/>
          <p:cNvSpPr/>
          <p:nvPr/>
        </p:nvSpPr>
        <p:spPr>
          <a:xfrm>
            <a:off x="4334256" y="2103120"/>
            <a:ext cx="3511296" cy="2011680"/>
          </a:xfrm>
          <a:prstGeom prst="roundRect">
            <a:avLst>
              <a:gd name="adj" fmla="val 4091"/>
            </a:avLst>
          </a:prstGeom>
          <a:solidFill>
            <a:srgbClr val="15110D"/>
          </a:solidFill>
          <a:ln w="12700">
            <a:solidFill>
              <a:srgbClr val="3B2E22"/>
            </a:solidFill>
            <a:prstDash val="solid"/>
          </a:ln>
        </p:spPr>
      </p:sp>
      <p:sp>
        <p:nvSpPr>
          <p:cNvPr id="9" name="Text 7"/>
          <p:cNvSpPr/>
          <p:nvPr/>
        </p:nvSpPr>
        <p:spPr>
          <a:xfrm>
            <a:off x="4517136" y="2331720"/>
            <a:ext cx="3145536" cy="914400"/>
          </a:xfrm>
          <a:prstGeom prst="rect">
            <a:avLst/>
          </a:prstGeom>
          <a:noFill/>
          <a:ln/>
        </p:spPr>
        <p:txBody>
          <a:bodyPr wrap="square" lIns="0" tIns="0" rIns="0" bIns="0" rtlCol="0" anchor="ctr"/>
          <a:lstStyle/>
          <a:p>
            <a:pPr algn="ctr" indent="0" marL="0">
              <a:buNone/>
            </a:pPr>
            <a:r>
              <a:rPr lang="en-US" sz="5000" b="1" dirty="0">
                <a:solidFill>
                  <a:srgbClr val="FF6A1A"/>
                </a:solidFill>
                <a:latin typeface="Trebuchet MS" pitchFamily="34" charset="0"/>
                <a:ea typeface="Trebuchet MS" pitchFamily="34" charset="-122"/>
                <a:cs typeface="Trebuchet MS" pitchFamily="34" charset="-120"/>
              </a:rPr>
              <a:t>0%</a:t>
            </a:r>
            <a:endParaRPr lang="en-US" sz="5000" dirty="0"/>
          </a:p>
        </p:txBody>
      </p:sp>
      <p:sp>
        <p:nvSpPr>
          <p:cNvPr id="10" name="Text 8"/>
          <p:cNvSpPr/>
          <p:nvPr/>
        </p:nvSpPr>
        <p:spPr>
          <a:xfrm>
            <a:off x="4517136" y="3246120"/>
            <a:ext cx="3145536" cy="365760"/>
          </a:xfrm>
          <a:prstGeom prst="rect">
            <a:avLst/>
          </a:prstGeom>
          <a:noFill/>
          <a:ln/>
        </p:spPr>
        <p:txBody>
          <a:bodyPr wrap="square" lIns="0" tIns="0" rIns="0" bIns="0" rtlCol="0" anchor="ctr"/>
          <a:lstStyle/>
          <a:p>
            <a:pPr algn="ctr" indent="0" marL="0">
              <a:buNone/>
            </a:pPr>
            <a:r>
              <a:rPr lang="en-US" sz="1600" b="1" dirty="0">
                <a:solidFill>
                  <a:srgbClr val="F7EFE1"/>
                </a:solidFill>
                <a:latin typeface="Trebuchet MS" pitchFamily="34" charset="0"/>
                <a:ea typeface="Trebuchet MS" pitchFamily="34" charset="-122"/>
                <a:cs typeface="Trebuchet MS" pitchFamily="34" charset="-120"/>
              </a:rPr>
              <a:t>false-positive</a:t>
            </a:r>
            <a:endParaRPr lang="en-US" sz="1600" dirty="0"/>
          </a:p>
        </p:txBody>
      </p:sp>
      <p:sp>
        <p:nvSpPr>
          <p:cNvPr id="11" name="Text 9"/>
          <p:cNvSpPr/>
          <p:nvPr/>
        </p:nvSpPr>
        <p:spPr>
          <a:xfrm>
            <a:off x="4517136" y="3611880"/>
            <a:ext cx="3145536" cy="36576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0 / 15 incl. inerted + O2 decoys</a:t>
            </a:r>
            <a:endParaRPr lang="en-US" sz="1100" dirty="0"/>
          </a:p>
        </p:txBody>
      </p:sp>
      <p:sp>
        <p:nvSpPr>
          <p:cNvPr id="12" name="Shape 10"/>
          <p:cNvSpPr/>
          <p:nvPr/>
        </p:nvSpPr>
        <p:spPr>
          <a:xfrm>
            <a:off x="8028432" y="2103120"/>
            <a:ext cx="3511296" cy="2011680"/>
          </a:xfrm>
          <a:prstGeom prst="roundRect">
            <a:avLst>
              <a:gd name="adj" fmla="val 4091"/>
            </a:avLst>
          </a:prstGeom>
          <a:solidFill>
            <a:srgbClr val="15110D"/>
          </a:solidFill>
          <a:ln w="12700">
            <a:solidFill>
              <a:srgbClr val="3B2E22"/>
            </a:solidFill>
            <a:prstDash val="solid"/>
          </a:ln>
        </p:spPr>
      </p:sp>
      <p:sp>
        <p:nvSpPr>
          <p:cNvPr id="13" name="Text 11"/>
          <p:cNvSpPr/>
          <p:nvPr/>
        </p:nvSpPr>
        <p:spPr>
          <a:xfrm>
            <a:off x="8211312" y="2331720"/>
            <a:ext cx="3145536" cy="914400"/>
          </a:xfrm>
          <a:prstGeom prst="rect">
            <a:avLst/>
          </a:prstGeom>
          <a:noFill/>
          <a:ln/>
        </p:spPr>
        <p:txBody>
          <a:bodyPr wrap="square" lIns="0" tIns="0" rIns="0" bIns="0" rtlCol="0" anchor="ctr"/>
          <a:lstStyle/>
          <a:p>
            <a:pPr algn="ctr" indent="0" marL="0">
              <a:buNone/>
            </a:pPr>
            <a:r>
              <a:rPr lang="en-US" sz="5000" b="1" dirty="0">
                <a:solidFill>
                  <a:srgbClr val="F5902B"/>
                </a:solidFill>
                <a:latin typeface="Trebuchet MS" pitchFamily="34" charset="0"/>
                <a:ea typeface="Trebuchet MS" pitchFamily="34" charset="-122"/>
                <a:cs typeface="Trebuchet MS" pitchFamily="34" charset="-120"/>
              </a:rPr>
              <a:t>7.4 min</a:t>
            </a:r>
            <a:endParaRPr lang="en-US" sz="5000" dirty="0"/>
          </a:p>
        </p:txBody>
      </p:sp>
      <p:sp>
        <p:nvSpPr>
          <p:cNvPr id="14" name="Text 12"/>
          <p:cNvSpPr/>
          <p:nvPr/>
        </p:nvSpPr>
        <p:spPr>
          <a:xfrm>
            <a:off x="8211312" y="3246120"/>
            <a:ext cx="3145536" cy="365760"/>
          </a:xfrm>
          <a:prstGeom prst="rect">
            <a:avLst/>
          </a:prstGeom>
          <a:noFill/>
          <a:ln/>
        </p:spPr>
        <p:txBody>
          <a:bodyPr wrap="square" lIns="0" tIns="0" rIns="0" bIns="0" rtlCol="0" anchor="ctr"/>
          <a:lstStyle/>
          <a:p>
            <a:pPr algn="ctr" indent="0" marL="0">
              <a:buNone/>
            </a:pPr>
            <a:r>
              <a:rPr lang="en-US" sz="1600" b="1" dirty="0">
                <a:solidFill>
                  <a:srgbClr val="F7EFE1"/>
                </a:solidFill>
                <a:latin typeface="Trebuchet MS" pitchFamily="34" charset="0"/>
                <a:ea typeface="Trebuchet MS" pitchFamily="34" charset="-122"/>
                <a:cs typeface="Trebuchet MS" pitchFamily="34" charset="-120"/>
              </a:rPr>
              <a:t>mean early-warning</a:t>
            </a:r>
            <a:endParaRPr lang="en-US" sz="1600" dirty="0"/>
          </a:p>
        </p:txBody>
      </p:sp>
      <p:sp>
        <p:nvSpPr>
          <p:cNvPr id="15" name="Text 13"/>
          <p:cNvSpPr/>
          <p:nvPr/>
        </p:nvSpPr>
        <p:spPr>
          <a:xfrm>
            <a:off x="8211312" y="3611880"/>
            <a:ext cx="3145536" cy="365760"/>
          </a:xfrm>
          <a:prstGeom prst="rect">
            <a:avLst/>
          </a:prstGeom>
          <a:noFill/>
          <a:ln/>
        </p:spPr>
        <p:txBody>
          <a:bodyPr wrap="square" lIns="0" tIns="0" rIns="0" bIns="0" rtlCol="0" anchor="ctr"/>
          <a:lstStyle/>
          <a:p>
            <a:pPr algn="ctr" indent="0" marL="0">
              <a:buNone/>
            </a:pPr>
            <a:r>
              <a:rPr lang="en-US" sz="1100" dirty="0">
                <a:solidFill>
                  <a:srgbClr val="7C6F5E"/>
                </a:solidFill>
                <a:latin typeface="Consolas" pitchFamily="34" charset="0"/>
                <a:ea typeface="Consolas" pitchFamily="34" charset="-122"/>
                <a:cs typeface="Consolas" pitchFamily="34" charset="-120"/>
              </a:rPr>
              <a:t>vs single-sensor baseline</a:t>
            </a:r>
            <a:endParaRPr lang="en-US" sz="1100" dirty="0"/>
          </a:p>
        </p:txBody>
      </p:sp>
      <p:sp>
        <p:nvSpPr>
          <p:cNvPr id="16" name="Shape 14"/>
          <p:cNvSpPr/>
          <p:nvPr/>
        </p:nvSpPr>
        <p:spPr>
          <a:xfrm>
            <a:off x="640080" y="4434840"/>
            <a:ext cx="10908792" cy="1600200"/>
          </a:xfrm>
          <a:prstGeom prst="roundRect">
            <a:avLst>
              <a:gd name="adj" fmla="val 5143"/>
            </a:avLst>
          </a:prstGeom>
          <a:solidFill>
            <a:srgbClr val="100C09"/>
          </a:solidFill>
          <a:ln w="12700">
            <a:solidFill>
              <a:srgbClr val="3B2E22"/>
            </a:solidFill>
            <a:prstDash val="solid"/>
          </a:ln>
        </p:spPr>
      </p:sp>
      <p:sp>
        <p:nvSpPr>
          <p:cNvPr id="17" name="Text 15"/>
          <p:cNvSpPr/>
          <p:nvPr/>
        </p:nvSpPr>
        <p:spPr>
          <a:xfrm>
            <a:off x="914400" y="4617720"/>
            <a:ext cx="4572000" cy="274320"/>
          </a:xfrm>
          <a:prstGeom prst="rect">
            <a:avLst/>
          </a:prstGeom>
          <a:noFill/>
          <a:ln/>
        </p:spPr>
        <p:txBody>
          <a:bodyPr wrap="square" lIns="0" tIns="0" rIns="0" bIns="0" rtlCol="0" anchor="ctr"/>
          <a:lstStyle/>
          <a:p>
            <a:pPr indent="0" marL="0">
              <a:buNone/>
            </a:pPr>
            <a:r>
              <a:rPr lang="en-US" sz="1100" spc="200" kern="0" dirty="0">
                <a:solidFill>
                  <a:srgbClr val="7C6F5E"/>
                </a:solidFill>
                <a:latin typeface="Consolas" pitchFamily="34" charset="0"/>
                <a:ea typeface="Consolas" pitchFamily="34" charset="-122"/>
                <a:cs typeface="Consolas" pitchFamily="34" charset="-120"/>
              </a:rPr>
              <a:t>VIZAG RECONSTRUCTION</a:t>
            </a:r>
            <a:endParaRPr lang="en-US" sz="1100" dirty="0"/>
          </a:p>
        </p:txBody>
      </p:sp>
      <p:sp>
        <p:nvSpPr>
          <p:cNvPr id="18" name="Shape 16"/>
          <p:cNvSpPr/>
          <p:nvPr/>
        </p:nvSpPr>
        <p:spPr>
          <a:xfrm>
            <a:off x="1097280" y="5577840"/>
            <a:ext cx="10058400" cy="0"/>
          </a:xfrm>
          <a:prstGeom prst="line">
            <a:avLst/>
          </a:prstGeom>
          <a:noFill/>
          <a:ln w="19050">
            <a:solidFill>
              <a:srgbClr val="3B2E22"/>
            </a:solidFill>
            <a:prstDash val="solid"/>
          </a:ln>
        </p:spPr>
      </p:sp>
      <p:sp>
        <p:nvSpPr>
          <p:cNvPr id="19" name="Shape 17"/>
          <p:cNvSpPr/>
          <p:nvPr/>
        </p:nvSpPr>
        <p:spPr>
          <a:xfrm>
            <a:off x="1033272" y="5513832"/>
            <a:ext cx="146304" cy="146304"/>
          </a:xfrm>
          <a:prstGeom prst="ellipse">
            <a:avLst/>
          </a:prstGeom>
          <a:solidFill>
            <a:srgbClr val="7C6F5E"/>
          </a:solidFill>
          <a:ln/>
        </p:spPr>
      </p:sp>
      <p:sp>
        <p:nvSpPr>
          <p:cNvPr id="20" name="Text 18"/>
          <p:cNvSpPr/>
          <p:nvPr/>
        </p:nvSpPr>
        <p:spPr>
          <a:xfrm>
            <a:off x="731520" y="5074920"/>
            <a:ext cx="731520" cy="274320"/>
          </a:xfrm>
          <a:prstGeom prst="rect">
            <a:avLst/>
          </a:prstGeom>
          <a:noFill/>
          <a:ln/>
        </p:spPr>
        <p:txBody>
          <a:bodyPr wrap="square" lIns="0" tIns="0" rIns="0" bIns="0" rtlCol="0" anchor="ctr"/>
          <a:lstStyle/>
          <a:p>
            <a:pPr algn="ctr" indent="0" marL="0">
              <a:buNone/>
            </a:pPr>
            <a:r>
              <a:rPr lang="en-US" sz="1200" b="1" dirty="0">
                <a:solidFill>
                  <a:srgbClr val="7C6F5E"/>
                </a:solidFill>
                <a:latin typeface="Consolas" pitchFamily="34" charset="0"/>
                <a:ea typeface="Consolas" pitchFamily="34" charset="-122"/>
                <a:cs typeface="Consolas" pitchFamily="34" charset="-120"/>
              </a:rPr>
              <a:t>t0</a:t>
            </a:r>
            <a:endParaRPr lang="en-US" sz="1200" dirty="0"/>
          </a:p>
        </p:txBody>
      </p:sp>
      <p:sp>
        <p:nvSpPr>
          <p:cNvPr id="21" name="Text 19"/>
          <p:cNvSpPr/>
          <p:nvPr/>
        </p:nvSpPr>
        <p:spPr>
          <a:xfrm>
            <a:off x="182880" y="5669280"/>
            <a:ext cx="2194560" cy="274320"/>
          </a:xfrm>
          <a:prstGeom prst="rect">
            <a:avLst/>
          </a:prstGeom>
          <a:noFill/>
          <a:ln/>
        </p:spPr>
        <p:txBody>
          <a:bodyPr wrap="square" lIns="0" tIns="0" rIns="0" bIns="0" rtlCol="0" anchor="ctr"/>
          <a:lstStyle/>
          <a:p>
            <a:pPr algn="ctr" indent="0" marL="0">
              <a:buNone/>
            </a:pPr>
            <a:r>
              <a:rPr lang="en-US" sz="1200" dirty="0">
                <a:solidFill>
                  <a:srgbClr val="C6B9A6"/>
                </a:solidFill>
                <a:latin typeface="Calibri" pitchFamily="34" charset="0"/>
                <a:ea typeface="Calibri" pitchFamily="34" charset="-122"/>
                <a:cs typeface="Calibri" pitchFamily="34" charset="-120"/>
              </a:rPr>
              <a:t>normal</a:t>
            </a:r>
            <a:endParaRPr lang="en-US" sz="1200" dirty="0"/>
          </a:p>
        </p:txBody>
      </p:sp>
      <p:sp>
        <p:nvSpPr>
          <p:cNvPr id="22" name="Shape 20"/>
          <p:cNvSpPr/>
          <p:nvPr/>
        </p:nvSpPr>
        <p:spPr>
          <a:xfrm>
            <a:off x="3959352" y="5513832"/>
            <a:ext cx="146304" cy="146304"/>
          </a:xfrm>
          <a:prstGeom prst="ellipse">
            <a:avLst/>
          </a:prstGeom>
          <a:solidFill>
            <a:srgbClr val="FF6A1A"/>
          </a:solidFill>
          <a:ln/>
        </p:spPr>
      </p:sp>
      <p:sp>
        <p:nvSpPr>
          <p:cNvPr id="23" name="Text 21"/>
          <p:cNvSpPr/>
          <p:nvPr/>
        </p:nvSpPr>
        <p:spPr>
          <a:xfrm>
            <a:off x="3657600" y="5074920"/>
            <a:ext cx="731520" cy="274320"/>
          </a:xfrm>
          <a:prstGeom prst="rect">
            <a:avLst/>
          </a:prstGeom>
          <a:noFill/>
          <a:ln/>
        </p:spPr>
        <p:txBody>
          <a:bodyPr wrap="square" lIns="0" tIns="0" rIns="0" bIns="0" rtlCol="0" anchor="ctr"/>
          <a:lstStyle/>
          <a:p>
            <a:pPr algn="ctr" indent="0" marL="0">
              <a:buNone/>
            </a:pPr>
            <a:r>
              <a:rPr lang="en-US" sz="1200" b="1" dirty="0">
                <a:solidFill>
                  <a:srgbClr val="FF6A1A"/>
                </a:solidFill>
                <a:latin typeface="Consolas" pitchFamily="34" charset="0"/>
                <a:ea typeface="Consolas" pitchFamily="34" charset="-122"/>
                <a:cs typeface="Consolas" pitchFamily="34" charset="-120"/>
              </a:rPr>
              <a:t>t8</a:t>
            </a:r>
            <a:endParaRPr lang="en-US" sz="1200" dirty="0"/>
          </a:p>
        </p:txBody>
      </p:sp>
      <p:sp>
        <p:nvSpPr>
          <p:cNvPr id="24" name="Text 22"/>
          <p:cNvSpPr/>
          <p:nvPr/>
        </p:nvSpPr>
        <p:spPr>
          <a:xfrm>
            <a:off x="3108960" y="5669280"/>
            <a:ext cx="2194560" cy="274320"/>
          </a:xfrm>
          <a:prstGeom prst="rect">
            <a:avLst/>
          </a:prstGeom>
          <a:noFill/>
          <a:ln/>
        </p:spPr>
        <p:txBody>
          <a:bodyPr wrap="square" lIns="0" tIns="0" rIns="0" bIns="0" rtlCol="0" anchor="ctr"/>
          <a:lstStyle/>
          <a:p>
            <a:pPr algn="ctr" indent="0" marL="0">
              <a:buNone/>
            </a:pPr>
            <a:r>
              <a:rPr lang="en-US" sz="1200" dirty="0">
                <a:solidFill>
                  <a:srgbClr val="C6B9A6"/>
                </a:solidFill>
                <a:latin typeface="Calibri" pitchFamily="34" charset="0"/>
                <a:ea typeface="Calibri" pitchFamily="34" charset="-122"/>
                <a:cs typeface="Calibri" pitchFamily="34" charset="-120"/>
              </a:rPr>
              <a:t>Trinetra: COMPOUND</a:t>
            </a:r>
            <a:endParaRPr lang="en-US" sz="1200" dirty="0"/>
          </a:p>
        </p:txBody>
      </p:sp>
      <p:sp>
        <p:nvSpPr>
          <p:cNvPr id="25" name="Shape 23"/>
          <p:cNvSpPr/>
          <p:nvPr/>
        </p:nvSpPr>
        <p:spPr>
          <a:xfrm>
            <a:off x="8714232" y="5513832"/>
            <a:ext cx="146304" cy="146304"/>
          </a:xfrm>
          <a:prstGeom prst="ellipse">
            <a:avLst/>
          </a:prstGeom>
          <a:solidFill>
            <a:srgbClr val="FF2B4E"/>
          </a:solidFill>
          <a:ln/>
        </p:spPr>
      </p:sp>
      <p:sp>
        <p:nvSpPr>
          <p:cNvPr id="26" name="Text 24"/>
          <p:cNvSpPr/>
          <p:nvPr/>
        </p:nvSpPr>
        <p:spPr>
          <a:xfrm>
            <a:off x="8412480" y="5074920"/>
            <a:ext cx="731520" cy="274320"/>
          </a:xfrm>
          <a:prstGeom prst="rect">
            <a:avLst/>
          </a:prstGeom>
          <a:noFill/>
          <a:ln/>
        </p:spPr>
        <p:txBody>
          <a:bodyPr wrap="square" lIns="0" tIns="0" rIns="0" bIns="0" rtlCol="0" anchor="ctr"/>
          <a:lstStyle/>
          <a:p>
            <a:pPr algn="ctr" indent="0" marL="0">
              <a:buNone/>
            </a:pPr>
            <a:r>
              <a:rPr lang="en-US" sz="1200" b="1" dirty="0">
                <a:solidFill>
                  <a:srgbClr val="FF2B4E"/>
                </a:solidFill>
                <a:latin typeface="Consolas" pitchFamily="34" charset="0"/>
                <a:ea typeface="Consolas" pitchFamily="34" charset="-122"/>
                <a:cs typeface="Consolas" pitchFamily="34" charset="-120"/>
              </a:rPr>
              <a:t>t14</a:t>
            </a:r>
            <a:endParaRPr lang="en-US" sz="1200" dirty="0"/>
          </a:p>
        </p:txBody>
      </p:sp>
      <p:sp>
        <p:nvSpPr>
          <p:cNvPr id="27" name="Text 25"/>
          <p:cNvSpPr/>
          <p:nvPr/>
        </p:nvSpPr>
        <p:spPr>
          <a:xfrm>
            <a:off x="7863840" y="5669280"/>
            <a:ext cx="2194560" cy="274320"/>
          </a:xfrm>
          <a:prstGeom prst="rect">
            <a:avLst/>
          </a:prstGeom>
          <a:noFill/>
          <a:ln/>
        </p:spPr>
        <p:txBody>
          <a:bodyPr wrap="square" lIns="0" tIns="0" rIns="0" bIns="0" rtlCol="0" anchor="ctr"/>
          <a:lstStyle/>
          <a:p>
            <a:pPr algn="ctr" indent="0" marL="0">
              <a:buNone/>
            </a:pPr>
            <a:r>
              <a:rPr lang="en-US" sz="1200" dirty="0">
                <a:solidFill>
                  <a:srgbClr val="C6B9A6"/>
                </a:solidFill>
                <a:latin typeface="Calibri" pitchFamily="34" charset="0"/>
                <a:ea typeface="Calibri" pitchFamily="34" charset="-122"/>
                <a:cs typeface="Calibri" pitchFamily="34" charset="-120"/>
              </a:rPr>
              <a:t>Legacy: gas alarm</a:t>
            </a:r>
            <a:endParaRPr lang="en-US" sz="1200" dirty="0"/>
          </a:p>
        </p:txBody>
      </p:sp>
      <p:sp>
        <p:nvSpPr>
          <p:cNvPr id="28" name="Text 26"/>
          <p:cNvSpPr/>
          <p:nvPr/>
        </p:nvSpPr>
        <p:spPr>
          <a:xfrm>
            <a:off x="4937760" y="5074920"/>
            <a:ext cx="2743200" cy="274320"/>
          </a:xfrm>
          <a:prstGeom prst="rect">
            <a:avLst/>
          </a:prstGeom>
          <a:noFill/>
          <a:ln/>
        </p:spPr>
        <p:txBody>
          <a:bodyPr wrap="square" lIns="0" tIns="0" rIns="0" bIns="0" rtlCol="0" anchor="ctr"/>
          <a:lstStyle/>
          <a:p>
            <a:pPr algn="ctr" indent="0" marL="0">
              <a:buNone/>
            </a:pPr>
            <a:r>
              <a:rPr lang="en-US" sz="1200" b="1" dirty="0">
                <a:solidFill>
                  <a:srgbClr val="FF6A1A"/>
                </a:solidFill>
                <a:latin typeface="Consolas" pitchFamily="34" charset="0"/>
                <a:ea typeface="Consolas" pitchFamily="34" charset="-122"/>
                <a:cs typeface="Consolas" pitchFamily="34" charset="-120"/>
              </a:rPr>
              <a:t>+6 min lead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REPLAYED FROM TWO REAL INQUIRIES</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Would it catch a real one? Twice.</a:t>
            </a:r>
            <a:endParaRPr lang="en-US" sz="3400" dirty="0"/>
          </a:p>
        </p:txBody>
      </p:sp>
      <p:sp>
        <p:nvSpPr>
          <p:cNvPr id="4" name="Shape 2"/>
          <p:cNvSpPr/>
          <p:nvPr/>
        </p:nvSpPr>
        <p:spPr>
          <a:xfrm>
            <a:off x="640080" y="2103120"/>
            <a:ext cx="5449824" cy="3200400"/>
          </a:xfrm>
          <a:prstGeom prst="roundRect">
            <a:avLst>
              <a:gd name="adj" fmla="val 2571"/>
            </a:avLst>
          </a:prstGeom>
          <a:solidFill>
            <a:srgbClr val="1F0F0B"/>
          </a:solidFill>
          <a:ln w="12700">
            <a:solidFill>
              <a:srgbClr val="FF2B4E"/>
            </a:solidFill>
            <a:prstDash val="solid"/>
          </a:ln>
        </p:spPr>
      </p:sp>
      <p:sp>
        <p:nvSpPr>
          <p:cNvPr id="5" name="Text 3"/>
          <p:cNvSpPr/>
          <p:nvPr/>
        </p:nvSpPr>
        <p:spPr>
          <a:xfrm>
            <a:off x="960120" y="2331720"/>
            <a:ext cx="48463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U.S. CSB · 2005</a:t>
            </a:r>
            <a:endParaRPr lang="en-US" sz="1100" dirty="0"/>
          </a:p>
        </p:txBody>
      </p:sp>
      <p:sp>
        <p:nvSpPr>
          <p:cNvPr id="6" name="Text 4"/>
          <p:cNvSpPr/>
          <p:nvPr/>
        </p:nvSpPr>
        <p:spPr>
          <a:xfrm>
            <a:off x="960120" y="2615184"/>
            <a:ext cx="4846320" cy="457200"/>
          </a:xfrm>
          <a:prstGeom prst="rect">
            <a:avLst/>
          </a:prstGeom>
          <a:noFill/>
          <a:ln/>
        </p:spPr>
        <p:txBody>
          <a:bodyPr wrap="square" lIns="0" tIns="0" rIns="0" bIns="0" rtlCol="0" anchor="ctr"/>
          <a:lstStyle/>
          <a:p>
            <a:pPr indent="0" marL="0">
              <a:buNone/>
            </a:pPr>
            <a:r>
              <a:rPr lang="en-US" sz="2200" b="1" dirty="0">
                <a:solidFill>
                  <a:srgbClr val="F7EFE1"/>
                </a:solidFill>
                <a:latin typeface="Trebuchet MS" pitchFamily="34" charset="0"/>
                <a:ea typeface="Trebuchet MS" pitchFamily="34" charset="-122"/>
                <a:cs typeface="Trebuchet MS" pitchFamily="34" charset="-120"/>
              </a:rPr>
              <a:t>BP Texas City refinery</a:t>
            </a:r>
            <a:endParaRPr lang="en-US" sz="2200" dirty="0"/>
          </a:p>
        </p:txBody>
      </p:sp>
      <p:sp>
        <p:nvSpPr>
          <p:cNvPr id="7" name="Text 5"/>
          <p:cNvSpPr/>
          <p:nvPr/>
        </p:nvSpPr>
        <p:spPr>
          <a:xfrm>
            <a:off x="960120" y="3200400"/>
            <a:ext cx="4846320" cy="822960"/>
          </a:xfrm>
          <a:prstGeom prst="rect">
            <a:avLst/>
          </a:prstGeom>
          <a:noFill/>
          <a:ln/>
        </p:spPr>
        <p:txBody>
          <a:bodyPr wrap="square" lIns="0" tIns="0" rIns="0" bIns="0" rtlCol="0" anchor="ctr"/>
          <a:lstStyle/>
          <a:p>
            <a:pPr indent="0" marL="0">
              <a:buNone/>
            </a:pPr>
            <a:r>
              <a:rPr lang="en-US" sz="5200" b="1" dirty="0">
                <a:solidFill>
                  <a:srgbClr val="FF2B4E"/>
                </a:solidFill>
                <a:latin typeface="Trebuchet MS" pitchFamily="34" charset="0"/>
                <a:ea typeface="Trebuchet MS" pitchFamily="34" charset="-122"/>
                <a:cs typeface="Trebuchet MS" pitchFamily="34" charset="-120"/>
              </a:rPr>
              <a:t>+10 min</a:t>
            </a:r>
            <a:endParaRPr lang="en-US" sz="5200" dirty="0"/>
          </a:p>
        </p:txBody>
      </p:sp>
      <p:sp>
        <p:nvSpPr>
          <p:cNvPr id="8" name="Text 6"/>
          <p:cNvSpPr/>
          <p:nvPr/>
        </p:nvSpPr>
        <p:spPr>
          <a:xfrm>
            <a:off x="960120" y="4069080"/>
            <a:ext cx="484632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earlier</a:t>
            </a:r>
            <a:endParaRPr lang="en-US" sz="1100" dirty="0"/>
          </a:p>
        </p:txBody>
      </p:sp>
      <p:sp>
        <p:nvSpPr>
          <p:cNvPr id="9" name="Text 7"/>
          <p:cNvSpPr/>
          <p:nvPr/>
        </p:nvSpPr>
        <p:spPr>
          <a:xfrm>
            <a:off x="960120" y="4407408"/>
            <a:ext cx="4846320" cy="64008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before the documented vapour-cloud ignition (T+20). 15 killed.</a:t>
            </a:r>
            <a:endParaRPr lang="en-US" sz="1300" dirty="0"/>
          </a:p>
        </p:txBody>
      </p:sp>
      <p:sp>
        <p:nvSpPr>
          <p:cNvPr id="10" name="Text 8"/>
          <p:cNvSpPr/>
          <p:nvPr/>
        </p:nvSpPr>
        <p:spPr>
          <a:xfrm>
            <a:off x="960120" y="5010912"/>
            <a:ext cx="4846320" cy="228600"/>
          </a:xfrm>
          <a:prstGeom prst="rect">
            <a:avLst/>
          </a:prstGeom>
          <a:noFill/>
          <a:ln/>
        </p:spPr>
        <p:txBody>
          <a:bodyPr wrap="square" lIns="0" tIns="0" rIns="0" bIns="0" rtlCol="0" anchor="ctr"/>
          <a:lstStyle/>
          <a:p>
            <a:pPr indent="0" marL="0">
              <a:buNone/>
            </a:pPr>
            <a:r>
              <a:rPr lang="en-US" sz="950" dirty="0">
                <a:solidFill>
                  <a:srgbClr val="7C6F5E"/>
                </a:solidFill>
                <a:latin typeface="Consolas" pitchFamily="34" charset="0"/>
                <a:ea typeface="Consolas" pitchFamily="34" charset="-122"/>
                <a:cs typeface="Consolas" pitchFamily="34" charset="-120"/>
              </a:rPr>
              <a:t>Report 2005-04-I-TX</a:t>
            </a:r>
            <a:endParaRPr lang="en-US" sz="950" dirty="0"/>
          </a:p>
        </p:txBody>
      </p:sp>
      <p:sp>
        <p:nvSpPr>
          <p:cNvPr id="11" name="Shape 9"/>
          <p:cNvSpPr/>
          <p:nvPr/>
        </p:nvSpPr>
        <p:spPr>
          <a:xfrm>
            <a:off x="6272784" y="2103120"/>
            <a:ext cx="5449824" cy="3200400"/>
          </a:xfrm>
          <a:prstGeom prst="roundRect">
            <a:avLst>
              <a:gd name="adj" fmla="val 2571"/>
            </a:avLst>
          </a:prstGeom>
          <a:solidFill>
            <a:srgbClr val="1F0F0B"/>
          </a:solidFill>
          <a:ln w="12700">
            <a:solidFill>
              <a:srgbClr val="FF2B4E"/>
            </a:solidFill>
            <a:prstDash val="solid"/>
          </a:ln>
        </p:spPr>
      </p:sp>
      <p:sp>
        <p:nvSpPr>
          <p:cNvPr id="12" name="Text 10"/>
          <p:cNvSpPr/>
          <p:nvPr/>
        </p:nvSpPr>
        <p:spPr>
          <a:xfrm>
            <a:off x="6592824" y="2331720"/>
            <a:ext cx="48463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MB LAL COMMITTEE · 2009</a:t>
            </a:r>
            <a:endParaRPr lang="en-US" sz="1100" dirty="0"/>
          </a:p>
        </p:txBody>
      </p:sp>
      <p:sp>
        <p:nvSpPr>
          <p:cNvPr id="13" name="Text 11"/>
          <p:cNvSpPr/>
          <p:nvPr/>
        </p:nvSpPr>
        <p:spPr>
          <a:xfrm>
            <a:off x="6592824" y="2615184"/>
            <a:ext cx="4846320" cy="457200"/>
          </a:xfrm>
          <a:prstGeom prst="rect">
            <a:avLst/>
          </a:prstGeom>
          <a:noFill/>
          <a:ln/>
        </p:spPr>
        <p:txBody>
          <a:bodyPr wrap="square" lIns="0" tIns="0" rIns="0" bIns="0" rtlCol="0" anchor="ctr"/>
          <a:lstStyle/>
          <a:p>
            <a:pPr indent="0" marL="0">
              <a:buNone/>
            </a:pPr>
            <a:r>
              <a:rPr lang="en-US" sz="2200" b="1" dirty="0">
                <a:solidFill>
                  <a:srgbClr val="F7EFE1"/>
                </a:solidFill>
                <a:latin typeface="Trebuchet MS" pitchFamily="34" charset="0"/>
                <a:ea typeface="Trebuchet MS" pitchFamily="34" charset="-122"/>
                <a:cs typeface="Trebuchet MS" pitchFamily="34" charset="-120"/>
              </a:rPr>
              <a:t>Indian Oil Jaipur depot</a:t>
            </a:r>
            <a:endParaRPr lang="en-US" sz="2200" dirty="0"/>
          </a:p>
        </p:txBody>
      </p:sp>
      <p:sp>
        <p:nvSpPr>
          <p:cNvPr id="14" name="Text 12"/>
          <p:cNvSpPr/>
          <p:nvPr/>
        </p:nvSpPr>
        <p:spPr>
          <a:xfrm>
            <a:off x="6592824" y="3200400"/>
            <a:ext cx="4846320" cy="822960"/>
          </a:xfrm>
          <a:prstGeom prst="rect">
            <a:avLst/>
          </a:prstGeom>
          <a:noFill/>
          <a:ln/>
        </p:spPr>
        <p:txBody>
          <a:bodyPr wrap="square" lIns="0" tIns="0" rIns="0" bIns="0" rtlCol="0" anchor="ctr"/>
          <a:lstStyle/>
          <a:p>
            <a:pPr indent="0" marL="0">
              <a:buNone/>
            </a:pPr>
            <a:r>
              <a:rPr lang="en-US" sz="5200" b="1" dirty="0">
                <a:solidFill>
                  <a:srgbClr val="FF2B4E"/>
                </a:solidFill>
                <a:latin typeface="Trebuchet MS" pitchFamily="34" charset="0"/>
                <a:ea typeface="Trebuchet MS" pitchFamily="34" charset="-122"/>
                <a:cs typeface="Trebuchet MS" pitchFamily="34" charset="-120"/>
              </a:rPr>
              <a:t>+36 min</a:t>
            </a:r>
            <a:endParaRPr lang="en-US" sz="5200" dirty="0"/>
          </a:p>
        </p:txBody>
      </p:sp>
      <p:sp>
        <p:nvSpPr>
          <p:cNvPr id="15" name="Text 13"/>
          <p:cNvSpPr/>
          <p:nvPr/>
        </p:nvSpPr>
        <p:spPr>
          <a:xfrm>
            <a:off x="6592824" y="4069080"/>
            <a:ext cx="484632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earlier</a:t>
            </a:r>
            <a:endParaRPr lang="en-US" sz="1100" dirty="0"/>
          </a:p>
        </p:txBody>
      </p:sp>
      <p:sp>
        <p:nvSpPr>
          <p:cNvPr id="16" name="Text 14"/>
          <p:cNvSpPr/>
          <p:nvPr/>
        </p:nvSpPr>
        <p:spPr>
          <a:xfrm>
            <a:off x="6592824" y="4407408"/>
            <a:ext cx="4846320" cy="64008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before the documented ignition (T+48) of a long, undetected vapour build-up. 12 killed.</a:t>
            </a:r>
            <a:endParaRPr lang="en-US" sz="1300" dirty="0"/>
          </a:p>
        </p:txBody>
      </p:sp>
      <p:sp>
        <p:nvSpPr>
          <p:cNvPr id="17" name="Text 15"/>
          <p:cNvSpPr/>
          <p:nvPr/>
        </p:nvSpPr>
        <p:spPr>
          <a:xfrm>
            <a:off x="6592824" y="5010912"/>
            <a:ext cx="4846320" cy="228600"/>
          </a:xfrm>
          <a:prstGeom prst="rect">
            <a:avLst/>
          </a:prstGeom>
          <a:noFill/>
          <a:ln/>
        </p:spPr>
        <p:txBody>
          <a:bodyPr wrap="square" lIns="0" tIns="0" rIns="0" bIns="0" rtlCol="0" anchor="ctr"/>
          <a:lstStyle/>
          <a:p>
            <a:pPr indent="0" marL="0">
              <a:buNone/>
            </a:pPr>
            <a:r>
              <a:rPr lang="en-US" sz="950" dirty="0">
                <a:solidFill>
                  <a:srgbClr val="7C6F5E"/>
                </a:solidFill>
                <a:latin typeface="Consolas" pitchFamily="34" charset="0"/>
                <a:ea typeface="Consolas" pitchFamily="34" charset="-122"/>
                <a:cs typeface="Consolas" pitchFamily="34" charset="-120"/>
              </a:rPr>
              <a:t>MB Lal Committee report</a:t>
            </a:r>
            <a:endParaRPr lang="en-US" sz="950" dirty="0"/>
          </a:p>
        </p:txBody>
      </p:sp>
      <p:sp>
        <p:nvSpPr>
          <p:cNvPr id="18" name="Shape 16"/>
          <p:cNvSpPr/>
          <p:nvPr/>
        </p:nvSpPr>
        <p:spPr>
          <a:xfrm>
            <a:off x="640080" y="5486400"/>
            <a:ext cx="10908792" cy="868680"/>
          </a:xfrm>
          <a:prstGeom prst="roundRect">
            <a:avLst>
              <a:gd name="adj" fmla="val 9474"/>
            </a:avLst>
          </a:prstGeom>
          <a:solidFill>
            <a:srgbClr val="100C09"/>
          </a:solidFill>
          <a:ln w="12700">
            <a:solidFill>
              <a:srgbClr val="FF6A1A"/>
            </a:solidFill>
            <a:prstDash val="solid"/>
          </a:ln>
        </p:spPr>
      </p:sp>
      <p:sp>
        <p:nvSpPr>
          <p:cNvPr id="19" name="Text 17"/>
          <p:cNvSpPr/>
          <p:nvPr/>
        </p:nvSpPr>
        <p:spPr>
          <a:xfrm>
            <a:off x="914400" y="5486400"/>
            <a:ext cx="10332720" cy="868680"/>
          </a:xfrm>
          <a:prstGeom prst="rect">
            <a:avLst/>
          </a:prstGeom>
          <a:noFill/>
          <a:ln/>
        </p:spPr>
        <p:txBody>
          <a:bodyPr wrap="square" lIns="0" tIns="0" rIns="0" bIns="0" rtlCol="0" anchor="ctr"/>
          <a:lstStyle/>
          <a:p>
            <a:pPr indent="0" marL="0">
              <a:buNone/>
            </a:pPr>
            <a:r>
              <a:rPr lang="en-US" sz="1150" b="1" dirty="0">
                <a:solidFill>
                  <a:srgbClr val="FF6A1A"/>
                </a:solidFill>
                <a:latin typeface="Calibri" pitchFamily="34" charset="0"/>
                <a:ea typeface="Calibri" pitchFamily="34" charset="-122"/>
                <a:cs typeface="Calibri" pitchFamily="34" charset="-120"/>
              </a:rPr>
              <a:t>Same engine, reconstructed inputs.  </a:t>
            </a:r>
            <a:pPr indent="0" marL="0">
              <a:buNone/>
            </a:pPr>
            <a:r>
              <a:rPr lang="en-US" sz="1150" dirty="0">
                <a:solidFill>
                  <a:srgbClr val="C6B9A6"/>
                </a:solidFill>
                <a:latin typeface="Calibri" pitchFamily="34" charset="0"/>
                <a:ea typeface="Calibri" pitchFamily="34" charset="-122"/>
                <a:cs typeface="Calibri" pitchFamily="34" charset="-120"/>
              </a:rPr>
              <a:t>Each inquiry's documented escalation is reconstructed into a SCADA feed and replayed through the live engine. Where the site had no gas detector (a finding in both), the documented vapour build-up is mapped to the flammable channel; the ignition and personnel are the inquiry's. In-app: connector → Texas City / Jaipur.</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BUSINESS IMPACT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The math a buyer underwrites</a:t>
            </a:r>
            <a:endParaRPr lang="en-US" sz="3400" dirty="0"/>
          </a:p>
        </p:txBody>
      </p:sp>
      <p:sp>
        <p:nvSpPr>
          <p:cNvPr id="4" name="Shape 2"/>
          <p:cNvSpPr/>
          <p:nvPr/>
        </p:nvSpPr>
        <p:spPr>
          <a:xfrm>
            <a:off x="640080" y="2011680"/>
            <a:ext cx="4937760" cy="3840480"/>
          </a:xfrm>
          <a:prstGeom prst="roundRect">
            <a:avLst>
              <a:gd name="adj" fmla="val 2143"/>
            </a:avLst>
          </a:prstGeom>
          <a:solidFill>
            <a:srgbClr val="15110D"/>
          </a:solidFill>
          <a:ln w="12700">
            <a:solidFill>
              <a:srgbClr val="3B2E22"/>
            </a:solidFill>
            <a:prstDash val="solid"/>
          </a:ln>
        </p:spPr>
      </p:sp>
      <p:sp>
        <p:nvSpPr>
          <p:cNvPr id="5" name="Text 3"/>
          <p:cNvSpPr/>
          <p:nvPr/>
        </p:nvSpPr>
        <p:spPr>
          <a:xfrm>
            <a:off x="914400" y="2240280"/>
            <a:ext cx="438912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PER PREVENTED INCIDENT</a:t>
            </a:r>
            <a:endParaRPr lang="en-US" sz="1100" dirty="0"/>
          </a:p>
        </p:txBody>
      </p:sp>
      <p:sp>
        <p:nvSpPr>
          <p:cNvPr id="6" name="Text 4"/>
          <p:cNvSpPr/>
          <p:nvPr/>
        </p:nvSpPr>
        <p:spPr>
          <a:xfrm>
            <a:off x="914400" y="2560320"/>
            <a:ext cx="4389120" cy="868680"/>
          </a:xfrm>
          <a:prstGeom prst="rect">
            <a:avLst/>
          </a:prstGeom>
          <a:noFill/>
          <a:ln/>
        </p:spPr>
        <p:txBody>
          <a:bodyPr wrap="square" lIns="0" tIns="0" rIns="0" bIns="0" rtlCol="0" anchor="ctr"/>
          <a:lstStyle/>
          <a:p>
            <a:pPr indent="0" marL="0">
              <a:buNone/>
            </a:pPr>
            <a:r>
              <a:rPr lang="en-US" sz="4600" b="1" dirty="0">
                <a:solidFill>
                  <a:srgbClr val="F7EFE1"/>
                </a:solidFill>
                <a:latin typeface="Trebuchet MS" pitchFamily="34" charset="0"/>
                <a:ea typeface="Trebuchet MS" pitchFamily="34" charset="-122"/>
                <a:cs typeface="Trebuchet MS" pitchFamily="34" charset="-120"/>
              </a:rPr>
              <a:t>₹115.5 Cr</a:t>
            </a:r>
            <a:endParaRPr lang="en-US" sz="4600" dirty="0"/>
          </a:p>
        </p:txBody>
      </p:sp>
      <p:sp>
        <p:nvSpPr>
          <p:cNvPr id="7" name="Text 5"/>
          <p:cNvSpPr/>
          <p:nvPr/>
        </p:nvSpPr>
        <p:spPr>
          <a:xfrm>
            <a:off x="914400" y="3401568"/>
            <a:ext cx="4389120" cy="274320"/>
          </a:xfrm>
          <a:prstGeom prst="rect">
            <a:avLst/>
          </a:prstGeom>
          <a:noFill/>
          <a:ln/>
        </p:spPr>
        <p:txBody>
          <a:bodyPr wrap="square" lIns="0" tIns="0" rIns="0" bIns="0" rtlCol="0" anchor="ctr"/>
          <a:lstStyle/>
          <a:p>
            <a:pPr indent="0" marL="0">
              <a:buNone/>
            </a:pPr>
            <a:r>
              <a:rPr lang="en-US" sz="1300" dirty="0">
                <a:solidFill>
                  <a:srgbClr val="7C6F5E"/>
                </a:solidFill>
                <a:latin typeface="Calibri" pitchFamily="34" charset="0"/>
                <a:ea typeface="Calibri" pitchFamily="34" charset="-122"/>
                <a:cs typeface="Calibri" pitchFamily="34" charset="-120"/>
              </a:rPr>
              <a:t>avoided loss — Vizag-class event</a:t>
            </a:r>
            <a:endParaRPr lang="en-US" sz="1300" dirty="0"/>
          </a:p>
        </p:txBody>
      </p:sp>
      <p:sp>
        <p:nvSpPr>
          <p:cNvPr id="8" name="Text 6"/>
          <p:cNvSpPr/>
          <p:nvPr/>
        </p:nvSpPr>
        <p:spPr>
          <a:xfrm>
            <a:off x="914400" y="3977640"/>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Lives protected</a:t>
            </a:r>
            <a:endParaRPr lang="en-US" sz="1300" dirty="0"/>
          </a:p>
        </p:txBody>
      </p:sp>
      <p:sp>
        <p:nvSpPr>
          <p:cNvPr id="9" name="Text 7"/>
          <p:cNvSpPr/>
          <p:nvPr/>
        </p:nvSpPr>
        <p:spPr>
          <a:xfrm>
            <a:off x="3657600" y="3977640"/>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₹7.5 Cr</a:t>
            </a:r>
            <a:endParaRPr lang="en-US" sz="1300" dirty="0"/>
          </a:p>
        </p:txBody>
      </p:sp>
      <p:sp>
        <p:nvSpPr>
          <p:cNvPr id="10" name="Text 8"/>
          <p:cNvSpPr/>
          <p:nvPr/>
        </p:nvSpPr>
        <p:spPr>
          <a:xfrm>
            <a:off x="914400" y="4398264"/>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Asset damage</a:t>
            </a:r>
            <a:endParaRPr lang="en-US" sz="1300" dirty="0"/>
          </a:p>
        </p:txBody>
      </p:sp>
      <p:sp>
        <p:nvSpPr>
          <p:cNvPr id="11" name="Text 9"/>
          <p:cNvSpPr/>
          <p:nvPr/>
        </p:nvSpPr>
        <p:spPr>
          <a:xfrm>
            <a:off x="3657600" y="4398264"/>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₹40 Cr</a:t>
            </a:r>
            <a:endParaRPr lang="en-US" sz="1300" dirty="0"/>
          </a:p>
        </p:txBody>
      </p:sp>
      <p:sp>
        <p:nvSpPr>
          <p:cNvPr id="12" name="Text 10"/>
          <p:cNvSpPr/>
          <p:nvPr/>
        </p:nvSpPr>
        <p:spPr>
          <a:xfrm>
            <a:off x="914400" y="4818888"/>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Downtime (21 d)</a:t>
            </a:r>
            <a:endParaRPr lang="en-US" sz="1300" dirty="0"/>
          </a:p>
        </p:txBody>
      </p:sp>
      <p:sp>
        <p:nvSpPr>
          <p:cNvPr id="13" name="Text 11"/>
          <p:cNvSpPr/>
          <p:nvPr/>
        </p:nvSpPr>
        <p:spPr>
          <a:xfrm>
            <a:off x="3657600" y="4818888"/>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₹63 Cr</a:t>
            </a:r>
            <a:endParaRPr lang="en-US" sz="1300" dirty="0"/>
          </a:p>
        </p:txBody>
      </p:sp>
      <p:sp>
        <p:nvSpPr>
          <p:cNvPr id="14" name="Text 12"/>
          <p:cNvSpPr/>
          <p:nvPr/>
        </p:nvSpPr>
        <p:spPr>
          <a:xfrm>
            <a:off x="914400" y="5239512"/>
            <a:ext cx="2926080" cy="310896"/>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Regulatory penalty</a:t>
            </a:r>
            <a:endParaRPr lang="en-US" sz="1300" dirty="0"/>
          </a:p>
        </p:txBody>
      </p:sp>
      <p:sp>
        <p:nvSpPr>
          <p:cNvPr id="15" name="Text 13"/>
          <p:cNvSpPr/>
          <p:nvPr/>
        </p:nvSpPr>
        <p:spPr>
          <a:xfrm>
            <a:off x="3657600" y="5239512"/>
            <a:ext cx="1645920" cy="310896"/>
          </a:xfrm>
          <a:prstGeom prst="rect">
            <a:avLst/>
          </a:prstGeom>
          <a:noFill/>
          <a:ln/>
        </p:spPr>
        <p:txBody>
          <a:bodyPr wrap="square" lIns="0" tIns="0" rIns="0" bIns="0" rtlCol="0" anchor="ctr"/>
          <a:lstStyle/>
          <a:p>
            <a:pPr algn="r" indent="0" marL="0">
              <a:buNone/>
            </a:pPr>
            <a:r>
              <a:rPr lang="en-US" sz="1300" dirty="0">
                <a:solidFill>
                  <a:srgbClr val="FF6A1A"/>
                </a:solidFill>
                <a:latin typeface="Consolas" pitchFamily="34" charset="0"/>
                <a:ea typeface="Consolas" pitchFamily="34" charset="-122"/>
                <a:cs typeface="Consolas" pitchFamily="34" charset="-120"/>
              </a:rPr>
              <a:t>₹5 Cr</a:t>
            </a:r>
            <a:endParaRPr lang="en-US" sz="1300" dirty="0"/>
          </a:p>
        </p:txBody>
      </p:sp>
      <p:sp>
        <p:nvSpPr>
          <p:cNvPr id="16" name="Shape 14"/>
          <p:cNvSpPr/>
          <p:nvPr/>
        </p:nvSpPr>
        <p:spPr>
          <a:xfrm>
            <a:off x="5852160" y="2011680"/>
            <a:ext cx="5696712" cy="2514600"/>
          </a:xfrm>
          <a:prstGeom prst="roundRect">
            <a:avLst>
              <a:gd name="adj" fmla="val 3273"/>
            </a:avLst>
          </a:prstGeom>
          <a:solidFill>
            <a:srgbClr val="100C09"/>
          </a:solidFill>
          <a:ln w="12700">
            <a:solidFill>
              <a:srgbClr val="FF6A1A"/>
            </a:solidFill>
            <a:prstDash val="solid"/>
          </a:ln>
        </p:spPr>
      </p:sp>
      <p:sp>
        <p:nvSpPr>
          <p:cNvPr id="17" name="Text 15"/>
          <p:cNvSpPr/>
          <p:nvPr/>
        </p:nvSpPr>
        <p:spPr>
          <a:xfrm>
            <a:off x="6126480" y="2212848"/>
            <a:ext cx="512064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EXPECTED ANNUAL RETURN</a:t>
            </a:r>
            <a:endParaRPr lang="en-US" sz="1100" dirty="0"/>
          </a:p>
        </p:txBody>
      </p:sp>
      <p:sp>
        <p:nvSpPr>
          <p:cNvPr id="18" name="Text 16"/>
          <p:cNvSpPr/>
          <p:nvPr/>
        </p:nvSpPr>
        <p:spPr>
          <a:xfrm>
            <a:off x="6126480" y="2542032"/>
            <a:ext cx="1554480" cy="868680"/>
          </a:xfrm>
          <a:prstGeom prst="rect">
            <a:avLst/>
          </a:prstGeom>
          <a:noFill/>
          <a:ln/>
        </p:spPr>
        <p:txBody>
          <a:bodyPr wrap="square" lIns="0" tIns="0" rIns="0" bIns="0" rtlCol="0" anchor="ctr"/>
          <a:lstStyle/>
          <a:p>
            <a:pPr indent="0" marL="0">
              <a:buNone/>
            </a:pPr>
            <a:r>
              <a:rPr lang="en-US" sz="3800" b="1" dirty="0">
                <a:solidFill>
                  <a:srgbClr val="F7EFE1"/>
                </a:solidFill>
                <a:latin typeface="Trebuchet MS" pitchFamily="34" charset="0"/>
                <a:ea typeface="Trebuchet MS" pitchFamily="34" charset="-122"/>
                <a:cs typeface="Trebuchet MS" pitchFamily="34" charset="-120"/>
              </a:rPr>
              <a:t>≈7.7×</a:t>
            </a:r>
            <a:endParaRPr lang="en-US" sz="3800" dirty="0"/>
          </a:p>
        </p:txBody>
      </p:sp>
      <p:sp>
        <p:nvSpPr>
          <p:cNvPr id="19" name="Text 17"/>
          <p:cNvSpPr/>
          <p:nvPr/>
        </p:nvSpPr>
        <p:spPr>
          <a:xfrm>
            <a:off x="7726680" y="2542032"/>
            <a:ext cx="3611880" cy="868680"/>
          </a:xfrm>
          <a:prstGeom prst="rect">
            <a:avLst/>
          </a:prstGeom>
          <a:noFill/>
          <a:ln/>
        </p:spPr>
        <p:txBody>
          <a:bodyPr wrap="square" lIns="0" tIns="0" rIns="0" bIns="0" rtlCol="0" anchor="ctr"/>
          <a:lstStyle/>
          <a:p>
            <a:pPr indent="0" marL="0">
              <a:buNone/>
            </a:pPr>
            <a:r>
              <a:rPr lang="en-US" sz="1300" dirty="0">
                <a:solidFill>
                  <a:srgbClr val="C6B9A6"/>
                </a:solidFill>
                <a:latin typeface="Calibri" pitchFamily="34" charset="0"/>
                <a:ea typeface="Calibri" pitchFamily="34" charset="-122"/>
                <a:cs typeface="Calibri" pitchFamily="34" charset="-120"/>
              </a:rPr>
              <a:t>expected annual return on the ₹1 Cr/plant/yr platform — even at a conservative 1-in-15-year event</a:t>
            </a:r>
            <a:endParaRPr lang="en-US" sz="1300" dirty="0"/>
          </a:p>
        </p:txBody>
      </p:sp>
      <p:sp>
        <p:nvSpPr>
          <p:cNvPr id="20" name="Shape 18"/>
          <p:cNvSpPr/>
          <p:nvPr/>
        </p:nvSpPr>
        <p:spPr>
          <a:xfrm>
            <a:off x="6126480" y="3566160"/>
            <a:ext cx="1737360" cy="804672"/>
          </a:xfrm>
          <a:prstGeom prst="roundRect">
            <a:avLst>
              <a:gd name="adj" fmla="val 10227"/>
            </a:avLst>
          </a:prstGeom>
          <a:solidFill>
            <a:srgbClr val="15110D"/>
          </a:solidFill>
          <a:ln w="12700">
            <a:solidFill>
              <a:srgbClr val="3B2E22"/>
            </a:solidFill>
            <a:prstDash val="solid"/>
          </a:ln>
        </p:spPr>
      </p:sp>
      <p:sp>
        <p:nvSpPr>
          <p:cNvPr id="21" name="Text 19"/>
          <p:cNvSpPr/>
          <p:nvPr/>
        </p:nvSpPr>
        <p:spPr>
          <a:xfrm>
            <a:off x="6126480" y="3657600"/>
            <a:ext cx="1737360" cy="411480"/>
          </a:xfrm>
          <a:prstGeom prst="rect">
            <a:avLst/>
          </a:prstGeom>
          <a:noFill/>
          <a:ln/>
        </p:spPr>
        <p:txBody>
          <a:bodyPr wrap="square" lIns="0" tIns="0" rIns="0" bIns="0" rtlCol="0" anchor="ctr"/>
          <a:lstStyle/>
          <a:p>
            <a:pPr algn="ctr" indent="0" marL="0">
              <a:buNone/>
            </a:pPr>
            <a:r>
              <a:rPr lang="en-US" sz="2000" b="1" dirty="0">
                <a:solidFill>
                  <a:srgbClr val="FF6A1A"/>
                </a:solidFill>
                <a:latin typeface="Trebuchet MS" pitchFamily="34" charset="0"/>
                <a:ea typeface="Trebuchet MS" pitchFamily="34" charset="-122"/>
                <a:cs typeface="Trebuchet MS" pitchFamily="34" charset="-120"/>
              </a:rPr>
              <a:t>3.9×</a:t>
            </a:r>
            <a:endParaRPr lang="en-US" sz="2000" dirty="0"/>
          </a:p>
        </p:txBody>
      </p:sp>
      <p:sp>
        <p:nvSpPr>
          <p:cNvPr id="22" name="Text 20"/>
          <p:cNvSpPr/>
          <p:nvPr/>
        </p:nvSpPr>
        <p:spPr>
          <a:xfrm>
            <a:off x="6126480" y="4078224"/>
            <a:ext cx="1737360" cy="228600"/>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1-in-30 yr</a:t>
            </a:r>
            <a:endParaRPr lang="en-US" sz="950" dirty="0"/>
          </a:p>
        </p:txBody>
      </p:sp>
      <p:sp>
        <p:nvSpPr>
          <p:cNvPr id="23" name="Shape 21"/>
          <p:cNvSpPr/>
          <p:nvPr/>
        </p:nvSpPr>
        <p:spPr>
          <a:xfrm>
            <a:off x="7955280" y="3566160"/>
            <a:ext cx="1737360" cy="804672"/>
          </a:xfrm>
          <a:prstGeom prst="roundRect">
            <a:avLst>
              <a:gd name="adj" fmla="val 10227"/>
            </a:avLst>
          </a:prstGeom>
          <a:solidFill>
            <a:srgbClr val="15110D"/>
          </a:solidFill>
          <a:ln w="12700">
            <a:solidFill>
              <a:srgbClr val="3B2E22"/>
            </a:solidFill>
            <a:prstDash val="solid"/>
          </a:ln>
        </p:spPr>
      </p:sp>
      <p:sp>
        <p:nvSpPr>
          <p:cNvPr id="24" name="Text 22"/>
          <p:cNvSpPr/>
          <p:nvPr/>
        </p:nvSpPr>
        <p:spPr>
          <a:xfrm>
            <a:off x="7955280" y="3657600"/>
            <a:ext cx="1737360" cy="411480"/>
          </a:xfrm>
          <a:prstGeom prst="rect">
            <a:avLst/>
          </a:prstGeom>
          <a:noFill/>
          <a:ln/>
        </p:spPr>
        <p:txBody>
          <a:bodyPr wrap="square" lIns="0" tIns="0" rIns="0" bIns="0" rtlCol="0" anchor="ctr"/>
          <a:lstStyle/>
          <a:p>
            <a:pPr algn="ctr" indent="0" marL="0">
              <a:buNone/>
            </a:pPr>
            <a:r>
              <a:rPr lang="en-US" sz="2000" b="1" dirty="0">
                <a:solidFill>
                  <a:srgbClr val="FF6A1A"/>
                </a:solidFill>
                <a:latin typeface="Trebuchet MS" pitchFamily="34" charset="0"/>
                <a:ea typeface="Trebuchet MS" pitchFamily="34" charset="-122"/>
                <a:cs typeface="Trebuchet MS" pitchFamily="34" charset="-120"/>
              </a:rPr>
              <a:t>7.7×</a:t>
            </a:r>
            <a:endParaRPr lang="en-US" sz="2000" dirty="0"/>
          </a:p>
        </p:txBody>
      </p:sp>
      <p:sp>
        <p:nvSpPr>
          <p:cNvPr id="25" name="Text 23"/>
          <p:cNvSpPr/>
          <p:nvPr/>
        </p:nvSpPr>
        <p:spPr>
          <a:xfrm>
            <a:off x="7955280" y="4078224"/>
            <a:ext cx="1737360" cy="228600"/>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1-in-15 yr</a:t>
            </a:r>
            <a:endParaRPr lang="en-US" sz="950" dirty="0"/>
          </a:p>
        </p:txBody>
      </p:sp>
      <p:sp>
        <p:nvSpPr>
          <p:cNvPr id="26" name="Shape 24"/>
          <p:cNvSpPr/>
          <p:nvPr/>
        </p:nvSpPr>
        <p:spPr>
          <a:xfrm>
            <a:off x="9784080" y="3566160"/>
            <a:ext cx="1737360" cy="804672"/>
          </a:xfrm>
          <a:prstGeom prst="roundRect">
            <a:avLst>
              <a:gd name="adj" fmla="val 10227"/>
            </a:avLst>
          </a:prstGeom>
          <a:solidFill>
            <a:srgbClr val="15110D"/>
          </a:solidFill>
          <a:ln w="12700">
            <a:solidFill>
              <a:srgbClr val="3B2E22"/>
            </a:solidFill>
            <a:prstDash val="solid"/>
          </a:ln>
        </p:spPr>
      </p:sp>
      <p:sp>
        <p:nvSpPr>
          <p:cNvPr id="27" name="Text 25"/>
          <p:cNvSpPr/>
          <p:nvPr/>
        </p:nvSpPr>
        <p:spPr>
          <a:xfrm>
            <a:off x="9784080" y="3657600"/>
            <a:ext cx="1737360" cy="411480"/>
          </a:xfrm>
          <a:prstGeom prst="rect">
            <a:avLst/>
          </a:prstGeom>
          <a:noFill/>
          <a:ln/>
        </p:spPr>
        <p:txBody>
          <a:bodyPr wrap="square" lIns="0" tIns="0" rIns="0" bIns="0" rtlCol="0" anchor="ctr"/>
          <a:lstStyle/>
          <a:p>
            <a:pPr algn="ctr" indent="0" marL="0">
              <a:buNone/>
            </a:pPr>
            <a:r>
              <a:rPr lang="en-US" sz="2000" b="1" dirty="0">
                <a:solidFill>
                  <a:srgbClr val="FF6A1A"/>
                </a:solidFill>
                <a:latin typeface="Trebuchet MS" pitchFamily="34" charset="0"/>
                <a:ea typeface="Trebuchet MS" pitchFamily="34" charset="-122"/>
                <a:cs typeface="Trebuchet MS" pitchFamily="34" charset="-120"/>
              </a:rPr>
              <a:t>14.4×</a:t>
            </a:r>
            <a:endParaRPr lang="en-US" sz="2000" dirty="0"/>
          </a:p>
        </p:txBody>
      </p:sp>
      <p:sp>
        <p:nvSpPr>
          <p:cNvPr id="28" name="Text 26"/>
          <p:cNvSpPr/>
          <p:nvPr/>
        </p:nvSpPr>
        <p:spPr>
          <a:xfrm>
            <a:off x="9784080" y="4078224"/>
            <a:ext cx="1737360" cy="228600"/>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1-in-8 yr</a:t>
            </a:r>
            <a:endParaRPr lang="en-US" sz="950" dirty="0"/>
          </a:p>
        </p:txBody>
      </p:sp>
      <p:sp>
        <p:nvSpPr>
          <p:cNvPr id="29" name="Shape 27"/>
          <p:cNvSpPr/>
          <p:nvPr/>
        </p:nvSpPr>
        <p:spPr>
          <a:xfrm>
            <a:off x="5852160" y="4663440"/>
            <a:ext cx="5696712" cy="1188720"/>
          </a:xfrm>
          <a:prstGeom prst="roundRect">
            <a:avLst>
              <a:gd name="adj" fmla="val 6923"/>
            </a:avLst>
          </a:prstGeom>
          <a:solidFill>
            <a:srgbClr val="14130F"/>
          </a:solidFill>
          <a:ln w="12700">
            <a:solidFill>
              <a:srgbClr val="6B7886"/>
            </a:solidFill>
            <a:prstDash val="solid"/>
          </a:ln>
        </p:spPr>
      </p:sp>
      <p:sp>
        <p:nvSpPr>
          <p:cNvPr id="30" name="Text 28"/>
          <p:cNvSpPr/>
          <p:nvPr/>
        </p:nvSpPr>
        <p:spPr>
          <a:xfrm>
            <a:off x="6126480" y="4828032"/>
            <a:ext cx="5120640" cy="274320"/>
          </a:xfrm>
          <a:prstGeom prst="rect">
            <a:avLst/>
          </a:prstGeom>
          <a:noFill/>
          <a:ln/>
        </p:spPr>
        <p:txBody>
          <a:bodyPr wrap="square" lIns="0" tIns="0" rIns="0" bIns="0" rtlCol="0" anchor="ctr"/>
          <a:lstStyle/>
          <a:p>
            <a:pPr indent="0" marL="0">
              <a:buNone/>
            </a:pPr>
            <a:r>
              <a:rPr lang="en-US" sz="1100" spc="100" kern="0" dirty="0">
                <a:solidFill>
                  <a:srgbClr val="6B7886"/>
                </a:solidFill>
                <a:latin typeface="Consolas" pitchFamily="34" charset="0"/>
                <a:ea typeface="Consolas" pitchFamily="34" charset="-122"/>
                <a:cs typeface="Consolas" pitchFamily="34" charset="-120"/>
              </a:rPr>
              <a:t>+ INSURANCE LEVER</a:t>
            </a:r>
            <a:endParaRPr lang="en-US" sz="1100" dirty="0"/>
          </a:p>
        </p:txBody>
      </p:sp>
      <p:sp>
        <p:nvSpPr>
          <p:cNvPr id="31" name="Text 29"/>
          <p:cNvSpPr/>
          <p:nvPr/>
        </p:nvSpPr>
        <p:spPr>
          <a:xfrm>
            <a:off x="6126480" y="5102352"/>
            <a:ext cx="5212080" cy="713232"/>
          </a:xfrm>
          <a:prstGeom prst="rect">
            <a:avLst/>
          </a:prstGeom>
          <a:noFill/>
          <a:ln/>
        </p:spPr>
        <p:txBody>
          <a:bodyPr wrap="square" lIns="0" tIns="0" rIns="0" bIns="0" rtlCol="0" anchor="t"/>
          <a:lstStyle/>
          <a:p>
            <a:pPr indent="0" marL="0">
              <a:buNone/>
            </a:pPr>
            <a:r>
              <a:rPr lang="en-US" sz="1250" dirty="0">
                <a:solidFill>
                  <a:srgbClr val="C6B9A6"/>
                </a:solidFill>
                <a:latin typeface="Calibri" pitchFamily="34" charset="0"/>
                <a:ea typeface="Calibri" pitchFamily="34" charset="-122"/>
                <a:cs typeface="Calibri" pitchFamily="34" charset="-120"/>
              </a:rPr>
              <a:t>Recurring premium reduction of ₹0.4–1.2 Cr/yr (5–15% for continuous monitoring) — it offsets the platform cost whether or not an incident ever occurs.</a:t>
            </a:r>
            <a:endParaRPr lang="en-US" sz="1250" dirty="0"/>
          </a:p>
        </p:txBody>
      </p:sp>
      <p:sp>
        <p:nvSpPr>
          <p:cNvPr id="32" name="Text 30"/>
          <p:cNvSpPr/>
          <p:nvPr/>
        </p:nvSpPr>
        <p:spPr>
          <a:xfrm>
            <a:off x="640080" y="6035040"/>
            <a:ext cx="10972800" cy="274320"/>
          </a:xfrm>
          <a:prstGeom prst="rect">
            <a:avLst/>
          </a:prstGeom>
          <a:noFill/>
          <a:ln/>
        </p:spPr>
        <p:txBody>
          <a:bodyPr wrap="square" lIns="0" tIns="0" rIns="0" bIns="0" rtlCol="0" anchor="ctr"/>
          <a:lstStyle/>
          <a:p>
            <a:pPr indent="0" marL="0">
              <a:buNone/>
            </a:pPr>
            <a:r>
              <a:rPr lang="en-US" sz="1100" i="1" dirty="0">
                <a:solidFill>
                  <a:srgbClr val="7C6F5E"/>
                </a:solidFill>
                <a:latin typeface="Calibri" pitchFamily="34" charset="0"/>
                <a:ea typeface="Calibri" pitchFamily="34" charset="-122"/>
                <a:cs typeface="Calibri" pitchFamily="34" charset="-120"/>
              </a:rPr>
              <a:t>Per-incident loss (lives + asset + downtime + penalty), every figure carries its basis, × a conservative event frequency — not a 116×-per-incident headline.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GO TO MARKET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A wedge, a buyer, a trigger</a:t>
            </a:r>
            <a:endParaRPr lang="en-US" sz="3400" dirty="0"/>
          </a:p>
        </p:txBody>
      </p:sp>
      <p:sp>
        <p:nvSpPr>
          <p:cNvPr id="4" name="Shape 2"/>
          <p:cNvSpPr/>
          <p:nvPr/>
        </p:nvSpPr>
        <p:spPr>
          <a:xfrm>
            <a:off x="640080" y="2103120"/>
            <a:ext cx="10908792" cy="841248"/>
          </a:xfrm>
          <a:prstGeom prst="roundRect">
            <a:avLst>
              <a:gd name="adj" fmla="val 9783"/>
            </a:avLst>
          </a:prstGeom>
          <a:solidFill>
            <a:srgbClr val="15110D"/>
          </a:solidFill>
          <a:ln w="12700">
            <a:solidFill>
              <a:srgbClr val="3B2E22"/>
            </a:solidFill>
            <a:prstDash val="solid"/>
          </a:ln>
        </p:spPr>
      </p:sp>
      <p:sp>
        <p:nvSpPr>
          <p:cNvPr id="5" name="Shape 3"/>
          <p:cNvSpPr/>
          <p:nvPr/>
        </p:nvSpPr>
        <p:spPr>
          <a:xfrm>
            <a:off x="640080" y="2103120"/>
            <a:ext cx="64008" cy="841248"/>
          </a:xfrm>
          <a:prstGeom prst="rect">
            <a:avLst/>
          </a:prstGeom>
          <a:solidFill>
            <a:srgbClr val="FF6A1A"/>
          </a:solidFill>
          <a:ln/>
        </p:spPr>
      </p:sp>
      <p:sp>
        <p:nvSpPr>
          <p:cNvPr id="6" name="Text 4"/>
          <p:cNvSpPr/>
          <p:nvPr/>
        </p:nvSpPr>
        <p:spPr>
          <a:xfrm>
            <a:off x="914400" y="2212848"/>
            <a:ext cx="1828800" cy="621792"/>
          </a:xfrm>
          <a:prstGeom prst="rect">
            <a:avLst/>
          </a:prstGeom>
          <a:noFill/>
          <a:ln/>
        </p:spPr>
        <p:txBody>
          <a:bodyPr wrap="square" lIns="0" tIns="0" rIns="0" bIns="0" rtlCol="0" anchor="ctr"/>
          <a:lstStyle/>
          <a:p>
            <a:pPr indent="0" marL="0">
              <a:buNone/>
            </a:pPr>
            <a:r>
              <a:rPr lang="en-US" sz="1700" b="1" dirty="0">
                <a:solidFill>
                  <a:srgbClr val="FF6A1A"/>
                </a:solidFill>
                <a:latin typeface="Trebuchet MS" pitchFamily="34" charset="0"/>
                <a:ea typeface="Trebuchet MS" pitchFamily="34" charset="-122"/>
                <a:cs typeface="Trebuchet MS" pitchFamily="34" charset="-120"/>
              </a:rPr>
              <a:t>Buyer</a:t>
            </a:r>
            <a:endParaRPr lang="en-US" sz="1700" dirty="0"/>
          </a:p>
        </p:txBody>
      </p:sp>
      <p:sp>
        <p:nvSpPr>
          <p:cNvPr id="7" name="Text 5"/>
          <p:cNvSpPr/>
          <p:nvPr/>
        </p:nvSpPr>
        <p:spPr>
          <a:xfrm>
            <a:off x="2743200" y="2212848"/>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Plant process-safety head / safety officer — owns permit-to-work and statutory compliance, carries the fatality risk.</a:t>
            </a:r>
            <a:endParaRPr lang="en-US" sz="1400" dirty="0"/>
          </a:p>
        </p:txBody>
      </p:sp>
      <p:sp>
        <p:nvSpPr>
          <p:cNvPr id="8" name="Shape 6"/>
          <p:cNvSpPr/>
          <p:nvPr/>
        </p:nvSpPr>
        <p:spPr>
          <a:xfrm>
            <a:off x="640080" y="3054096"/>
            <a:ext cx="10908792" cy="841248"/>
          </a:xfrm>
          <a:prstGeom prst="roundRect">
            <a:avLst>
              <a:gd name="adj" fmla="val 9783"/>
            </a:avLst>
          </a:prstGeom>
          <a:solidFill>
            <a:srgbClr val="15110D"/>
          </a:solidFill>
          <a:ln w="12700">
            <a:solidFill>
              <a:srgbClr val="3B2E22"/>
            </a:solidFill>
            <a:prstDash val="solid"/>
          </a:ln>
        </p:spPr>
      </p:sp>
      <p:sp>
        <p:nvSpPr>
          <p:cNvPr id="9" name="Shape 7"/>
          <p:cNvSpPr/>
          <p:nvPr/>
        </p:nvSpPr>
        <p:spPr>
          <a:xfrm>
            <a:off x="640080" y="3054096"/>
            <a:ext cx="64008" cy="841248"/>
          </a:xfrm>
          <a:prstGeom prst="rect">
            <a:avLst/>
          </a:prstGeom>
          <a:solidFill>
            <a:srgbClr val="F7EFE1"/>
          </a:solidFill>
          <a:ln/>
        </p:spPr>
      </p:sp>
      <p:sp>
        <p:nvSpPr>
          <p:cNvPr id="10" name="Text 8"/>
          <p:cNvSpPr/>
          <p:nvPr/>
        </p:nvSpPr>
        <p:spPr>
          <a:xfrm>
            <a:off x="914400" y="3163824"/>
            <a:ext cx="1828800" cy="621792"/>
          </a:xfrm>
          <a:prstGeom prst="rect">
            <a:avLst/>
          </a:prstGeom>
          <a:noFill/>
          <a:ln/>
        </p:spPr>
        <p:txBody>
          <a:bodyPr wrap="square" lIns="0" tIns="0" rIns="0" bIns="0" rtlCol="0" anchor="ctr"/>
          <a:lstStyle/>
          <a:p>
            <a:pPr indent="0" marL="0">
              <a:buNone/>
            </a:pPr>
            <a:r>
              <a:rPr lang="en-US" sz="1700" b="1" dirty="0">
                <a:solidFill>
                  <a:srgbClr val="F7EFE1"/>
                </a:solidFill>
                <a:latin typeface="Trebuchet MS" pitchFamily="34" charset="0"/>
                <a:ea typeface="Trebuchet MS" pitchFamily="34" charset="-122"/>
                <a:cs typeface="Trebuchet MS" pitchFamily="34" charset="-120"/>
              </a:rPr>
              <a:t>Wedge</a:t>
            </a:r>
            <a:endParaRPr lang="en-US" sz="1700" dirty="0"/>
          </a:p>
        </p:txBody>
      </p:sp>
      <p:sp>
        <p:nvSpPr>
          <p:cNvPr id="11" name="Text 9"/>
          <p:cNvSpPr/>
          <p:nvPr/>
        </p:nvSpPr>
        <p:spPr>
          <a:xfrm>
            <a:off x="2743200" y="3163824"/>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Permit-to-work intelligence — one discrete, fundable pain — then expand to full gas + permit + CCTV + shift fusion.</a:t>
            </a:r>
            <a:endParaRPr lang="en-US" sz="1400" dirty="0"/>
          </a:p>
        </p:txBody>
      </p:sp>
      <p:sp>
        <p:nvSpPr>
          <p:cNvPr id="12" name="Shape 10"/>
          <p:cNvSpPr/>
          <p:nvPr/>
        </p:nvSpPr>
        <p:spPr>
          <a:xfrm>
            <a:off x="640080" y="4005072"/>
            <a:ext cx="10908792" cy="841248"/>
          </a:xfrm>
          <a:prstGeom prst="roundRect">
            <a:avLst>
              <a:gd name="adj" fmla="val 9783"/>
            </a:avLst>
          </a:prstGeom>
          <a:solidFill>
            <a:srgbClr val="15110D"/>
          </a:solidFill>
          <a:ln w="12700">
            <a:solidFill>
              <a:srgbClr val="3B2E22"/>
            </a:solidFill>
            <a:prstDash val="solid"/>
          </a:ln>
        </p:spPr>
      </p:sp>
      <p:sp>
        <p:nvSpPr>
          <p:cNvPr id="13" name="Shape 11"/>
          <p:cNvSpPr/>
          <p:nvPr/>
        </p:nvSpPr>
        <p:spPr>
          <a:xfrm>
            <a:off x="640080" y="4005072"/>
            <a:ext cx="64008" cy="841248"/>
          </a:xfrm>
          <a:prstGeom prst="rect">
            <a:avLst/>
          </a:prstGeom>
          <a:solidFill>
            <a:srgbClr val="F7EFE1"/>
          </a:solidFill>
          <a:ln/>
        </p:spPr>
      </p:sp>
      <p:sp>
        <p:nvSpPr>
          <p:cNvPr id="14" name="Text 12"/>
          <p:cNvSpPr/>
          <p:nvPr/>
        </p:nvSpPr>
        <p:spPr>
          <a:xfrm>
            <a:off x="914400" y="4114800"/>
            <a:ext cx="1828800" cy="621792"/>
          </a:xfrm>
          <a:prstGeom prst="rect">
            <a:avLst/>
          </a:prstGeom>
          <a:noFill/>
          <a:ln/>
        </p:spPr>
        <p:txBody>
          <a:bodyPr wrap="square" lIns="0" tIns="0" rIns="0" bIns="0" rtlCol="0" anchor="ctr"/>
          <a:lstStyle/>
          <a:p>
            <a:pPr indent="0" marL="0">
              <a:buNone/>
            </a:pPr>
            <a:r>
              <a:rPr lang="en-US" sz="1700" b="1" dirty="0">
                <a:solidFill>
                  <a:srgbClr val="F7EFE1"/>
                </a:solidFill>
                <a:latin typeface="Trebuchet MS" pitchFamily="34" charset="0"/>
                <a:ea typeface="Trebuchet MS" pitchFamily="34" charset="-122"/>
                <a:cs typeface="Trebuchet MS" pitchFamily="34" charset="-120"/>
              </a:rPr>
              <a:t>Pricing</a:t>
            </a:r>
            <a:endParaRPr lang="en-US" sz="1700" dirty="0"/>
          </a:p>
        </p:txBody>
      </p:sp>
      <p:sp>
        <p:nvSpPr>
          <p:cNvPr id="15" name="Text 13"/>
          <p:cNvSpPr/>
          <p:nvPr/>
        </p:nvSpPr>
        <p:spPr>
          <a:xfrm>
            <a:off x="2743200" y="4114800"/>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~₹1 Cr / plant / yr — justified against a single downtime-day (~₹3 Cr) or one OISD / NGT penalty.</a:t>
            </a:r>
            <a:endParaRPr lang="en-US" sz="1400" dirty="0"/>
          </a:p>
        </p:txBody>
      </p:sp>
      <p:sp>
        <p:nvSpPr>
          <p:cNvPr id="16" name="Shape 14"/>
          <p:cNvSpPr/>
          <p:nvPr/>
        </p:nvSpPr>
        <p:spPr>
          <a:xfrm>
            <a:off x="640080" y="4956048"/>
            <a:ext cx="10908792" cy="841248"/>
          </a:xfrm>
          <a:prstGeom prst="roundRect">
            <a:avLst>
              <a:gd name="adj" fmla="val 9783"/>
            </a:avLst>
          </a:prstGeom>
          <a:solidFill>
            <a:srgbClr val="15110D"/>
          </a:solidFill>
          <a:ln w="12700">
            <a:solidFill>
              <a:srgbClr val="3B2E22"/>
            </a:solidFill>
            <a:prstDash val="solid"/>
          </a:ln>
        </p:spPr>
      </p:sp>
      <p:sp>
        <p:nvSpPr>
          <p:cNvPr id="17" name="Shape 15"/>
          <p:cNvSpPr/>
          <p:nvPr/>
        </p:nvSpPr>
        <p:spPr>
          <a:xfrm>
            <a:off x="640080" y="4956048"/>
            <a:ext cx="64008" cy="841248"/>
          </a:xfrm>
          <a:prstGeom prst="rect">
            <a:avLst/>
          </a:prstGeom>
          <a:solidFill>
            <a:srgbClr val="F5902B"/>
          </a:solidFill>
          <a:ln/>
        </p:spPr>
      </p:sp>
      <p:sp>
        <p:nvSpPr>
          <p:cNvPr id="18" name="Text 16"/>
          <p:cNvSpPr/>
          <p:nvPr/>
        </p:nvSpPr>
        <p:spPr>
          <a:xfrm>
            <a:off x="914400" y="5065776"/>
            <a:ext cx="1828800" cy="621792"/>
          </a:xfrm>
          <a:prstGeom prst="rect">
            <a:avLst/>
          </a:prstGeom>
          <a:noFill/>
          <a:ln/>
        </p:spPr>
        <p:txBody>
          <a:bodyPr wrap="square" lIns="0" tIns="0" rIns="0" bIns="0" rtlCol="0" anchor="ctr"/>
          <a:lstStyle/>
          <a:p>
            <a:pPr indent="0" marL="0">
              <a:buNone/>
            </a:pPr>
            <a:r>
              <a:rPr lang="en-US" sz="1700" b="1" dirty="0">
                <a:solidFill>
                  <a:srgbClr val="F5902B"/>
                </a:solidFill>
                <a:latin typeface="Trebuchet MS" pitchFamily="34" charset="0"/>
                <a:ea typeface="Trebuchet MS" pitchFamily="34" charset="-122"/>
                <a:cs typeface="Trebuchet MS" pitchFamily="34" charset="-120"/>
              </a:rPr>
              <a:t>Trigger</a:t>
            </a:r>
            <a:endParaRPr lang="en-US" sz="1700" dirty="0"/>
          </a:p>
        </p:txBody>
      </p:sp>
      <p:sp>
        <p:nvSpPr>
          <p:cNvPr id="19" name="Text 17"/>
          <p:cNvSpPr/>
          <p:nvPr/>
        </p:nvSpPr>
        <p:spPr>
          <a:xfrm>
            <a:off x="2743200" y="5065776"/>
            <a:ext cx="8595360" cy="621792"/>
          </a:xfrm>
          <a:prstGeom prst="rect">
            <a:avLst/>
          </a:prstGeom>
          <a:noFill/>
          <a:ln/>
        </p:spPr>
        <p:txBody>
          <a:bodyPr wrap="square" lIns="0" tIns="0" rIns="0" bIns="0" rtlCol="0" anchor="ctr"/>
          <a:lstStyle/>
          <a:p>
            <a:pPr indent="0" marL="0">
              <a:buNone/>
            </a:pPr>
            <a:r>
              <a:rPr lang="en-US" sz="1400" dirty="0">
                <a:solidFill>
                  <a:srgbClr val="C6B9A6"/>
                </a:solidFill>
                <a:latin typeface="Calibri" pitchFamily="34" charset="0"/>
                <a:ea typeface="Calibri" pitchFamily="34" charset="-122"/>
                <a:cs typeface="Calibri" pitchFamily="34" charset="-120"/>
              </a:rPr>
              <a:t>Post-LG-Polymers / Vizag regulatory pressure — DGMS scrutiny and mandatory near-miss reporting.</a:t>
            </a:r>
            <a:endParaRPr lang="en-US" sz="1400" dirty="0"/>
          </a:p>
        </p:txBody>
      </p:sp>
      <p:sp>
        <p:nvSpPr>
          <p:cNvPr id="20" name="Shape 18"/>
          <p:cNvSpPr/>
          <p:nvPr/>
        </p:nvSpPr>
        <p:spPr>
          <a:xfrm>
            <a:off x="640080" y="5943600"/>
            <a:ext cx="10908792" cy="640080"/>
          </a:xfrm>
          <a:prstGeom prst="roundRect">
            <a:avLst>
              <a:gd name="adj" fmla="val 12857"/>
            </a:avLst>
          </a:prstGeom>
          <a:solidFill>
            <a:srgbClr val="100C09"/>
          </a:solidFill>
          <a:ln w="12700">
            <a:solidFill>
              <a:srgbClr val="FF6A1A"/>
            </a:solidFill>
            <a:prstDash val="solid"/>
          </a:ln>
        </p:spPr>
      </p:sp>
      <p:sp>
        <p:nvSpPr>
          <p:cNvPr id="21" name="Text 19"/>
          <p:cNvSpPr/>
          <p:nvPr/>
        </p:nvSpPr>
        <p:spPr>
          <a:xfrm>
            <a:off x="914400" y="5943600"/>
            <a:ext cx="10332720" cy="640080"/>
          </a:xfrm>
          <a:prstGeom prst="rect">
            <a:avLst/>
          </a:prstGeom>
          <a:noFill/>
          <a:ln/>
        </p:spPr>
        <p:txBody>
          <a:bodyPr wrap="square" lIns="0" tIns="0" rIns="0" bIns="0" rtlCol="0" anchor="ctr"/>
          <a:lstStyle/>
          <a:p>
            <a:pPr indent="0" marL="0">
              <a:buNone/>
            </a:pPr>
            <a:r>
              <a:rPr lang="en-US" sz="1400" b="1" dirty="0">
                <a:solidFill>
                  <a:srgbClr val="FF6A1A"/>
                </a:solidFill>
                <a:latin typeface="Calibri" pitchFamily="34" charset="0"/>
                <a:ea typeface="Calibri" pitchFamily="34" charset="-122"/>
                <a:cs typeface="Calibri" pitchFamily="34" charset="-120"/>
              </a:rPr>
              <a:t>The ask:  </a:t>
            </a:r>
            <a:pPr indent="0" marL="0">
              <a:buNone/>
            </a:pPr>
            <a:r>
              <a:rPr lang="en-US" sz="1400" dirty="0">
                <a:solidFill>
                  <a:srgbClr val="F7EFE1"/>
                </a:solidFill>
                <a:latin typeface="Calibri" pitchFamily="34" charset="0"/>
                <a:ea typeface="Calibri" pitchFamily="34" charset="-122"/>
                <a:cs typeface="Calibri" pitchFamily="34" charset="-120"/>
              </a:rPr>
              <a:t>1–2 design partners (steel / refining) for a 90-day pilot on a live permit-to-work + gas feed.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WHY AN INCUMBENT CAN'T JUST SHIP IT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The moat is the fusion, not the sensors</a:t>
            </a:r>
            <a:endParaRPr lang="en-US" sz="3400" dirty="0"/>
          </a:p>
        </p:txBody>
      </p:sp>
      <p:sp>
        <p:nvSpPr>
          <p:cNvPr id="4" name="Shape 2"/>
          <p:cNvSpPr/>
          <p:nvPr/>
        </p:nvSpPr>
        <p:spPr>
          <a:xfrm>
            <a:off x="640080" y="2103120"/>
            <a:ext cx="10908792" cy="850392"/>
          </a:xfrm>
          <a:prstGeom prst="roundRect">
            <a:avLst>
              <a:gd name="adj" fmla="val 9677"/>
            </a:avLst>
          </a:prstGeom>
          <a:solidFill>
            <a:srgbClr val="15110D"/>
          </a:solidFill>
          <a:ln w="12700">
            <a:solidFill>
              <a:srgbClr val="3B2E22"/>
            </a:solidFill>
            <a:prstDash val="solid"/>
          </a:ln>
        </p:spPr>
      </p:sp>
      <p:sp>
        <p:nvSpPr>
          <p:cNvPr id="5" name="Shape 3"/>
          <p:cNvSpPr/>
          <p:nvPr/>
        </p:nvSpPr>
        <p:spPr>
          <a:xfrm>
            <a:off x="640080" y="2103120"/>
            <a:ext cx="64008" cy="850392"/>
          </a:xfrm>
          <a:prstGeom prst="rect">
            <a:avLst/>
          </a:prstGeom>
          <a:solidFill>
            <a:srgbClr val="FF2B4E"/>
          </a:solidFill>
          <a:ln/>
        </p:spPr>
      </p:sp>
      <p:sp>
        <p:nvSpPr>
          <p:cNvPr id="6" name="Text 4"/>
          <p:cNvSpPr/>
          <p:nvPr/>
        </p:nvSpPr>
        <p:spPr>
          <a:xfrm>
            <a:off x="914400" y="2194560"/>
            <a:ext cx="3200400" cy="667512"/>
          </a:xfrm>
          <a:prstGeom prst="rect">
            <a:avLst/>
          </a:prstGeom>
          <a:noFill/>
          <a:ln/>
        </p:spPr>
        <p:txBody>
          <a:bodyPr wrap="square" lIns="0" tIns="0" rIns="0" bIns="0" rtlCol="0" anchor="ctr"/>
          <a:lstStyle/>
          <a:p>
            <a:pPr indent="0" marL="0">
              <a:buNone/>
            </a:pPr>
            <a:r>
              <a:rPr lang="en-US" sz="1550" b="1" dirty="0">
                <a:solidFill>
                  <a:srgbClr val="FF2B4E"/>
                </a:solidFill>
                <a:latin typeface="Trebuchet MS" pitchFamily="34" charset="0"/>
                <a:ea typeface="Trebuchet MS" pitchFamily="34" charset="-122"/>
                <a:cs typeface="Trebuchet MS" pitchFamily="34" charset="-120"/>
              </a:rPr>
              <a:t>Incumbents sell the silos</a:t>
            </a:r>
            <a:endParaRPr lang="en-US" sz="1550" dirty="0"/>
          </a:p>
        </p:txBody>
      </p:sp>
      <p:sp>
        <p:nvSpPr>
          <p:cNvPr id="7" name="Text 5"/>
          <p:cNvSpPr/>
          <p:nvPr/>
        </p:nvSpPr>
        <p:spPr>
          <a:xfrm>
            <a:off x="4206240" y="219456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Honeywell, Dräger, MSA, Hexagon sell gas detection, permit-to-work and CCTV as SEPARATE products. The danger lives in the seam BETWEEN them — exactly what no one owns end to end.</a:t>
            </a:r>
            <a:endParaRPr lang="en-US" sz="1250" dirty="0"/>
          </a:p>
        </p:txBody>
      </p:sp>
      <p:sp>
        <p:nvSpPr>
          <p:cNvPr id="8" name="Shape 6"/>
          <p:cNvSpPr/>
          <p:nvPr/>
        </p:nvSpPr>
        <p:spPr>
          <a:xfrm>
            <a:off x="640080" y="3063240"/>
            <a:ext cx="10908792" cy="850392"/>
          </a:xfrm>
          <a:prstGeom prst="roundRect">
            <a:avLst>
              <a:gd name="adj" fmla="val 9677"/>
            </a:avLst>
          </a:prstGeom>
          <a:solidFill>
            <a:srgbClr val="15110D"/>
          </a:solidFill>
          <a:ln w="12700">
            <a:solidFill>
              <a:srgbClr val="3B2E22"/>
            </a:solidFill>
            <a:prstDash val="solid"/>
          </a:ln>
        </p:spPr>
      </p:sp>
      <p:sp>
        <p:nvSpPr>
          <p:cNvPr id="9" name="Shape 7"/>
          <p:cNvSpPr/>
          <p:nvPr/>
        </p:nvSpPr>
        <p:spPr>
          <a:xfrm>
            <a:off x="640080" y="3063240"/>
            <a:ext cx="64008" cy="850392"/>
          </a:xfrm>
          <a:prstGeom prst="rect">
            <a:avLst/>
          </a:prstGeom>
          <a:solidFill>
            <a:srgbClr val="FF6A1A"/>
          </a:solidFill>
          <a:ln/>
        </p:spPr>
      </p:sp>
      <p:sp>
        <p:nvSpPr>
          <p:cNvPr id="10" name="Text 8"/>
          <p:cNvSpPr/>
          <p:nvPr/>
        </p:nvSpPr>
        <p:spPr>
          <a:xfrm>
            <a:off x="914400" y="3154680"/>
            <a:ext cx="3200400" cy="667512"/>
          </a:xfrm>
          <a:prstGeom prst="rect">
            <a:avLst/>
          </a:prstGeom>
          <a:noFill/>
          <a:ln/>
        </p:spPr>
        <p:txBody>
          <a:bodyPr wrap="square" lIns="0" tIns="0" rIns="0" bIns="0" rtlCol="0" anchor="ctr"/>
          <a:lstStyle/>
          <a:p>
            <a:pPr indent="0" marL="0">
              <a:buNone/>
            </a:pPr>
            <a:r>
              <a:rPr lang="en-US" sz="1550" b="1" dirty="0">
                <a:solidFill>
                  <a:srgbClr val="FF6A1A"/>
                </a:solidFill>
                <a:latin typeface="Trebuchet MS" pitchFamily="34" charset="0"/>
                <a:ea typeface="Trebuchet MS" pitchFamily="34" charset="-122"/>
                <a:cs typeface="Trebuchet MS" pitchFamily="34" charset="-120"/>
              </a:rPr>
              <a:t>A deterministic pattern library</a:t>
            </a:r>
            <a:endParaRPr lang="en-US" sz="1550" dirty="0"/>
          </a:p>
        </p:txBody>
      </p:sp>
      <p:sp>
        <p:nvSpPr>
          <p:cNvPr id="11" name="Text 9"/>
          <p:cNvSpPr/>
          <p:nvPr/>
        </p:nvSpPr>
        <p:spPr>
          <a:xfrm>
            <a:off x="4206240" y="315468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The compound rules — flammable × ignition × personnel × oxidizer × blast-radius, encoded to real OISD / Factory-Act thresholds — are domain IP, not a model cloned from a public dataset.</a:t>
            </a:r>
            <a:endParaRPr lang="en-US" sz="1250" dirty="0"/>
          </a:p>
        </p:txBody>
      </p:sp>
      <p:sp>
        <p:nvSpPr>
          <p:cNvPr id="12" name="Shape 10"/>
          <p:cNvSpPr/>
          <p:nvPr/>
        </p:nvSpPr>
        <p:spPr>
          <a:xfrm>
            <a:off x="640080" y="4023360"/>
            <a:ext cx="10908792" cy="850392"/>
          </a:xfrm>
          <a:prstGeom prst="roundRect">
            <a:avLst>
              <a:gd name="adj" fmla="val 9677"/>
            </a:avLst>
          </a:prstGeom>
          <a:solidFill>
            <a:srgbClr val="15110D"/>
          </a:solidFill>
          <a:ln w="12700">
            <a:solidFill>
              <a:srgbClr val="3B2E22"/>
            </a:solidFill>
            <a:prstDash val="solid"/>
          </a:ln>
        </p:spPr>
      </p:sp>
      <p:sp>
        <p:nvSpPr>
          <p:cNvPr id="13" name="Shape 11"/>
          <p:cNvSpPr/>
          <p:nvPr/>
        </p:nvSpPr>
        <p:spPr>
          <a:xfrm>
            <a:off x="640080" y="4023360"/>
            <a:ext cx="64008" cy="850392"/>
          </a:xfrm>
          <a:prstGeom prst="rect">
            <a:avLst/>
          </a:prstGeom>
          <a:solidFill>
            <a:srgbClr val="FF6A1A"/>
          </a:solidFill>
          <a:ln/>
        </p:spPr>
      </p:sp>
      <p:sp>
        <p:nvSpPr>
          <p:cNvPr id="14" name="Text 12"/>
          <p:cNvSpPr/>
          <p:nvPr/>
        </p:nvSpPr>
        <p:spPr>
          <a:xfrm>
            <a:off x="914400" y="4114800"/>
            <a:ext cx="3200400" cy="667512"/>
          </a:xfrm>
          <a:prstGeom prst="rect">
            <a:avLst/>
          </a:prstGeom>
          <a:noFill/>
          <a:ln/>
        </p:spPr>
        <p:txBody>
          <a:bodyPr wrap="square" lIns="0" tIns="0" rIns="0" bIns="0" rtlCol="0" anchor="ctr"/>
          <a:lstStyle/>
          <a:p>
            <a:pPr indent="0" marL="0">
              <a:buNone/>
            </a:pPr>
            <a:r>
              <a:rPr lang="en-US" sz="1550" b="1" dirty="0">
                <a:solidFill>
                  <a:srgbClr val="FF6A1A"/>
                </a:solidFill>
                <a:latin typeface="Trebuchet MS" pitchFamily="34" charset="0"/>
                <a:ea typeface="Trebuchet MS" pitchFamily="34" charset="-122"/>
                <a:cs typeface="Trebuchet MS" pitchFamily="34" charset="-120"/>
              </a:rPr>
              <a:t>A per-plant data moat</a:t>
            </a:r>
            <a:endParaRPr lang="en-US" sz="1550" dirty="0"/>
          </a:p>
        </p:txBody>
      </p:sp>
      <p:sp>
        <p:nvSpPr>
          <p:cNvPr id="15" name="Text 13"/>
          <p:cNvSpPr/>
          <p:nvPr/>
        </p:nvSpPr>
        <p:spPr>
          <a:xfrm>
            <a:off x="4206240" y="411480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Each plant's operator feedback tunes its own nuisance profile (the flywheel) — proprietary data that compounds per site and raises switching cost. An incumbent's fixed hardware doesn't learn.</a:t>
            </a:r>
            <a:endParaRPr lang="en-US" sz="1250" dirty="0"/>
          </a:p>
        </p:txBody>
      </p:sp>
      <p:sp>
        <p:nvSpPr>
          <p:cNvPr id="16" name="Shape 14"/>
          <p:cNvSpPr/>
          <p:nvPr/>
        </p:nvSpPr>
        <p:spPr>
          <a:xfrm>
            <a:off x="640080" y="4983480"/>
            <a:ext cx="10908792" cy="850392"/>
          </a:xfrm>
          <a:prstGeom prst="roundRect">
            <a:avLst>
              <a:gd name="adj" fmla="val 9677"/>
            </a:avLst>
          </a:prstGeom>
          <a:solidFill>
            <a:srgbClr val="15110D"/>
          </a:solidFill>
          <a:ln w="12700">
            <a:solidFill>
              <a:srgbClr val="3B2E22"/>
            </a:solidFill>
            <a:prstDash val="solid"/>
          </a:ln>
        </p:spPr>
      </p:sp>
      <p:sp>
        <p:nvSpPr>
          <p:cNvPr id="17" name="Shape 15"/>
          <p:cNvSpPr/>
          <p:nvPr/>
        </p:nvSpPr>
        <p:spPr>
          <a:xfrm>
            <a:off x="640080" y="4983480"/>
            <a:ext cx="64008" cy="850392"/>
          </a:xfrm>
          <a:prstGeom prst="rect">
            <a:avLst/>
          </a:prstGeom>
          <a:solidFill>
            <a:srgbClr val="F5902B"/>
          </a:solidFill>
          <a:ln/>
        </p:spPr>
      </p:sp>
      <p:sp>
        <p:nvSpPr>
          <p:cNvPr id="18" name="Text 16"/>
          <p:cNvSpPr/>
          <p:nvPr/>
        </p:nvSpPr>
        <p:spPr>
          <a:xfrm>
            <a:off x="914400" y="5074920"/>
            <a:ext cx="3200400" cy="667512"/>
          </a:xfrm>
          <a:prstGeom prst="rect">
            <a:avLst/>
          </a:prstGeom>
          <a:noFill/>
          <a:ln/>
        </p:spPr>
        <p:txBody>
          <a:bodyPr wrap="square" lIns="0" tIns="0" rIns="0" bIns="0" rtlCol="0" anchor="ctr"/>
          <a:lstStyle/>
          <a:p>
            <a:pPr indent="0" marL="0">
              <a:buNone/>
            </a:pPr>
            <a:r>
              <a:rPr lang="en-US" sz="1550" b="1" dirty="0">
                <a:solidFill>
                  <a:srgbClr val="F5902B"/>
                </a:solidFill>
                <a:latin typeface="Trebuchet MS" pitchFamily="34" charset="0"/>
                <a:ea typeface="Trebuchet MS" pitchFamily="34" charset="-122"/>
                <a:cs typeface="Trebuchet MS" pitchFamily="34" charset="-120"/>
              </a:rPr>
              <a:t>Audit-grade by construction</a:t>
            </a:r>
            <a:endParaRPr lang="en-US" sz="1550" dirty="0"/>
          </a:p>
        </p:txBody>
      </p:sp>
      <p:sp>
        <p:nvSpPr>
          <p:cNvPr id="19" name="Text 17"/>
          <p:cNvSpPr/>
          <p:nvPr/>
        </p:nvSpPr>
        <p:spPr>
          <a:xfrm>
            <a:off x="4206240" y="5074920"/>
            <a:ext cx="7132320" cy="667512"/>
          </a:xfrm>
          <a:prstGeom prst="rect">
            <a:avLst/>
          </a:prstGeom>
          <a:noFill/>
          <a:ln/>
        </p:spPr>
        <p:txBody>
          <a:bodyPr wrap="square" lIns="0" tIns="0" rIns="0" bIns="0" rtlCol="0" anchor="ctr"/>
          <a:lstStyle/>
          <a:p>
            <a:pPr indent="0" marL="0">
              <a:buNone/>
            </a:pPr>
            <a:r>
              <a:rPr lang="en-US" sz="1250" dirty="0">
                <a:solidFill>
                  <a:srgbClr val="C6B9A6"/>
                </a:solidFill>
                <a:latin typeface="Calibri" pitchFamily="34" charset="0"/>
                <a:ea typeface="Calibri" pitchFamily="34" charset="-122"/>
                <a:cs typeface="Calibri" pitchFamily="34" charset="-120"/>
              </a:rPr>
              <a:t>A transparent, deterministic core a safety officer can defend in a statutory audit. A pure-LLM bolt-on can't make a life-safety call a regulator will accept.</a:t>
            </a:r>
            <a:endParaRPr lang="en-US" sz="1250" dirty="0"/>
          </a:p>
        </p:txBody>
      </p:sp>
      <p:sp>
        <p:nvSpPr>
          <p:cNvPr id="20" name="Shape 18"/>
          <p:cNvSpPr/>
          <p:nvPr/>
        </p:nvSpPr>
        <p:spPr>
          <a:xfrm>
            <a:off x="640080" y="5989320"/>
            <a:ext cx="10908792" cy="594360"/>
          </a:xfrm>
          <a:prstGeom prst="roundRect">
            <a:avLst>
              <a:gd name="adj" fmla="val 13846"/>
            </a:avLst>
          </a:prstGeom>
          <a:solidFill>
            <a:srgbClr val="100C09"/>
          </a:solidFill>
          <a:ln w="12700">
            <a:solidFill>
              <a:srgbClr val="FF6A1A"/>
            </a:solidFill>
            <a:prstDash val="solid"/>
          </a:ln>
        </p:spPr>
      </p:sp>
      <p:sp>
        <p:nvSpPr>
          <p:cNvPr id="21" name="Text 19"/>
          <p:cNvSpPr/>
          <p:nvPr/>
        </p:nvSpPr>
        <p:spPr>
          <a:xfrm>
            <a:off x="914400" y="5989320"/>
            <a:ext cx="10332720" cy="594360"/>
          </a:xfrm>
          <a:prstGeom prst="rect">
            <a:avLst/>
          </a:prstGeom>
          <a:noFill/>
          <a:ln/>
        </p:spPr>
        <p:txBody>
          <a:bodyPr wrap="square" lIns="0" tIns="0" rIns="0" bIns="0" rtlCol="0" anchor="ctr"/>
          <a:lstStyle/>
          <a:p>
            <a:pPr indent="0" marL="0">
              <a:buNone/>
            </a:pPr>
            <a:r>
              <a:rPr lang="en-US" sz="1250" b="1" dirty="0">
                <a:solidFill>
                  <a:srgbClr val="FF6A1A"/>
                </a:solidFill>
                <a:latin typeface="Calibri" pitchFamily="34" charset="0"/>
                <a:ea typeface="Calibri" pitchFamily="34" charset="-122"/>
                <a:cs typeface="Calibri" pitchFamily="34" charset="-120"/>
              </a:rPr>
              <a:t>The wedge:  </a:t>
            </a:r>
            <a:pPr indent="0" marL="0">
              <a:buNone/>
            </a:pPr>
            <a:r>
              <a:rPr lang="en-US" sz="1250" dirty="0">
                <a:solidFill>
                  <a:srgbClr val="F7EFE1"/>
                </a:solidFill>
                <a:latin typeface="Calibri" pitchFamily="34" charset="0"/>
                <a:ea typeface="Calibri" pitchFamily="34" charset="-122"/>
                <a:cs typeface="Calibri" pitchFamily="34" charset="-120"/>
              </a:rPr>
              <a:t>land on permit-to-work intelligence — one fundable pain — then own the fused gas + permit + CCTV + shift layer the incumbents are structurally unable to assemble.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SCALES HORIZONTALLY</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One engine. Every plant.</a:t>
            </a:r>
            <a:endParaRPr lang="en-US" sz="3400" dirty="0"/>
          </a:p>
        </p:txBody>
      </p:sp>
      <p:sp>
        <p:nvSpPr>
          <p:cNvPr id="4" name="Shape 2"/>
          <p:cNvSpPr/>
          <p:nvPr/>
        </p:nvSpPr>
        <p:spPr>
          <a:xfrm>
            <a:off x="640080" y="2103120"/>
            <a:ext cx="2048256" cy="1097280"/>
          </a:xfrm>
          <a:prstGeom prst="roundRect">
            <a:avLst>
              <a:gd name="adj" fmla="val 7500"/>
            </a:avLst>
          </a:prstGeom>
          <a:solidFill>
            <a:srgbClr val="15110D"/>
          </a:solidFill>
          <a:ln w="12700">
            <a:solidFill>
              <a:srgbClr val="3B2E22"/>
            </a:solidFill>
            <a:prstDash val="solid"/>
          </a:ln>
        </p:spPr>
      </p:sp>
      <p:sp>
        <p:nvSpPr>
          <p:cNvPr id="5" name="Text 3"/>
          <p:cNvSpPr/>
          <p:nvPr/>
        </p:nvSpPr>
        <p:spPr>
          <a:xfrm>
            <a:off x="640080" y="2212848"/>
            <a:ext cx="2048256" cy="566928"/>
          </a:xfrm>
          <a:prstGeom prst="rect">
            <a:avLst/>
          </a:prstGeom>
          <a:noFill/>
          <a:ln/>
        </p:spPr>
        <p:txBody>
          <a:bodyPr wrap="square" lIns="0" tIns="0" rIns="0" bIns="0" rtlCol="0" anchor="ctr"/>
          <a:lstStyle/>
          <a:p>
            <a:pPr algn="ctr" indent="0" marL="0">
              <a:buNone/>
            </a:pPr>
            <a:r>
              <a:rPr lang="en-US" sz="3000" b="1" dirty="0">
                <a:solidFill>
                  <a:srgbClr val="FF6A1A"/>
                </a:solidFill>
                <a:latin typeface="Trebuchet MS" pitchFamily="34" charset="0"/>
                <a:ea typeface="Trebuchet MS" pitchFamily="34" charset="-122"/>
                <a:cs typeface="Trebuchet MS" pitchFamily="34" charset="-120"/>
              </a:rPr>
              <a:t>6</a:t>
            </a:r>
            <a:endParaRPr lang="en-US" sz="3000" dirty="0"/>
          </a:p>
        </p:txBody>
      </p:sp>
      <p:sp>
        <p:nvSpPr>
          <p:cNvPr id="6" name="Text 4"/>
          <p:cNvSpPr/>
          <p:nvPr/>
        </p:nvSpPr>
        <p:spPr>
          <a:xfrm>
            <a:off x="640080"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plants online</a:t>
            </a:r>
            <a:endParaRPr lang="en-US" sz="950" dirty="0"/>
          </a:p>
        </p:txBody>
      </p:sp>
      <p:sp>
        <p:nvSpPr>
          <p:cNvPr id="7" name="Shape 5"/>
          <p:cNvSpPr/>
          <p:nvPr/>
        </p:nvSpPr>
        <p:spPr>
          <a:xfrm>
            <a:off x="2852928" y="2103120"/>
            <a:ext cx="2048256" cy="1097280"/>
          </a:xfrm>
          <a:prstGeom prst="roundRect">
            <a:avLst>
              <a:gd name="adj" fmla="val 7500"/>
            </a:avLst>
          </a:prstGeom>
          <a:solidFill>
            <a:srgbClr val="15110D"/>
          </a:solidFill>
          <a:ln w="12700">
            <a:solidFill>
              <a:srgbClr val="3B2E22"/>
            </a:solidFill>
            <a:prstDash val="solid"/>
          </a:ln>
        </p:spPr>
      </p:sp>
      <p:sp>
        <p:nvSpPr>
          <p:cNvPr id="8" name="Text 6"/>
          <p:cNvSpPr/>
          <p:nvPr/>
        </p:nvSpPr>
        <p:spPr>
          <a:xfrm>
            <a:off x="2852928" y="2212848"/>
            <a:ext cx="2048256" cy="566928"/>
          </a:xfrm>
          <a:prstGeom prst="rect">
            <a:avLst/>
          </a:prstGeom>
          <a:noFill/>
          <a:ln/>
        </p:spPr>
        <p:txBody>
          <a:bodyPr wrap="square" lIns="0" tIns="0" rIns="0" bIns="0" rtlCol="0" anchor="ctr"/>
          <a:lstStyle/>
          <a:p>
            <a:pPr algn="ctr" indent="0" marL="0">
              <a:buNone/>
            </a:pPr>
            <a:r>
              <a:rPr lang="en-US" sz="3000" b="1" dirty="0">
                <a:solidFill>
                  <a:srgbClr val="F7EFE1"/>
                </a:solidFill>
                <a:latin typeface="Trebuchet MS" pitchFamily="34" charset="0"/>
                <a:ea typeface="Trebuchet MS" pitchFamily="34" charset="-122"/>
                <a:cs typeface="Trebuchet MS" pitchFamily="34" charset="-120"/>
              </a:rPr>
              <a:t>7</a:t>
            </a:r>
            <a:endParaRPr lang="en-US" sz="3000" dirty="0"/>
          </a:p>
        </p:txBody>
      </p:sp>
      <p:sp>
        <p:nvSpPr>
          <p:cNvPr id="9" name="Text 7"/>
          <p:cNvSpPr/>
          <p:nvPr/>
        </p:nvSpPr>
        <p:spPr>
          <a:xfrm>
            <a:off x="2852928"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workers monitored</a:t>
            </a:r>
            <a:endParaRPr lang="en-US" sz="950" dirty="0"/>
          </a:p>
        </p:txBody>
      </p:sp>
      <p:sp>
        <p:nvSpPr>
          <p:cNvPr id="10" name="Shape 8"/>
          <p:cNvSpPr/>
          <p:nvPr/>
        </p:nvSpPr>
        <p:spPr>
          <a:xfrm>
            <a:off x="5065776" y="2103120"/>
            <a:ext cx="2048256" cy="1097280"/>
          </a:xfrm>
          <a:prstGeom prst="roundRect">
            <a:avLst>
              <a:gd name="adj" fmla="val 7500"/>
            </a:avLst>
          </a:prstGeom>
          <a:solidFill>
            <a:srgbClr val="15110D"/>
          </a:solidFill>
          <a:ln w="12700">
            <a:solidFill>
              <a:srgbClr val="3B2E22"/>
            </a:solidFill>
            <a:prstDash val="solid"/>
          </a:ln>
        </p:spPr>
      </p:sp>
      <p:sp>
        <p:nvSpPr>
          <p:cNvPr id="11" name="Text 9"/>
          <p:cNvSpPr/>
          <p:nvPr/>
        </p:nvSpPr>
        <p:spPr>
          <a:xfrm>
            <a:off x="5065776" y="2212848"/>
            <a:ext cx="2048256" cy="566928"/>
          </a:xfrm>
          <a:prstGeom prst="rect">
            <a:avLst/>
          </a:prstGeom>
          <a:noFill/>
          <a:ln/>
        </p:spPr>
        <p:txBody>
          <a:bodyPr wrap="square" lIns="0" tIns="0" rIns="0" bIns="0" rtlCol="0" anchor="ctr"/>
          <a:lstStyle/>
          <a:p>
            <a:pPr algn="ctr" indent="0" marL="0">
              <a:buNone/>
            </a:pPr>
            <a:r>
              <a:rPr lang="en-US" sz="3000" b="1" dirty="0">
                <a:solidFill>
                  <a:srgbClr val="FF2B4E"/>
                </a:solidFill>
                <a:latin typeface="Trebuchet MS" pitchFamily="34" charset="0"/>
                <a:ea typeface="Trebuchet MS" pitchFamily="34" charset="-122"/>
                <a:cs typeface="Trebuchet MS" pitchFamily="34" charset="-120"/>
              </a:rPr>
              <a:t>2</a:t>
            </a:r>
            <a:endParaRPr lang="en-US" sz="3000" dirty="0"/>
          </a:p>
        </p:txBody>
      </p:sp>
      <p:sp>
        <p:nvSpPr>
          <p:cNvPr id="12" name="Text 10"/>
          <p:cNvSpPr/>
          <p:nvPr/>
        </p:nvSpPr>
        <p:spPr>
          <a:xfrm>
            <a:off x="5065776"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compound now</a:t>
            </a:r>
            <a:endParaRPr lang="en-US" sz="950" dirty="0"/>
          </a:p>
        </p:txBody>
      </p:sp>
      <p:sp>
        <p:nvSpPr>
          <p:cNvPr id="13" name="Shape 11"/>
          <p:cNvSpPr/>
          <p:nvPr/>
        </p:nvSpPr>
        <p:spPr>
          <a:xfrm>
            <a:off x="7278624" y="2103120"/>
            <a:ext cx="2048256" cy="1097280"/>
          </a:xfrm>
          <a:prstGeom prst="roundRect">
            <a:avLst>
              <a:gd name="adj" fmla="val 7500"/>
            </a:avLst>
          </a:prstGeom>
          <a:solidFill>
            <a:srgbClr val="15110D"/>
          </a:solidFill>
          <a:ln w="12700">
            <a:solidFill>
              <a:srgbClr val="3B2E22"/>
            </a:solidFill>
            <a:prstDash val="solid"/>
          </a:ln>
        </p:spPr>
      </p:sp>
      <p:sp>
        <p:nvSpPr>
          <p:cNvPr id="14" name="Text 12"/>
          <p:cNvSpPr/>
          <p:nvPr/>
        </p:nvSpPr>
        <p:spPr>
          <a:xfrm>
            <a:off x="7278624" y="2212848"/>
            <a:ext cx="2048256" cy="566928"/>
          </a:xfrm>
          <a:prstGeom prst="rect">
            <a:avLst/>
          </a:prstGeom>
          <a:noFill/>
          <a:ln/>
        </p:spPr>
        <p:txBody>
          <a:bodyPr wrap="square" lIns="0" tIns="0" rIns="0" bIns="0" rtlCol="0" anchor="ctr"/>
          <a:lstStyle/>
          <a:p>
            <a:pPr algn="ctr" indent="0" marL="0">
              <a:buNone/>
            </a:pPr>
            <a:r>
              <a:rPr lang="en-US" sz="3000" b="1" dirty="0">
                <a:solidFill>
                  <a:srgbClr val="FF2B4E"/>
                </a:solidFill>
                <a:latin typeface="Trebuchet MS" pitchFamily="34" charset="0"/>
                <a:ea typeface="Trebuchet MS" pitchFamily="34" charset="-122"/>
                <a:cs typeface="Trebuchet MS" pitchFamily="34" charset="-120"/>
              </a:rPr>
              <a:t>5</a:t>
            </a:r>
            <a:endParaRPr lang="en-US" sz="3000" dirty="0"/>
          </a:p>
        </p:txBody>
      </p:sp>
      <p:sp>
        <p:nvSpPr>
          <p:cNvPr id="15" name="Text 13"/>
          <p:cNvSpPr/>
          <p:nvPr/>
        </p:nvSpPr>
        <p:spPr>
          <a:xfrm>
            <a:off x="7278624"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workers exposed</a:t>
            </a:r>
            <a:endParaRPr lang="en-US" sz="950" dirty="0"/>
          </a:p>
        </p:txBody>
      </p:sp>
      <p:sp>
        <p:nvSpPr>
          <p:cNvPr id="16" name="Shape 14"/>
          <p:cNvSpPr/>
          <p:nvPr/>
        </p:nvSpPr>
        <p:spPr>
          <a:xfrm>
            <a:off x="9491472" y="2103120"/>
            <a:ext cx="2048256" cy="1097280"/>
          </a:xfrm>
          <a:prstGeom prst="roundRect">
            <a:avLst>
              <a:gd name="adj" fmla="val 7500"/>
            </a:avLst>
          </a:prstGeom>
          <a:solidFill>
            <a:srgbClr val="15110D"/>
          </a:solidFill>
          <a:ln w="12700">
            <a:solidFill>
              <a:srgbClr val="3B2E22"/>
            </a:solidFill>
            <a:prstDash val="solid"/>
          </a:ln>
        </p:spPr>
      </p:sp>
      <p:sp>
        <p:nvSpPr>
          <p:cNvPr id="17" name="Text 15"/>
          <p:cNvSpPr/>
          <p:nvPr/>
        </p:nvSpPr>
        <p:spPr>
          <a:xfrm>
            <a:off x="9491472" y="2212848"/>
            <a:ext cx="2048256" cy="566928"/>
          </a:xfrm>
          <a:prstGeom prst="rect">
            <a:avLst/>
          </a:prstGeom>
          <a:noFill/>
          <a:ln/>
        </p:spPr>
        <p:txBody>
          <a:bodyPr wrap="square" lIns="0" tIns="0" rIns="0" bIns="0" rtlCol="0" anchor="ctr"/>
          <a:lstStyle/>
          <a:p>
            <a:pPr algn="ctr" indent="0" marL="0">
              <a:buNone/>
            </a:pPr>
            <a:r>
              <a:rPr lang="en-US" sz="3000" b="1" dirty="0">
                <a:solidFill>
                  <a:srgbClr val="F5902B"/>
                </a:solidFill>
                <a:latin typeface="Trebuchet MS" pitchFamily="34" charset="0"/>
                <a:ea typeface="Trebuchet MS" pitchFamily="34" charset="-122"/>
                <a:cs typeface="Trebuchet MS" pitchFamily="34" charset="-120"/>
              </a:rPr>
              <a:t>+6m</a:t>
            </a:r>
            <a:endParaRPr lang="en-US" sz="3000" dirty="0"/>
          </a:p>
        </p:txBody>
      </p:sp>
      <p:sp>
        <p:nvSpPr>
          <p:cNvPr id="18" name="Text 16"/>
          <p:cNvSpPr/>
          <p:nvPr/>
        </p:nvSpPr>
        <p:spPr>
          <a:xfrm>
            <a:off x="9491472" y="2798064"/>
            <a:ext cx="2048256" cy="292608"/>
          </a:xfrm>
          <a:prstGeom prst="rect">
            <a:avLst/>
          </a:prstGeom>
          <a:noFill/>
          <a:ln/>
        </p:spPr>
        <p:txBody>
          <a:bodyPr wrap="square" lIns="0" tIns="0" rIns="0" bIns="0" rtlCol="0" anchor="ctr"/>
          <a:lstStyle/>
          <a:p>
            <a:pPr algn="ctr" indent="0" marL="0">
              <a:buNone/>
            </a:pPr>
            <a:r>
              <a:rPr lang="en-US" sz="950" dirty="0">
                <a:solidFill>
                  <a:srgbClr val="7C6F5E"/>
                </a:solidFill>
                <a:latin typeface="Consolas" pitchFamily="34" charset="0"/>
                <a:ea typeface="Consolas" pitchFamily="34" charset="-122"/>
                <a:cs typeface="Consolas" pitchFamily="34" charset="-120"/>
              </a:rPr>
              <a:t>max lead</a:t>
            </a:r>
            <a:endParaRPr lang="en-US" sz="950" dirty="0"/>
          </a:p>
        </p:txBody>
      </p:sp>
      <p:sp>
        <p:nvSpPr>
          <p:cNvPr id="19" name="Shape 17"/>
          <p:cNvSpPr/>
          <p:nvPr/>
        </p:nvSpPr>
        <p:spPr>
          <a:xfrm>
            <a:off x="640080" y="3273552"/>
            <a:ext cx="10908792" cy="402336"/>
          </a:xfrm>
          <a:prstGeom prst="roundRect">
            <a:avLst>
              <a:gd name="adj" fmla="val 20455"/>
            </a:avLst>
          </a:prstGeom>
          <a:solidFill>
            <a:srgbClr val="1F0F0B"/>
          </a:solidFill>
          <a:ln w="12700">
            <a:solidFill>
              <a:srgbClr val="FF2B4E"/>
            </a:solidFill>
            <a:prstDash val="solid"/>
          </a:ln>
        </p:spPr>
      </p:sp>
      <p:sp>
        <p:nvSpPr>
          <p:cNvPr id="20" name="Shape 18"/>
          <p:cNvSpPr/>
          <p:nvPr/>
        </p:nvSpPr>
        <p:spPr>
          <a:xfrm>
            <a:off x="640080" y="3273552"/>
            <a:ext cx="54864" cy="402336"/>
          </a:xfrm>
          <a:prstGeom prst="rect">
            <a:avLst/>
          </a:prstGeom>
          <a:solidFill>
            <a:srgbClr val="FF2B4E"/>
          </a:solidFill>
          <a:ln/>
        </p:spPr>
      </p:sp>
      <p:sp>
        <p:nvSpPr>
          <p:cNvPr id="21" name="Text 19"/>
          <p:cNvSpPr/>
          <p:nvPr/>
        </p:nvSpPr>
        <p:spPr>
          <a:xfrm>
            <a:off x="868680" y="3273552"/>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Visakhapatnam Steel — Coke Ovens</a:t>
            </a:r>
            <a:endParaRPr lang="en-US" sz="1250" dirty="0"/>
          </a:p>
        </p:txBody>
      </p:sp>
      <p:sp>
        <p:nvSpPr>
          <p:cNvPr id="22" name="Text 20"/>
          <p:cNvSpPr/>
          <p:nvPr/>
        </p:nvSpPr>
        <p:spPr>
          <a:xfrm>
            <a:off x="6675120" y="3273552"/>
            <a:ext cx="3566160" cy="402336"/>
          </a:xfrm>
          <a:prstGeom prst="rect">
            <a:avLst/>
          </a:prstGeom>
          <a:noFill/>
          <a:ln/>
        </p:spPr>
        <p:txBody>
          <a:bodyPr wrap="square" lIns="0" tIns="0" rIns="0" bIns="0" rtlCol="0" anchor="ctr"/>
          <a:lstStyle/>
          <a:p>
            <a:pPr indent="0" marL="0">
              <a:buNone/>
            </a:pPr>
            <a:r>
              <a:rPr lang="en-US" sz="1050" dirty="0">
                <a:solidFill>
                  <a:srgbClr val="FF2B4E"/>
                </a:solidFill>
                <a:latin typeface="Consolas" pitchFamily="34" charset="0"/>
                <a:ea typeface="Consolas" pitchFamily="34" charset="-122"/>
                <a:cs typeface="Consolas" pitchFamily="34" charset="-120"/>
              </a:rPr>
              <a:t>CRITICAL · COMPOUND</a:t>
            </a:r>
            <a:endParaRPr lang="en-US" sz="1050" dirty="0"/>
          </a:p>
        </p:txBody>
      </p:sp>
      <p:sp>
        <p:nvSpPr>
          <p:cNvPr id="23" name="Text 21"/>
          <p:cNvSpPr/>
          <p:nvPr/>
        </p:nvSpPr>
        <p:spPr>
          <a:xfrm>
            <a:off x="10149840" y="3273552"/>
            <a:ext cx="1280160" cy="402336"/>
          </a:xfrm>
          <a:prstGeom prst="rect">
            <a:avLst/>
          </a:prstGeom>
          <a:noFill/>
          <a:ln/>
        </p:spPr>
        <p:txBody>
          <a:bodyPr wrap="square" lIns="0" tIns="0" rIns="0" bIns="0" rtlCol="0" anchor="ctr"/>
          <a:lstStyle/>
          <a:p>
            <a:pPr algn="r" indent="0" marL="0">
              <a:buNone/>
            </a:pPr>
            <a:r>
              <a:rPr lang="en-US" sz="1050" b="1" dirty="0">
                <a:solidFill>
                  <a:srgbClr val="FF6A1A"/>
                </a:solidFill>
                <a:latin typeface="Consolas" pitchFamily="34" charset="0"/>
                <a:ea typeface="Consolas" pitchFamily="34" charset="-122"/>
                <a:cs typeface="Consolas" pitchFamily="34" charset="-120"/>
              </a:rPr>
              <a:t>+6m lead</a:t>
            </a:r>
            <a:endParaRPr lang="en-US" sz="1050" dirty="0"/>
          </a:p>
        </p:txBody>
      </p:sp>
      <p:sp>
        <p:nvSpPr>
          <p:cNvPr id="24" name="Shape 22"/>
          <p:cNvSpPr/>
          <p:nvPr/>
        </p:nvSpPr>
        <p:spPr>
          <a:xfrm>
            <a:off x="640080" y="3721608"/>
            <a:ext cx="10908792" cy="402336"/>
          </a:xfrm>
          <a:prstGeom prst="roundRect">
            <a:avLst>
              <a:gd name="adj" fmla="val 20455"/>
            </a:avLst>
          </a:prstGeom>
          <a:solidFill>
            <a:srgbClr val="1F0F0B"/>
          </a:solidFill>
          <a:ln w="12700">
            <a:solidFill>
              <a:srgbClr val="FF2B4E"/>
            </a:solidFill>
            <a:prstDash val="solid"/>
          </a:ln>
        </p:spPr>
      </p:sp>
      <p:sp>
        <p:nvSpPr>
          <p:cNvPr id="25" name="Shape 23"/>
          <p:cNvSpPr/>
          <p:nvPr/>
        </p:nvSpPr>
        <p:spPr>
          <a:xfrm>
            <a:off x="640080" y="3721608"/>
            <a:ext cx="54864" cy="402336"/>
          </a:xfrm>
          <a:prstGeom prst="rect">
            <a:avLst/>
          </a:prstGeom>
          <a:solidFill>
            <a:srgbClr val="FF2B4E"/>
          </a:solidFill>
          <a:ln/>
        </p:spPr>
      </p:sp>
      <p:sp>
        <p:nvSpPr>
          <p:cNvPr id="26" name="Text 24"/>
          <p:cNvSpPr/>
          <p:nvPr/>
        </p:nvSpPr>
        <p:spPr>
          <a:xfrm>
            <a:off x="868680" y="3721608"/>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Paradip Refinery — Coker Unit</a:t>
            </a:r>
            <a:endParaRPr lang="en-US" sz="1250" dirty="0"/>
          </a:p>
        </p:txBody>
      </p:sp>
      <p:sp>
        <p:nvSpPr>
          <p:cNvPr id="27" name="Text 25"/>
          <p:cNvSpPr/>
          <p:nvPr/>
        </p:nvSpPr>
        <p:spPr>
          <a:xfrm>
            <a:off x="6675120" y="3721608"/>
            <a:ext cx="3566160" cy="402336"/>
          </a:xfrm>
          <a:prstGeom prst="rect">
            <a:avLst/>
          </a:prstGeom>
          <a:noFill/>
          <a:ln/>
        </p:spPr>
        <p:txBody>
          <a:bodyPr wrap="square" lIns="0" tIns="0" rIns="0" bIns="0" rtlCol="0" anchor="ctr"/>
          <a:lstStyle/>
          <a:p>
            <a:pPr indent="0" marL="0">
              <a:buNone/>
            </a:pPr>
            <a:r>
              <a:rPr lang="en-US" sz="1050" dirty="0">
                <a:solidFill>
                  <a:srgbClr val="FF2B4E"/>
                </a:solidFill>
                <a:latin typeface="Consolas" pitchFamily="34" charset="0"/>
                <a:ea typeface="Consolas" pitchFamily="34" charset="-122"/>
                <a:cs typeface="Consolas" pitchFamily="34" charset="-120"/>
              </a:rPr>
              <a:t>HIGH · COMPOUND</a:t>
            </a:r>
            <a:endParaRPr lang="en-US" sz="1050" dirty="0"/>
          </a:p>
        </p:txBody>
      </p:sp>
      <p:sp>
        <p:nvSpPr>
          <p:cNvPr id="28" name="Text 26"/>
          <p:cNvSpPr/>
          <p:nvPr/>
        </p:nvSpPr>
        <p:spPr>
          <a:xfrm>
            <a:off x="10149840" y="3721608"/>
            <a:ext cx="1280160" cy="402336"/>
          </a:xfrm>
          <a:prstGeom prst="rect">
            <a:avLst/>
          </a:prstGeom>
          <a:noFill/>
          <a:ln/>
        </p:spPr>
        <p:txBody>
          <a:bodyPr wrap="square" lIns="0" tIns="0" rIns="0" bIns="0" rtlCol="0" anchor="ctr"/>
          <a:lstStyle/>
          <a:p>
            <a:pPr algn="r" indent="0" marL="0">
              <a:buNone/>
            </a:pPr>
            <a:r>
              <a:rPr lang="en-US" sz="1050" b="1" dirty="0">
                <a:solidFill>
                  <a:srgbClr val="FF6A1A"/>
                </a:solidFill>
                <a:latin typeface="Consolas" pitchFamily="34" charset="0"/>
                <a:ea typeface="Consolas" pitchFamily="34" charset="-122"/>
                <a:cs typeface="Consolas" pitchFamily="34" charset="-120"/>
              </a:rPr>
              <a:t>+4m lead</a:t>
            </a:r>
            <a:endParaRPr lang="en-US" sz="1050" dirty="0"/>
          </a:p>
        </p:txBody>
      </p:sp>
      <p:sp>
        <p:nvSpPr>
          <p:cNvPr id="29" name="Shape 27"/>
          <p:cNvSpPr/>
          <p:nvPr/>
        </p:nvSpPr>
        <p:spPr>
          <a:xfrm>
            <a:off x="640080" y="4169664"/>
            <a:ext cx="10908792" cy="402336"/>
          </a:xfrm>
          <a:prstGeom prst="roundRect">
            <a:avLst>
              <a:gd name="adj" fmla="val 20455"/>
            </a:avLst>
          </a:prstGeom>
          <a:solidFill>
            <a:srgbClr val="100C09"/>
          </a:solidFill>
          <a:ln w="12700">
            <a:solidFill>
              <a:srgbClr val="3B2E22"/>
            </a:solidFill>
            <a:prstDash val="solid"/>
          </a:ln>
        </p:spPr>
      </p:sp>
      <p:sp>
        <p:nvSpPr>
          <p:cNvPr id="30" name="Shape 28"/>
          <p:cNvSpPr/>
          <p:nvPr/>
        </p:nvSpPr>
        <p:spPr>
          <a:xfrm>
            <a:off x="640080" y="4169664"/>
            <a:ext cx="54864" cy="402336"/>
          </a:xfrm>
          <a:prstGeom prst="rect">
            <a:avLst/>
          </a:prstGeom>
          <a:solidFill>
            <a:srgbClr val="F5902B"/>
          </a:solidFill>
          <a:ln/>
        </p:spPr>
      </p:sp>
      <p:sp>
        <p:nvSpPr>
          <p:cNvPr id="31" name="Text 29"/>
          <p:cNvSpPr/>
          <p:nvPr/>
        </p:nvSpPr>
        <p:spPr>
          <a:xfrm>
            <a:off x="868680" y="4169664"/>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Dahej Petrochemicals — Gas Cleaning</a:t>
            </a:r>
            <a:endParaRPr lang="en-US" sz="1250" dirty="0"/>
          </a:p>
        </p:txBody>
      </p:sp>
      <p:sp>
        <p:nvSpPr>
          <p:cNvPr id="32" name="Text 30"/>
          <p:cNvSpPr/>
          <p:nvPr/>
        </p:nvSpPr>
        <p:spPr>
          <a:xfrm>
            <a:off x="6675120" y="4169664"/>
            <a:ext cx="3566160" cy="402336"/>
          </a:xfrm>
          <a:prstGeom prst="rect">
            <a:avLst/>
          </a:prstGeom>
          <a:noFill/>
          <a:ln/>
        </p:spPr>
        <p:txBody>
          <a:bodyPr wrap="square" lIns="0" tIns="0" rIns="0" bIns="0" rtlCol="0" anchor="ctr"/>
          <a:lstStyle/>
          <a:p>
            <a:pPr indent="0" marL="0">
              <a:buNone/>
            </a:pPr>
            <a:r>
              <a:rPr lang="en-US" sz="1050" dirty="0">
                <a:solidFill>
                  <a:srgbClr val="F5902B"/>
                </a:solidFill>
                <a:latin typeface="Consolas" pitchFamily="34" charset="0"/>
                <a:ea typeface="Consolas" pitchFamily="34" charset="-122"/>
                <a:cs typeface="Consolas" pitchFamily="34" charset="-120"/>
              </a:rPr>
              <a:t>HIGH · gas, no compound</a:t>
            </a:r>
            <a:endParaRPr lang="en-US" sz="1050" dirty="0"/>
          </a:p>
        </p:txBody>
      </p:sp>
      <p:sp>
        <p:nvSpPr>
          <p:cNvPr id="33" name="Shape 31"/>
          <p:cNvSpPr/>
          <p:nvPr/>
        </p:nvSpPr>
        <p:spPr>
          <a:xfrm>
            <a:off x="640080" y="4617720"/>
            <a:ext cx="10908792" cy="402336"/>
          </a:xfrm>
          <a:prstGeom prst="roundRect">
            <a:avLst>
              <a:gd name="adj" fmla="val 20455"/>
            </a:avLst>
          </a:prstGeom>
          <a:solidFill>
            <a:srgbClr val="100C09"/>
          </a:solidFill>
          <a:ln w="12700">
            <a:solidFill>
              <a:srgbClr val="3B2E22"/>
            </a:solidFill>
            <a:prstDash val="solid"/>
          </a:ln>
        </p:spPr>
      </p:sp>
      <p:sp>
        <p:nvSpPr>
          <p:cNvPr id="34" name="Shape 32"/>
          <p:cNvSpPr/>
          <p:nvPr/>
        </p:nvSpPr>
        <p:spPr>
          <a:xfrm>
            <a:off x="640080" y="4617720"/>
            <a:ext cx="54864" cy="402336"/>
          </a:xfrm>
          <a:prstGeom prst="rect">
            <a:avLst/>
          </a:prstGeom>
          <a:solidFill>
            <a:srgbClr val="EFC23C"/>
          </a:solidFill>
          <a:ln/>
        </p:spPr>
      </p:sp>
      <p:sp>
        <p:nvSpPr>
          <p:cNvPr id="35" name="Text 33"/>
          <p:cNvSpPr/>
          <p:nvPr/>
        </p:nvSpPr>
        <p:spPr>
          <a:xfrm>
            <a:off x="868680" y="4617720"/>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Ennore Terminal — Utilities</a:t>
            </a:r>
            <a:endParaRPr lang="en-US" sz="1250" dirty="0"/>
          </a:p>
        </p:txBody>
      </p:sp>
      <p:sp>
        <p:nvSpPr>
          <p:cNvPr id="36" name="Text 34"/>
          <p:cNvSpPr/>
          <p:nvPr/>
        </p:nvSpPr>
        <p:spPr>
          <a:xfrm>
            <a:off x="6675120" y="4617720"/>
            <a:ext cx="3566160" cy="402336"/>
          </a:xfrm>
          <a:prstGeom prst="rect">
            <a:avLst/>
          </a:prstGeom>
          <a:noFill/>
          <a:ln/>
        </p:spPr>
        <p:txBody>
          <a:bodyPr wrap="square" lIns="0" tIns="0" rIns="0" bIns="0" rtlCol="0" anchor="ctr"/>
          <a:lstStyle/>
          <a:p>
            <a:pPr indent="0" marL="0">
              <a:buNone/>
            </a:pPr>
            <a:r>
              <a:rPr lang="en-US" sz="1050" dirty="0">
                <a:solidFill>
                  <a:srgbClr val="EFC23C"/>
                </a:solidFill>
                <a:latin typeface="Consolas" pitchFamily="34" charset="0"/>
                <a:ea typeface="Consolas" pitchFamily="34" charset="-122"/>
                <a:cs typeface="Consolas" pitchFamily="34" charset="-120"/>
              </a:rPr>
              <a:t>WATCH · gas, no compound</a:t>
            </a:r>
            <a:endParaRPr lang="en-US" sz="1050" dirty="0"/>
          </a:p>
        </p:txBody>
      </p:sp>
      <p:sp>
        <p:nvSpPr>
          <p:cNvPr id="37" name="Shape 35"/>
          <p:cNvSpPr/>
          <p:nvPr/>
        </p:nvSpPr>
        <p:spPr>
          <a:xfrm>
            <a:off x="640080" y="5065776"/>
            <a:ext cx="10908792" cy="402336"/>
          </a:xfrm>
          <a:prstGeom prst="roundRect">
            <a:avLst>
              <a:gd name="adj" fmla="val 20455"/>
            </a:avLst>
          </a:prstGeom>
          <a:solidFill>
            <a:srgbClr val="100C09"/>
          </a:solidFill>
          <a:ln w="12700">
            <a:solidFill>
              <a:srgbClr val="3B2E22"/>
            </a:solidFill>
            <a:prstDash val="solid"/>
          </a:ln>
        </p:spPr>
      </p:sp>
      <p:sp>
        <p:nvSpPr>
          <p:cNvPr id="38" name="Shape 36"/>
          <p:cNvSpPr/>
          <p:nvPr/>
        </p:nvSpPr>
        <p:spPr>
          <a:xfrm>
            <a:off x="640080" y="5065776"/>
            <a:ext cx="54864" cy="402336"/>
          </a:xfrm>
          <a:prstGeom prst="rect">
            <a:avLst/>
          </a:prstGeom>
          <a:solidFill>
            <a:srgbClr val="6B7886"/>
          </a:solidFill>
          <a:ln/>
        </p:spPr>
      </p:sp>
      <p:sp>
        <p:nvSpPr>
          <p:cNvPr id="39" name="Text 37"/>
          <p:cNvSpPr/>
          <p:nvPr/>
        </p:nvSpPr>
        <p:spPr>
          <a:xfrm>
            <a:off x="868680" y="5065776"/>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Bhilai Steel — Blast Furnace</a:t>
            </a:r>
            <a:endParaRPr lang="en-US" sz="1250" dirty="0"/>
          </a:p>
        </p:txBody>
      </p:sp>
      <p:sp>
        <p:nvSpPr>
          <p:cNvPr id="40" name="Text 38"/>
          <p:cNvSpPr/>
          <p:nvPr/>
        </p:nvSpPr>
        <p:spPr>
          <a:xfrm>
            <a:off x="6675120" y="5065776"/>
            <a:ext cx="3566160" cy="402336"/>
          </a:xfrm>
          <a:prstGeom prst="rect">
            <a:avLst/>
          </a:prstGeom>
          <a:noFill/>
          <a:ln/>
        </p:spPr>
        <p:txBody>
          <a:bodyPr wrap="square" lIns="0" tIns="0" rIns="0" bIns="0" rtlCol="0" anchor="ctr"/>
          <a:lstStyle/>
          <a:p>
            <a:pPr indent="0" marL="0">
              <a:buNone/>
            </a:pPr>
            <a:r>
              <a:rPr lang="en-US" sz="1050" dirty="0">
                <a:solidFill>
                  <a:srgbClr val="6B7886"/>
                </a:solidFill>
                <a:latin typeface="Consolas" pitchFamily="34" charset="0"/>
                <a:ea typeface="Consolas" pitchFamily="34" charset="-122"/>
                <a:cs typeface="Consolas" pitchFamily="34" charset="-120"/>
              </a:rPr>
              <a:t>NORMAL · permits clear</a:t>
            </a:r>
            <a:endParaRPr lang="en-US" sz="1050" dirty="0"/>
          </a:p>
        </p:txBody>
      </p:sp>
      <p:sp>
        <p:nvSpPr>
          <p:cNvPr id="41" name="Shape 39"/>
          <p:cNvSpPr/>
          <p:nvPr/>
        </p:nvSpPr>
        <p:spPr>
          <a:xfrm>
            <a:off x="640080" y="5513832"/>
            <a:ext cx="10908792" cy="402336"/>
          </a:xfrm>
          <a:prstGeom prst="roundRect">
            <a:avLst>
              <a:gd name="adj" fmla="val 20455"/>
            </a:avLst>
          </a:prstGeom>
          <a:solidFill>
            <a:srgbClr val="100C09"/>
          </a:solidFill>
          <a:ln w="12700">
            <a:solidFill>
              <a:srgbClr val="3B2E22"/>
            </a:solidFill>
            <a:prstDash val="solid"/>
          </a:ln>
        </p:spPr>
      </p:sp>
      <p:sp>
        <p:nvSpPr>
          <p:cNvPr id="42" name="Shape 40"/>
          <p:cNvSpPr/>
          <p:nvPr/>
        </p:nvSpPr>
        <p:spPr>
          <a:xfrm>
            <a:off x="640080" y="5513832"/>
            <a:ext cx="54864" cy="402336"/>
          </a:xfrm>
          <a:prstGeom prst="rect">
            <a:avLst/>
          </a:prstGeom>
          <a:solidFill>
            <a:srgbClr val="6B7886"/>
          </a:solidFill>
          <a:ln/>
        </p:spPr>
      </p:sp>
      <p:sp>
        <p:nvSpPr>
          <p:cNvPr id="43" name="Text 41"/>
          <p:cNvSpPr/>
          <p:nvPr/>
        </p:nvSpPr>
        <p:spPr>
          <a:xfrm>
            <a:off x="868680" y="5513832"/>
            <a:ext cx="5760720" cy="402336"/>
          </a:xfrm>
          <a:prstGeom prst="rect">
            <a:avLst/>
          </a:prstGeom>
          <a:noFill/>
          <a:ln/>
        </p:spPr>
        <p:txBody>
          <a:bodyPr wrap="square" lIns="0" tIns="0" rIns="0" bIns="0" rtlCol="0" anchor="ctr"/>
          <a:lstStyle/>
          <a:p>
            <a:pPr indent="0" marL="0">
              <a:buNone/>
            </a:pPr>
            <a:r>
              <a:rPr lang="en-US" sz="1250" b="1" dirty="0">
                <a:solidFill>
                  <a:srgbClr val="F7EFE1"/>
                </a:solidFill>
                <a:latin typeface="Trebuchet MS" pitchFamily="34" charset="0"/>
                <a:ea typeface="Trebuchet MS" pitchFamily="34" charset="-122"/>
                <a:cs typeface="Trebuchet MS" pitchFamily="34" charset="-120"/>
              </a:rPr>
              <a:t>Haldia — Pump House</a:t>
            </a:r>
            <a:endParaRPr lang="en-US" sz="1250" dirty="0"/>
          </a:p>
        </p:txBody>
      </p:sp>
      <p:sp>
        <p:nvSpPr>
          <p:cNvPr id="44" name="Text 42"/>
          <p:cNvSpPr/>
          <p:nvPr/>
        </p:nvSpPr>
        <p:spPr>
          <a:xfrm>
            <a:off x="6675120" y="5513832"/>
            <a:ext cx="3566160" cy="402336"/>
          </a:xfrm>
          <a:prstGeom prst="rect">
            <a:avLst/>
          </a:prstGeom>
          <a:noFill/>
          <a:ln/>
        </p:spPr>
        <p:txBody>
          <a:bodyPr wrap="square" lIns="0" tIns="0" rIns="0" bIns="0" rtlCol="0" anchor="ctr"/>
          <a:lstStyle/>
          <a:p>
            <a:pPr indent="0" marL="0">
              <a:buNone/>
            </a:pPr>
            <a:r>
              <a:rPr lang="en-US" sz="1050" dirty="0">
                <a:solidFill>
                  <a:srgbClr val="6B7886"/>
                </a:solidFill>
                <a:latin typeface="Consolas" pitchFamily="34" charset="0"/>
                <a:ea typeface="Consolas" pitchFamily="34" charset="-122"/>
                <a:cs typeface="Consolas" pitchFamily="34" charset="-120"/>
              </a:rPr>
              <a:t>NORMAL · transient cleared</a:t>
            </a:r>
            <a:endParaRPr lang="en-US" sz="1050" dirty="0"/>
          </a:p>
        </p:txBody>
      </p:sp>
      <p:sp>
        <p:nvSpPr>
          <p:cNvPr id="45" name="Text 43"/>
          <p:cNvSpPr/>
          <p:nvPr/>
        </p:nvSpPr>
        <p:spPr>
          <a:xfrm>
            <a:off x="640080" y="6172200"/>
            <a:ext cx="10972800" cy="457200"/>
          </a:xfrm>
          <a:prstGeom prst="rect">
            <a:avLst/>
          </a:prstGeom>
          <a:noFill/>
          <a:ln/>
        </p:spPr>
        <p:txBody>
          <a:bodyPr wrap="square" lIns="0" tIns="0" rIns="0" bIns="0" rtlCol="0" anchor="t"/>
          <a:lstStyle/>
          <a:p>
            <a:pPr indent="0" marL="0">
              <a:buNone/>
            </a:pPr>
            <a:r>
              <a:rPr lang="en-US" sz="1250" i="1" dirty="0">
                <a:solidFill>
                  <a:srgbClr val="7C6F5E"/>
                </a:solidFill>
                <a:latin typeface="Calibri" pitchFamily="34" charset="0"/>
                <a:ea typeface="Calibri" pitchFamily="34" charset="-122"/>
                <a:cs typeface="Calibri" pitchFamily="34" charset="-120"/>
              </a:rPr>
              <a:t>One shared compound engine across every site — O(zones) per plant, horizontally shardable. Digital-twin sites stand in for live OPC-UA / MQTT feeds; ingesting real plant data is a connector, not a rewrite.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IT EARNS ITS TRUST</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Every plant learns its own nuisance profile</a:t>
            </a:r>
            <a:endParaRPr lang="en-US" sz="3400" dirty="0"/>
          </a:p>
        </p:txBody>
      </p:sp>
      <p:sp>
        <p:nvSpPr>
          <p:cNvPr id="4" name="Shape 2"/>
          <p:cNvSpPr/>
          <p:nvPr/>
        </p:nvSpPr>
        <p:spPr>
          <a:xfrm>
            <a:off x="640080" y="2148840"/>
            <a:ext cx="2505456" cy="777240"/>
          </a:xfrm>
          <a:prstGeom prst="roundRect">
            <a:avLst>
              <a:gd name="adj" fmla="val 10588"/>
            </a:avLst>
          </a:prstGeom>
          <a:solidFill>
            <a:srgbClr val="100C09"/>
          </a:solidFill>
          <a:ln w="12700">
            <a:solidFill>
              <a:srgbClr val="3B2E22"/>
            </a:solidFill>
            <a:prstDash val="solid"/>
          </a:ln>
        </p:spPr>
      </p:sp>
      <p:sp>
        <p:nvSpPr>
          <p:cNvPr id="5" name="Text 3"/>
          <p:cNvSpPr/>
          <p:nvPr/>
        </p:nvSpPr>
        <p:spPr>
          <a:xfrm>
            <a:off x="731520"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Operator verdict</a:t>
            </a:r>
            <a:endParaRPr lang="en-US" sz="1350" dirty="0"/>
          </a:p>
        </p:txBody>
      </p:sp>
      <p:sp>
        <p:nvSpPr>
          <p:cNvPr id="6" name="Text 4"/>
          <p:cNvSpPr/>
          <p:nvPr/>
        </p:nvSpPr>
        <p:spPr>
          <a:xfrm>
            <a:off x="3145536" y="2148840"/>
            <a:ext cx="365760" cy="777240"/>
          </a:xfrm>
          <a:prstGeom prst="rect">
            <a:avLst/>
          </a:prstGeom>
          <a:noFill/>
          <a:ln/>
        </p:spPr>
        <p:txBody>
          <a:bodyPr wrap="square" lIns="0" tIns="0" rIns="0" bIns="0" rtlCol="0" anchor="ctr"/>
          <a:lstStyle/>
          <a:p>
            <a:pPr algn="ctr" indent="0" marL="0">
              <a:buNone/>
            </a:pPr>
            <a:r>
              <a:rPr lang="en-US" sz="1800" dirty="0">
                <a:solidFill>
                  <a:srgbClr val="FF6A1A"/>
                </a:solidFill>
                <a:latin typeface="Trebuchet MS" pitchFamily="34" charset="0"/>
                <a:ea typeface="Trebuchet MS" pitchFamily="34" charset="-122"/>
                <a:cs typeface="Trebuchet MS" pitchFamily="34" charset="-120"/>
              </a:rPr>
              <a:t>→</a:t>
            </a:r>
            <a:endParaRPr lang="en-US" sz="1800" dirty="0"/>
          </a:p>
        </p:txBody>
      </p:sp>
      <p:sp>
        <p:nvSpPr>
          <p:cNvPr id="7" name="Shape 5"/>
          <p:cNvSpPr/>
          <p:nvPr/>
        </p:nvSpPr>
        <p:spPr>
          <a:xfrm>
            <a:off x="3511296" y="2148840"/>
            <a:ext cx="2505456" cy="777240"/>
          </a:xfrm>
          <a:prstGeom prst="roundRect">
            <a:avLst>
              <a:gd name="adj" fmla="val 10588"/>
            </a:avLst>
          </a:prstGeom>
          <a:solidFill>
            <a:srgbClr val="100C09"/>
          </a:solidFill>
          <a:ln w="12700">
            <a:solidFill>
              <a:srgbClr val="3B2E22"/>
            </a:solidFill>
            <a:prstDash val="solid"/>
          </a:ln>
        </p:spPr>
      </p:sp>
      <p:sp>
        <p:nvSpPr>
          <p:cNvPr id="8" name="Text 6"/>
          <p:cNvSpPr/>
          <p:nvPr/>
        </p:nvSpPr>
        <p:spPr>
          <a:xfrm>
            <a:off x="3602736"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Per-plant threshold</a:t>
            </a:r>
            <a:endParaRPr lang="en-US" sz="1350" dirty="0"/>
          </a:p>
        </p:txBody>
      </p:sp>
      <p:sp>
        <p:nvSpPr>
          <p:cNvPr id="9" name="Text 7"/>
          <p:cNvSpPr/>
          <p:nvPr/>
        </p:nvSpPr>
        <p:spPr>
          <a:xfrm>
            <a:off x="6016752" y="2148840"/>
            <a:ext cx="365760" cy="777240"/>
          </a:xfrm>
          <a:prstGeom prst="rect">
            <a:avLst/>
          </a:prstGeom>
          <a:noFill/>
          <a:ln/>
        </p:spPr>
        <p:txBody>
          <a:bodyPr wrap="square" lIns="0" tIns="0" rIns="0" bIns="0" rtlCol="0" anchor="ctr"/>
          <a:lstStyle/>
          <a:p>
            <a:pPr algn="ctr" indent="0" marL="0">
              <a:buNone/>
            </a:pPr>
            <a:r>
              <a:rPr lang="en-US" sz="1800" dirty="0">
                <a:solidFill>
                  <a:srgbClr val="FF6A1A"/>
                </a:solidFill>
                <a:latin typeface="Trebuchet MS" pitchFamily="34" charset="0"/>
                <a:ea typeface="Trebuchet MS" pitchFamily="34" charset="-122"/>
                <a:cs typeface="Trebuchet MS" pitchFamily="34" charset="-120"/>
              </a:rPr>
              <a:t>→</a:t>
            </a:r>
            <a:endParaRPr lang="en-US" sz="1800" dirty="0"/>
          </a:p>
        </p:txBody>
      </p:sp>
      <p:sp>
        <p:nvSpPr>
          <p:cNvPr id="10" name="Shape 8"/>
          <p:cNvSpPr/>
          <p:nvPr/>
        </p:nvSpPr>
        <p:spPr>
          <a:xfrm>
            <a:off x="6382512" y="2148840"/>
            <a:ext cx="2505456" cy="777240"/>
          </a:xfrm>
          <a:prstGeom prst="roundRect">
            <a:avLst>
              <a:gd name="adj" fmla="val 10588"/>
            </a:avLst>
          </a:prstGeom>
          <a:solidFill>
            <a:srgbClr val="100C09"/>
          </a:solidFill>
          <a:ln w="12700">
            <a:solidFill>
              <a:srgbClr val="3B2E22"/>
            </a:solidFill>
            <a:prstDash val="solid"/>
          </a:ln>
        </p:spPr>
      </p:sp>
      <p:sp>
        <p:nvSpPr>
          <p:cNvPr id="11" name="Text 9"/>
          <p:cNvSpPr/>
          <p:nvPr/>
        </p:nvSpPr>
        <p:spPr>
          <a:xfrm>
            <a:off x="6473952"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Fewer nuisance pages</a:t>
            </a:r>
            <a:endParaRPr lang="en-US" sz="1350" dirty="0"/>
          </a:p>
        </p:txBody>
      </p:sp>
      <p:sp>
        <p:nvSpPr>
          <p:cNvPr id="12" name="Text 10"/>
          <p:cNvSpPr/>
          <p:nvPr/>
        </p:nvSpPr>
        <p:spPr>
          <a:xfrm>
            <a:off x="8887968" y="2148840"/>
            <a:ext cx="365760" cy="777240"/>
          </a:xfrm>
          <a:prstGeom prst="rect">
            <a:avLst/>
          </a:prstGeom>
          <a:noFill/>
          <a:ln/>
        </p:spPr>
        <p:txBody>
          <a:bodyPr wrap="square" lIns="0" tIns="0" rIns="0" bIns="0" rtlCol="0" anchor="ctr"/>
          <a:lstStyle/>
          <a:p>
            <a:pPr algn="ctr" indent="0" marL="0">
              <a:buNone/>
            </a:pPr>
            <a:r>
              <a:rPr lang="en-US" sz="1800" dirty="0">
                <a:solidFill>
                  <a:srgbClr val="FF6A1A"/>
                </a:solidFill>
                <a:latin typeface="Trebuchet MS" pitchFamily="34" charset="0"/>
                <a:ea typeface="Trebuchet MS" pitchFamily="34" charset="-122"/>
                <a:cs typeface="Trebuchet MS" pitchFamily="34" charset="-120"/>
              </a:rPr>
              <a:t>→</a:t>
            </a:r>
            <a:endParaRPr lang="en-US" sz="1800" dirty="0"/>
          </a:p>
        </p:txBody>
      </p:sp>
      <p:sp>
        <p:nvSpPr>
          <p:cNvPr id="13" name="Shape 11"/>
          <p:cNvSpPr/>
          <p:nvPr/>
        </p:nvSpPr>
        <p:spPr>
          <a:xfrm>
            <a:off x="9253728" y="2148840"/>
            <a:ext cx="2505456" cy="777240"/>
          </a:xfrm>
          <a:prstGeom prst="roundRect">
            <a:avLst>
              <a:gd name="adj" fmla="val 10588"/>
            </a:avLst>
          </a:prstGeom>
          <a:solidFill>
            <a:srgbClr val="100C09"/>
          </a:solidFill>
          <a:ln w="12700">
            <a:solidFill>
              <a:srgbClr val="3B2E22"/>
            </a:solidFill>
            <a:prstDash val="solid"/>
          </a:ln>
        </p:spPr>
      </p:sp>
      <p:sp>
        <p:nvSpPr>
          <p:cNvPr id="14" name="Text 12"/>
          <p:cNvSpPr/>
          <p:nvPr/>
        </p:nvSpPr>
        <p:spPr>
          <a:xfrm>
            <a:off x="9345168" y="2148840"/>
            <a:ext cx="2322576" cy="777240"/>
          </a:xfrm>
          <a:prstGeom prst="rect">
            <a:avLst/>
          </a:prstGeom>
          <a:noFill/>
          <a:ln/>
        </p:spPr>
        <p:txBody>
          <a:bodyPr wrap="square" lIns="0" tIns="0" rIns="0" bIns="0" rtlCol="0" anchor="ctr"/>
          <a:lstStyle/>
          <a:p>
            <a:pPr algn="ctr" indent="0" marL="0">
              <a:buNone/>
            </a:pPr>
            <a:r>
              <a:rPr lang="en-US" sz="1350" b="1" dirty="0">
                <a:solidFill>
                  <a:srgbClr val="F7EFE1"/>
                </a:solidFill>
                <a:latin typeface="Trebuchet MS" pitchFamily="34" charset="0"/>
                <a:ea typeface="Trebuchet MS" pitchFamily="34" charset="-122"/>
                <a:cs typeface="Trebuchet MS" pitchFamily="34" charset="-120"/>
              </a:rPr>
              <a:t>Trust ↑ · faster action</a:t>
            </a:r>
            <a:endParaRPr lang="en-US" sz="1350" dirty="0"/>
          </a:p>
        </p:txBody>
      </p:sp>
      <p:sp>
        <p:nvSpPr>
          <p:cNvPr id="15" name="Shape 13"/>
          <p:cNvSpPr/>
          <p:nvPr/>
        </p:nvSpPr>
        <p:spPr>
          <a:xfrm>
            <a:off x="640080" y="3200400"/>
            <a:ext cx="10908792" cy="1280160"/>
          </a:xfrm>
          <a:prstGeom prst="roundRect">
            <a:avLst>
              <a:gd name="adj" fmla="val 6429"/>
            </a:avLst>
          </a:prstGeom>
          <a:solidFill>
            <a:srgbClr val="15110D"/>
          </a:solidFill>
          <a:ln w="12700">
            <a:solidFill>
              <a:srgbClr val="3B2E22"/>
            </a:solidFill>
            <a:prstDash val="solid"/>
          </a:ln>
        </p:spPr>
      </p:sp>
      <p:sp>
        <p:nvSpPr>
          <p:cNvPr id="16" name="Text 14"/>
          <p:cNvSpPr/>
          <p:nvPr/>
        </p:nvSpPr>
        <p:spPr>
          <a:xfrm>
            <a:off x="914400" y="3364992"/>
            <a:ext cx="7315200" cy="274320"/>
          </a:xfrm>
          <a:prstGeom prst="rect">
            <a:avLst/>
          </a:prstGeom>
          <a:noFill/>
          <a:ln/>
        </p:spPr>
        <p:txBody>
          <a:bodyPr wrap="square" lIns="0" tIns="0" rIns="0" bIns="0" rtlCol="0" anchor="ctr"/>
          <a:lstStyle/>
          <a:p>
            <a:pPr indent="0" marL="0">
              <a:buNone/>
            </a:pPr>
            <a:r>
              <a:rPr lang="en-US" sz="1100" spc="100" kern="0" dirty="0">
                <a:solidFill>
                  <a:srgbClr val="7C6F5E"/>
                </a:solidFill>
                <a:latin typeface="Consolas" pitchFamily="34" charset="0"/>
                <a:ea typeface="Consolas" pitchFamily="34" charset="-122"/>
                <a:cs typeface="Consolas" pitchFamily="34" charset="-120"/>
              </a:rPr>
              <a:t>NON-COMPOUND ALERT THRESHOLD · LEARNED PER PLANT</a:t>
            </a:r>
            <a:endParaRPr lang="en-US" sz="1100" dirty="0"/>
          </a:p>
        </p:txBody>
      </p:sp>
      <p:sp>
        <p:nvSpPr>
          <p:cNvPr id="17" name="Shape 15"/>
          <p:cNvSpPr/>
          <p:nvPr/>
        </p:nvSpPr>
        <p:spPr>
          <a:xfrm>
            <a:off x="914400" y="3749040"/>
            <a:ext cx="6400800" cy="548640"/>
          </a:xfrm>
          <a:prstGeom prst="roundRect">
            <a:avLst>
              <a:gd name="adj" fmla="val 8333"/>
            </a:avLst>
          </a:prstGeom>
          <a:solidFill>
            <a:srgbClr val="100C09"/>
          </a:solidFill>
          <a:ln w="12700">
            <a:solidFill>
              <a:srgbClr val="3B2E22"/>
            </a:solidFill>
            <a:prstDash val="solid"/>
          </a:ln>
        </p:spPr>
      </p:sp>
      <p:sp>
        <p:nvSpPr>
          <p:cNvPr id="18" name="Shape 16"/>
          <p:cNvSpPr/>
          <p:nvPr/>
        </p:nvSpPr>
        <p:spPr>
          <a:xfrm>
            <a:off x="914400" y="3749040"/>
            <a:ext cx="1920240" cy="548640"/>
          </a:xfrm>
          <a:prstGeom prst="rect">
            <a:avLst/>
          </a:prstGeom>
          <a:solidFill>
            <a:srgbClr val="2A2118"/>
          </a:solidFill>
          <a:ln/>
        </p:spPr>
      </p:sp>
      <p:sp>
        <p:nvSpPr>
          <p:cNvPr id="19" name="Shape 17"/>
          <p:cNvSpPr/>
          <p:nvPr/>
        </p:nvSpPr>
        <p:spPr>
          <a:xfrm>
            <a:off x="2825496" y="3749040"/>
            <a:ext cx="27432" cy="548640"/>
          </a:xfrm>
          <a:prstGeom prst="rect">
            <a:avLst/>
          </a:prstGeom>
          <a:solidFill>
            <a:srgbClr val="FF6A1A"/>
          </a:solidFill>
          <a:ln/>
        </p:spPr>
      </p:sp>
      <p:sp>
        <p:nvSpPr>
          <p:cNvPr id="20" name="Text 18"/>
          <p:cNvSpPr/>
          <p:nvPr/>
        </p:nvSpPr>
        <p:spPr>
          <a:xfrm>
            <a:off x="1024128" y="3749040"/>
            <a:ext cx="1828800" cy="548640"/>
          </a:xfrm>
          <a:prstGeom prst="rect">
            <a:avLst/>
          </a:prstGeom>
          <a:noFill/>
          <a:ln/>
        </p:spPr>
        <p:txBody>
          <a:bodyPr wrap="square" lIns="0" tIns="0" rIns="0" bIns="0" rtlCol="0" anchor="ctr"/>
          <a:lstStyle/>
          <a:p>
            <a:pPr indent="0" marL="0">
              <a:buNone/>
            </a:pPr>
            <a:r>
              <a:rPr lang="en-US" sz="1000" dirty="0">
                <a:solidFill>
                  <a:srgbClr val="7C6F5E"/>
                </a:solidFill>
                <a:latin typeface="Consolas" pitchFamily="34" charset="0"/>
                <a:ea typeface="Consolas" pitchFamily="34" charset="-122"/>
                <a:cs typeface="Consolas" pitchFamily="34" charset="-120"/>
              </a:rPr>
              <a:t>40 · auto-ack</a:t>
            </a:r>
            <a:endParaRPr lang="en-US" sz="1000" dirty="0"/>
          </a:p>
        </p:txBody>
      </p:sp>
      <p:sp>
        <p:nvSpPr>
          <p:cNvPr id="21" name="Text 19"/>
          <p:cNvSpPr/>
          <p:nvPr/>
        </p:nvSpPr>
        <p:spPr>
          <a:xfrm>
            <a:off x="2423160" y="3749040"/>
            <a:ext cx="822960" cy="548640"/>
          </a:xfrm>
          <a:prstGeom prst="rect">
            <a:avLst/>
          </a:prstGeom>
          <a:noFill/>
          <a:ln/>
        </p:spPr>
        <p:txBody>
          <a:bodyPr wrap="square" lIns="0" tIns="0" rIns="0" bIns="0" rtlCol="0" anchor="ctr"/>
          <a:lstStyle/>
          <a:p>
            <a:pPr algn="ctr" indent="0" marL="0">
              <a:buNone/>
            </a:pPr>
            <a:r>
              <a:rPr lang="en-US" sz="1300" b="1" dirty="0">
                <a:solidFill>
                  <a:srgbClr val="FF6A1A"/>
                </a:solidFill>
                <a:latin typeface="Consolas" pitchFamily="34" charset="0"/>
                <a:ea typeface="Consolas" pitchFamily="34" charset="-122"/>
                <a:cs typeface="Consolas" pitchFamily="34" charset="-120"/>
              </a:rPr>
              <a:t>46</a:t>
            </a:r>
            <a:endParaRPr lang="en-US" sz="1300" dirty="0"/>
          </a:p>
        </p:txBody>
      </p:sp>
      <p:sp>
        <p:nvSpPr>
          <p:cNvPr id="22" name="Text 20"/>
          <p:cNvSpPr/>
          <p:nvPr/>
        </p:nvSpPr>
        <p:spPr>
          <a:xfrm>
            <a:off x="6126480" y="3749040"/>
            <a:ext cx="1097280" cy="548640"/>
          </a:xfrm>
          <a:prstGeom prst="rect">
            <a:avLst/>
          </a:prstGeom>
          <a:noFill/>
          <a:ln/>
        </p:spPr>
        <p:txBody>
          <a:bodyPr wrap="square" lIns="0" tIns="0" rIns="0" bIns="0" rtlCol="0" anchor="ctr"/>
          <a:lstStyle/>
          <a:p>
            <a:pPr algn="r" indent="0" marL="0">
              <a:buNone/>
            </a:pPr>
            <a:r>
              <a:rPr lang="en-US" sz="1000" dirty="0">
                <a:solidFill>
                  <a:srgbClr val="7C6F5E"/>
                </a:solidFill>
                <a:latin typeface="Consolas" pitchFamily="34" charset="0"/>
                <a:ea typeface="Consolas" pitchFamily="34" charset="-122"/>
                <a:cs typeface="Consolas" pitchFamily="34" charset="-120"/>
              </a:rPr>
              <a:t>pages →</a:t>
            </a:r>
            <a:endParaRPr lang="en-US" sz="1000" dirty="0"/>
          </a:p>
        </p:txBody>
      </p:sp>
      <p:sp>
        <p:nvSpPr>
          <p:cNvPr id="23" name="Shape 21"/>
          <p:cNvSpPr/>
          <p:nvPr/>
        </p:nvSpPr>
        <p:spPr>
          <a:xfrm>
            <a:off x="7589520" y="3749040"/>
            <a:ext cx="3959352" cy="548640"/>
          </a:xfrm>
          <a:prstGeom prst="roundRect">
            <a:avLst>
              <a:gd name="adj" fmla="val 15000"/>
            </a:avLst>
          </a:prstGeom>
          <a:solidFill>
            <a:srgbClr val="1F0F0B"/>
          </a:solidFill>
          <a:ln w="12700">
            <a:solidFill>
              <a:srgbClr val="FF2B4E"/>
            </a:solidFill>
            <a:prstDash val="solid"/>
          </a:ln>
        </p:spPr>
      </p:sp>
      <p:sp>
        <p:nvSpPr>
          <p:cNvPr id="24" name="Text 22"/>
          <p:cNvSpPr/>
          <p:nvPr/>
        </p:nvSpPr>
        <p:spPr>
          <a:xfrm>
            <a:off x="7589520" y="3749040"/>
            <a:ext cx="3959352" cy="548640"/>
          </a:xfrm>
          <a:prstGeom prst="rect">
            <a:avLst/>
          </a:prstGeom>
          <a:noFill/>
          <a:ln/>
        </p:spPr>
        <p:txBody>
          <a:bodyPr wrap="square" lIns="0" tIns="0" rIns="0" bIns="0" rtlCol="0" anchor="ctr"/>
          <a:lstStyle/>
          <a:p>
            <a:pPr algn="ctr" indent="0" marL="0">
              <a:buNone/>
            </a:pPr>
            <a:r>
              <a:rPr lang="en-US" sz="1050" b="1" dirty="0">
                <a:solidFill>
                  <a:srgbClr val="FF2B4E"/>
                </a:solidFill>
                <a:latin typeface="Consolas" pitchFamily="34" charset="0"/>
                <a:ea typeface="Consolas" pitchFamily="34" charset="-122"/>
                <a:cs typeface="Consolas" pitchFamily="34" charset="-120"/>
              </a:rPr>
              <a:t>≥60  HIGH / CRITICAL / COMPOUND — ALWAYS PAGES</a:t>
            </a:r>
            <a:endParaRPr lang="en-US" sz="1050" dirty="0"/>
          </a:p>
        </p:txBody>
      </p:sp>
      <p:sp>
        <p:nvSpPr>
          <p:cNvPr id="25" name="Shape 23"/>
          <p:cNvSpPr/>
          <p:nvPr/>
        </p:nvSpPr>
        <p:spPr>
          <a:xfrm>
            <a:off x="640080" y="4663440"/>
            <a:ext cx="5349240" cy="1325880"/>
          </a:xfrm>
          <a:prstGeom prst="roundRect">
            <a:avLst>
              <a:gd name="adj" fmla="val 6207"/>
            </a:avLst>
          </a:prstGeom>
          <a:solidFill>
            <a:srgbClr val="100C09"/>
          </a:solidFill>
          <a:ln w="12700">
            <a:solidFill>
              <a:srgbClr val="FF2B4E"/>
            </a:solidFill>
            <a:prstDash val="solid"/>
          </a:ln>
        </p:spPr>
      </p:sp>
      <p:sp>
        <p:nvSpPr>
          <p:cNvPr id="26" name="Text 24"/>
          <p:cNvSpPr/>
          <p:nvPr/>
        </p:nvSpPr>
        <p:spPr>
          <a:xfrm>
            <a:off x="914400" y="4828032"/>
            <a:ext cx="4846320" cy="274320"/>
          </a:xfrm>
          <a:prstGeom prst="rect">
            <a:avLst/>
          </a:prstGeom>
          <a:noFill/>
          <a:ln/>
        </p:spPr>
        <p:txBody>
          <a:bodyPr wrap="square" lIns="0" tIns="0" rIns="0" bIns="0" rtlCol="0" anchor="ctr"/>
          <a:lstStyle/>
          <a:p>
            <a:pPr indent="0" marL="0">
              <a:buNone/>
            </a:pPr>
            <a:r>
              <a:rPr lang="en-US" sz="1100" spc="100" kern="0" dirty="0">
                <a:solidFill>
                  <a:srgbClr val="FF2B4E"/>
                </a:solidFill>
                <a:latin typeface="Consolas" pitchFamily="34" charset="0"/>
                <a:ea typeface="Consolas" pitchFamily="34" charset="-122"/>
                <a:cs typeface="Consolas" pitchFamily="34" charset="-120"/>
              </a:rPr>
              <a:t>RECALL GUARDRAIL</a:t>
            </a:r>
            <a:endParaRPr lang="en-US" sz="1100" dirty="0"/>
          </a:p>
        </p:txBody>
      </p:sp>
      <p:sp>
        <p:nvSpPr>
          <p:cNvPr id="27" name="Text 25"/>
          <p:cNvSpPr/>
          <p:nvPr/>
        </p:nvSpPr>
        <p:spPr>
          <a:xfrm>
            <a:off x="914400" y="5138928"/>
            <a:ext cx="4846320" cy="77724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Compound, HIGH and CRITICAL alerts bypass the threshold entirely. Feedback can only ever damp non-compound nuisance pages — never reduce recall.</a:t>
            </a:r>
            <a:endParaRPr lang="en-US" sz="1300" dirty="0"/>
          </a:p>
        </p:txBody>
      </p:sp>
      <p:sp>
        <p:nvSpPr>
          <p:cNvPr id="28" name="Shape 26"/>
          <p:cNvSpPr/>
          <p:nvPr/>
        </p:nvSpPr>
        <p:spPr>
          <a:xfrm>
            <a:off x="6199632" y="4663440"/>
            <a:ext cx="5349240" cy="1325880"/>
          </a:xfrm>
          <a:prstGeom prst="roundRect">
            <a:avLst>
              <a:gd name="adj" fmla="val 6207"/>
            </a:avLst>
          </a:prstGeom>
          <a:solidFill>
            <a:srgbClr val="100C09"/>
          </a:solidFill>
          <a:ln w="12700">
            <a:solidFill>
              <a:srgbClr val="3B2E22"/>
            </a:solidFill>
            <a:prstDash val="solid"/>
          </a:ln>
        </p:spPr>
      </p:sp>
      <p:sp>
        <p:nvSpPr>
          <p:cNvPr id="29" name="Text 27"/>
          <p:cNvSpPr/>
          <p:nvPr/>
        </p:nvSpPr>
        <p:spPr>
          <a:xfrm>
            <a:off x="6473952" y="4828032"/>
            <a:ext cx="4846320" cy="274320"/>
          </a:xfrm>
          <a:prstGeom prst="rect">
            <a:avLst/>
          </a:prstGeom>
          <a:noFill/>
          <a:ln/>
        </p:spPr>
        <p:txBody>
          <a:bodyPr wrap="square" lIns="0" tIns="0" rIns="0" bIns="0" rtlCol="0" anchor="ctr"/>
          <a:lstStyle/>
          <a:p>
            <a:pPr indent="0" marL="0">
              <a:buNone/>
            </a:pPr>
            <a:r>
              <a:rPr lang="en-US" sz="1100" spc="100" kern="0" dirty="0">
                <a:solidFill>
                  <a:srgbClr val="FF6A1A"/>
                </a:solidFill>
                <a:latin typeface="Consolas" pitchFamily="34" charset="0"/>
                <a:ea typeface="Consolas" pitchFamily="34" charset="-122"/>
                <a:cs typeface="Consolas" pitchFamily="34" charset="-120"/>
              </a:rPr>
              <a:t>THE FLYWHEEL</a:t>
            </a:r>
            <a:endParaRPr lang="en-US" sz="1100" dirty="0"/>
          </a:p>
        </p:txBody>
      </p:sp>
      <p:sp>
        <p:nvSpPr>
          <p:cNvPr id="30" name="Text 28"/>
          <p:cNvSpPr/>
          <p:nvPr/>
        </p:nvSpPr>
        <p:spPr>
          <a:xfrm>
            <a:off x="6473952" y="5138928"/>
            <a:ext cx="4846320" cy="777240"/>
          </a:xfrm>
          <a:prstGeom prst="rect">
            <a:avLst/>
          </a:prstGeom>
          <a:noFill/>
          <a:ln/>
        </p:spPr>
        <p:txBody>
          <a:bodyPr wrap="square" lIns="0" tIns="0" rIns="0" bIns="0" rtlCol="0" anchor="t"/>
          <a:lstStyle/>
          <a:p>
            <a:pPr indent="0" marL="0">
              <a:buNone/>
            </a:pPr>
            <a:r>
              <a:rPr lang="en-US" sz="1300" dirty="0">
                <a:solidFill>
                  <a:srgbClr val="C6B9A6"/>
                </a:solidFill>
                <a:latin typeface="Calibri" pitchFamily="34" charset="0"/>
                <a:ea typeface="Calibri" pitchFamily="34" charset="-122"/>
                <a:cs typeface="Calibri" pitchFamily="34" charset="-120"/>
              </a:rPr>
              <a:t>A confirmed false alarm raises the threshold; a confirmed alert relaxes it. Each plant quietly auto-acknowledges its own routine excursions — fewer nuisance pages, faster action on the ones that matter.</a:t>
            </a:r>
            <a:endParaRPr lang="en-US" sz="1300" dirty="0"/>
          </a:p>
        </p:txBody>
      </p:sp>
      <p:sp>
        <p:nvSpPr>
          <p:cNvPr id="31" name="Text 29"/>
          <p:cNvSpPr/>
          <p:nvPr/>
        </p:nvSpPr>
        <p:spPr>
          <a:xfrm>
            <a:off x="640080" y="6126480"/>
            <a:ext cx="10972800" cy="365760"/>
          </a:xfrm>
          <a:prstGeom prst="rect">
            <a:avLst/>
          </a:prstGeom>
          <a:noFill/>
          <a:ln/>
        </p:spPr>
        <p:txBody>
          <a:bodyPr wrap="square" lIns="0" tIns="0" rIns="0" bIns="0" rtlCol="0" anchor="ctr"/>
          <a:lstStyle/>
          <a:p>
            <a:pPr indent="0" marL="0">
              <a:buNone/>
            </a:pPr>
            <a:r>
              <a:rPr lang="en-US" sz="1200" i="1" dirty="0">
                <a:solidFill>
                  <a:srgbClr val="7C6F5E"/>
                </a:solidFill>
                <a:latin typeface="Calibri" pitchFamily="34" charset="0"/>
                <a:ea typeface="Calibri" pitchFamily="34" charset="-122"/>
                <a:cs typeface="Calibri" pitchFamily="34" charset="-120"/>
              </a:rPr>
              <a:t>The default engine is untouched — the benchmark (100% recall / 0% false-positive) is byte-identical with or without feedback.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SCALE &amp; DEPLOY</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Sits over the sensors you already have</a:t>
            </a:r>
            <a:endParaRPr lang="en-US" sz="3400" dirty="0"/>
          </a:p>
        </p:txBody>
      </p:sp>
      <p:sp>
        <p:nvSpPr>
          <p:cNvPr id="4" name="Shape 2"/>
          <p:cNvSpPr/>
          <p:nvPr/>
        </p:nvSpPr>
        <p:spPr>
          <a:xfrm>
            <a:off x="640080" y="2148840"/>
            <a:ext cx="6217920" cy="1143000"/>
          </a:xfrm>
          <a:prstGeom prst="roundRect">
            <a:avLst>
              <a:gd name="adj" fmla="val 7200"/>
            </a:avLst>
          </a:prstGeom>
          <a:solidFill>
            <a:srgbClr val="15110D"/>
          </a:solidFill>
          <a:ln w="12700">
            <a:solidFill>
              <a:srgbClr val="3B2E22"/>
            </a:solidFill>
            <a:prstDash val="solid"/>
          </a:ln>
        </p:spPr>
      </p:sp>
      <p:sp>
        <p:nvSpPr>
          <p:cNvPr id="5" name="Shape 3"/>
          <p:cNvSpPr/>
          <p:nvPr/>
        </p:nvSpPr>
        <p:spPr>
          <a:xfrm>
            <a:off x="914400" y="2606040"/>
            <a:ext cx="182880" cy="182880"/>
          </a:xfrm>
          <a:prstGeom prst="ellipse">
            <a:avLst/>
          </a:prstGeom>
          <a:solidFill>
            <a:srgbClr val="FF6A1A"/>
          </a:solidFill>
          <a:ln/>
        </p:spPr>
      </p:sp>
      <p:sp>
        <p:nvSpPr>
          <p:cNvPr id="6" name="Text 4"/>
          <p:cNvSpPr/>
          <p:nvPr/>
        </p:nvSpPr>
        <p:spPr>
          <a:xfrm>
            <a:off x="1280160" y="2313432"/>
            <a:ext cx="5394960" cy="365760"/>
          </a:xfrm>
          <a:prstGeom prst="rect">
            <a:avLst/>
          </a:prstGeom>
          <a:noFill/>
          <a:ln/>
        </p:spPr>
        <p:txBody>
          <a:bodyPr wrap="square" lIns="0" tIns="0" rIns="0" bIns="0" rtlCol="0" anchor="ctr"/>
          <a:lstStyle/>
          <a:p>
            <a:pPr indent="0" marL="0">
              <a:buNone/>
            </a:pPr>
            <a:r>
              <a:rPr lang="en-US" sz="1800" b="1" dirty="0">
                <a:solidFill>
                  <a:srgbClr val="F7EFE1"/>
                </a:solidFill>
                <a:latin typeface="Trebuchet MS" pitchFamily="34" charset="0"/>
                <a:ea typeface="Trebuchet MS" pitchFamily="34" charset="-122"/>
                <a:cs typeface="Trebuchet MS" pitchFamily="34" charset="-120"/>
              </a:rPr>
              <a:t>Standard formats</a:t>
            </a:r>
            <a:endParaRPr lang="en-US" sz="1800" dirty="0"/>
          </a:p>
        </p:txBody>
      </p:sp>
      <p:sp>
        <p:nvSpPr>
          <p:cNvPr id="7" name="Text 5"/>
          <p:cNvSpPr/>
          <p:nvPr/>
        </p:nvSpPr>
        <p:spPr>
          <a:xfrm>
            <a:off x="1280160" y="2715768"/>
            <a:ext cx="5394960" cy="45720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Ingests SCADA / IoT / permit-to-work data as-is</a:t>
            </a:r>
            <a:endParaRPr lang="en-US" sz="1400" dirty="0"/>
          </a:p>
        </p:txBody>
      </p:sp>
      <p:sp>
        <p:nvSpPr>
          <p:cNvPr id="8" name="Shape 6"/>
          <p:cNvSpPr/>
          <p:nvPr/>
        </p:nvSpPr>
        <p:spPr>
          <a:xfrm>
            <a:off x="640080" y="3447288"/>
            <a:ext cx="6217920" cy="1143000"/>
          </a:xfrm>
          <a:prstGeom prst="roundRect">
            <a:avLst>
              <a:gd name="adj" fmla="val 7200"/>
            </a:avLst>
          </a:prstGeom>
          <a:solidFill>
            <a:srgbClr val="15110D"/>
          </a:solidFill>
          <a:ln w="12700">
            <a:solidFill>
              <a:srgbClr val="3B2E22"/>
            </a:solidFill>
            <a:prstDash val="solid"/>
          </a:ln>
        </p:spPr>
      </p:sp>
      <p:sp>
        <p:nvSpPr>
          <p:cNvPr id="9" name="Shape 7"/>
          <p:cNvSpPr/>
          <p:nvPr/>
        </p:nvSpPr>
        <p:spPr>
          <a:xfrm>
            <a:off x="914400" y="3904488"/>
            <a:ext cx="182880" cy="182880"/>
          </a:xfrm>
          <a:prstGeom prst="ellipse">
            <a:avLst/>
          </a:prstGeom>
          <a:solidFill>
            <a:srgbClr val="FF6A1A"/>
          </a:solidFill>
          <a:ln/>
        </p:spPr>
      </p:sp>
      <p:sp>
        <p:nvSpPr>
          <p:cNvPr id="10" name="Text 8"/>
          <p:cNvSpPr/>
          <p:nvPr/>
        </p:nvSpPr>
        <p:spPr>
          <a:xfrm>
            <a:off x="1280160" y="3611880"/>
            <a:ext cx="5394960" cy="365760"/>
          </a:xfrm>
          <a:prstGeom prst="rect">
            <a:avLst/>
          </a:prstGeom>
          <a:noFill/>
          <a:ln/>
        </p:spPr>
        <p:txBody>
          <a:bodyPr wrap="square" lIns="0" tIns="0" rIns="0" bIns="0" rtlCol="0" anchor="ctr"/>
          <a:lstStyle/>
          <a:p>
            <a:pPr indent="0" marL="0">
              <a:buNone/>
            </a:pPr>
            <a:r>
              <a:rPr lang="en-US" sz="1800" b="1" dirty="0">
                <a:solidFill>
                  <a:srgbClr val="F7EFE1"/>
                </a:solidFill>
                <a:latin typeface="Trebuchet MS" pitchFamily="34" charset="0"/>
                <a:ea typeface="Trebuchet MS" pitchFamily="34" charset="-122"/>
                <a:cs typeface="Trebuchet MS" pitchFamily="34" charset="-120"/>
              </a:rPr>
              <a:t>A connector, not a rewrite</a:t>
            </a:r>
            <a:endParaRPr lang="en-US" sz="1800" dirty="0"/>
          </a:p>
        </p:txBody>
      </p:sp>
      <p:sp>
        <p:nvSpPr>
          <p:cNvPr id="11" name="Text 9"/>
          <p:cNvSpPr/>
          <p:nvPr/>
        </p:nvSpPr>
        <p:spPr>
          <a:xfrm>
            <a:off x="1280160" y="4014216"/>
            <a:ext cx="5394960" cy="45720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Digital twin → live plant swaps the data source, not the brain</a:t>
            </a:r>
            <a:endParaRPr lang="en-US" sz="1400" dirty="0"/>
          </a:p>
        </p:txBody>
      </p:sp>
      <p:sp>
        <p:nvSpPr>
          <p:cNvPr id="12" name="Shape 10"/>
          <p:cNvSpPr/>
          <p:nvPr/>
        </p:nvSpPr>
        <p:spPr>
          <a:xfrm>
            <a:off x="640080" y="4745736"/>
            <a:ext cx="6217920" cy="1143000"/>
          </a:xfrm>
          <a:prstGeom prst="roundRect">
            <a:avLst>
              <a:gd name="adj" fmla="val 7200"/>
            </a:avLst>
          </a:prstGeom>
          <a:solidFill>
            <a:srgbClr val="15110D"/>
          </a:solidFill>
          <a:ln w="12700">
            <a:solidFill>
              <a:srgbClr val="3B2E22"/>
            </a:solidFill>
            <a:prstDash val="solid"/>
          </a:ln>
        </p:spPr>
      </p:sp>
      <p:sp>
        <p:nvSpPr>
          <p:cNvPr id="13" name="Shape 11"/>
          <p:cNvSpPr/>
          <p:nvPr/>
        </p:nvSpPr>
        <p:spPr>
          <a:xfrm>
            <a:off x="914400" y="5202936"/>
            <a:ext cx="182880" cy="182880"/>
          </a:xfrm>
          <a:prstGeom prst="ellipse">
            <a:avLst/>
          </a:prstGeom>
          <a:solidFill>
            <a:srgbClr val="FF6A1A"/>
          </a:solidFill>
          <a:ln/>
        </p:spPr>
      </p:sp>
      <p:sp>
        <p:nvSpPr>
          <p:cNvPr id="14" name="Text 12"/>
          <p:cNvSpPr/>
          <p:nvPr/>
        </p:nvSpPr>
        <p:spPr>
          <a:xfrm>
            <a:off x="1280160" y="4910328"/>
            <a:ext cx="5394960" cy="365760"/>
          </a:xfrm>
          <a:prstGeom prst="rect">
            <a:avLst/>
          </a:prstGeom>
          <a:noFill/>
          <a:ln/>
        </p:spPr>
        <p:txBody>
          <a:bodyPr wrap="square" lIns="0" tIns="0" rIns="0" bIns="0" rtlCol="0" anchor="ctr"/>
          <a:lstStyle/>
          <a:p>
            <a:pPr indent="0" marL="0">
              <a:buNone/>
            </a:pPr>
            <a:r>
              <a:rPr lang="en-US" sz="1800" b="1" dirty="0">
                <a:solidFill>
                  <a:srgbClr val="F7EFE1"/>
                </a:solidFill>
                <a:latin typeface="Trebuchet MS" pitchFamily="34" charset="0"/>
                <a:ea typeface="Trebuchet MS" pitchFamily="34" charset="-122"/>
                <a:cs typeface="Trebuchet MS" pitchFamily="34" charset="-120"/>
              </a:rPr>
              <a:t>Auditable &amp; hybrid</a:t>
            </a:r>
            <a:endParaRPr lang="en-US" sz="1800" dirty="0"/>
          </a:p>
        </p:txBody>
      </p:sp>
      <p:sp>
        <p:nvSpPr>
          <p:cNvPr id="15" name="Text 13"/>
          <p:cNvSpPr/>
          <p:nvPr/>
        </p:nvSpPr>
        <p:spPr>
          <a:xfrm>
            <a:off x="1280160" y="5312664"/>
            <a:ext cx="5394960" cy="457200"/>
          </a:xfrm>
          <a:prstGeom prst="rect">
            <a:avLst/>
          </a:prstGeom>
          <a:noFill/>
          <a:ln/>
        </p:spPr>
        <p:txBody>
          <a:bodyPr wrap="square" lIns="0" tIns="0" rIns="0" bIns="0" rtlCol="0" anchor="ctr"/>
          <a:lstStyle/>
          <a:p>
            <a:pPr indent="0" marL="0">
              <a:buNone/>
            </a:pPr>
            <a:r>
              <a:rPr lang="en-US" sz="1400" dirty="0">
                <a:solidFill>
                  <a:srgbClr val="7C6F5E"/>
                </a:solidFill>
                <a:latin typeface="Calibri" pitchFamily="34" charset="0"/>
                <a:ea typeface="Calibri" pitchFamily="34" charset="-122"/>
                <a:cs typeface="Calibri" pitchFamily="34" charset="-120"/>
              </a:rPr>
              <a:t>Deterministic decisions a safety officer can defend in an audit</a:t>
            </a:r>
            <a:endParaRPr lang="en-US" sz="1400" dirty="0"/>
          </a:p>
        </p:txBody>
      </p:sp>
      <p:sp>
        <p:nvSpPr>
          <p:cNvPr id="16" name="Shape 14"/>
          <p:cNvSpPr/>
          <p:nvPr/>
        </p:nvSpPr>
        <p:spPr>
          <a:xfrm>
            <a:off x="7223760" y="2148840"/>
            <a:ext cx="4325112" cy="3694176"/>
          </a:xfrm>
          <a:prstGeom prst="roundRect">
            <a:avLst>
              <a:gd name="adj" fmla="val 2228"/>
            </a:avLst>
          </a:prstGeom>
          <a:solidFill>
            <a:srgbClr val="100C09"/>
          </a:solidFill>
          <a:ln w="12700">
            <a:solidFill>
              <a:srgbClr val="FF6A1A"/>
            </a:solidFill>
            <a:prstDash val="solid"/>
          </a:ln>
        </p:spPr>
      </p:sp>
      <p:sp>
        <p:nvSpPr>
          <p:cNvPr id="17" name="Text 15"/>
          <p:cNvSpPr/>
          <p:nvPr/>
        </p:nvSpPr>
        <p:spPr>
          <a:xfrm>
            <a:off x="7498080" y="2377440"/>
            <a:ext cx="365760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WHERE IT DEPLOYS</a:t>
            </a:r>
            <a:endParaRPr lang="en-US" sz="1100" dirty="0"/>
          </a:p>
        </p:txBody>
      </p:sp>
      <p:sp>
        <p:nvSpPr>
          <p:cNvPr id="18" name="Text 16"/>
          <p:cNvSpPr/>
          <p:nvPr/>
        </p:nvSpPr>
        <p:spPr>
          <a:xfrm>
            <a:off x="7498080" y="2834640"/>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Steel</a:t>
            </a:r>
            <a:endParaRPr lang="en-US" sz="1600" dirty="0"/>
          </a:p>
        </p:txBody>
      </p:sp>
      <p:sp>
        <p:nvSpPr>
          <p:cNvPr id="19" name="Text 17"/>
          <p:cNvSpPr/>
          <p:nvPr/>
        </p:nvSpPr>
        <p:spPr>
          <a:xfrm>
            <a:off x="7498080" y="3145536"/>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coke ovens, blast furnaces</a:t>
            </a:r>
            <a:endParaRPr lang="en-US" sz="1200" dirty="0"/>
          </a:p>
        </p:txBody>
      </p:sp>
      <p:sp>
        <p:nvSpPr>
          <p:cNvPr id="20" name="Text 18"/>
          <p:cNvSpPr/>
          <p:nvPr/>
        </p:nvSpPr>
        <p:spPr>
          <a:xfrm>
            <a:off x="7498080" y="3584448"/>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Refining &amp; Petrochem</a:t>
            </a:r>
            <a:endParaRPr lang="en-US" sz="1600" dirty="0"/>
          </a:p>
        </p:txBody>
      </p:sp>
      <p:sp>
        <p:nvSpPr>
          <p:cNvPr id="21" name="Text 19"/>
          <p:cNvSpPr/>
          <p:nvPr/>
        </p:nvSpPr>
        <p:spPr>
          <a:xfrm>
            <a:off x="7498080" y="3895344"/>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OISD permit-to-work regimes</a:t>
            </a:r>
            <a:endParaRPr lang="en-US" sz="1200" dirty="0"/>
          </a:p>
        </p:txBody>
      </p:sp>
      <p:sp>
        <p:nvSpPr>
          <p:cNvPr id="22" name="Text 20"/>
          <p:cNvSpPr/>
          <p:nvPr/>
        </p:nvSpPr>
        <p:spPr>
          <a:xfrm>
            <a:off x="7498080" y="4334256"/>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Mining</a:t>
            </a:r>
            <a:endParaRPr lang="en-US" sz="1600" dirty="0"/>
          </a:p>
        </p:txBody>
      </p:sp>
      <p:sp>
        <p:nvSpPr>
          <p:cNvPr id="23" name="Text 21"/>
          <p:cNvSpPr/>
          <p:nvPr/>
        </p:nvSpPr>
        <p:spPr>
          <a:xfrm>
            <a:off x="7498080" y="4645152"/>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confined-space &amp; gas hazards</a:t>
            </a:r>
            <a:endParaRPr lang="en-US" sz="1200" dirty="0"/>
          </a:p>
        </p:txBody>
      </p:sp>
      <p:sp>
        <p:nvSpPr>
          <p:cNvPr id="24" name="Text 22"/>
          <p:cNvSpPr/>
          <p:nvPr/>
        </p:nvSpPr>
        <p:spPr>
          <a:xfrm>
            <a:off x="7498080" y="5084064"/>
            <a:ext cx="3840480" cy="320040"/>
          </a:xfrm>
          <a:prstGeom prst="rect">
            <a:avLst/>
          </a:prstGeom>
          <a:noFill/>
          <a:ln/>
        </p:spPr>
        <p:txBody>
          <a:bodyPr wrap="square" lIns="0" tIns="0" rIns="0" bIns="0" rtlCol="0" anchor="ctr"/>
          <a:lstStyle/>
          <a:p>
            <a:pPr indent="0" marL="0">
              <a:buNone/>
            </a:pPr>
            <a:r>
              <a:rPr lang="en-US" sz="1600" b="1" dirty="0">
                <a:solidFill>
                  <a:srgbClr val="F7EFE1"/>
                </a:solidFill>
                <a:latin typeface="Trebuchet MS" pitchFamily="34" charset="0"/>
                <a:ea typeface="Trebuchet MS" pitchFamily="34" charset="-122"/>
                <a:cs typeface="Trebuchet MS" pitchFamily="34" charset="-120"/>
              </a:rPr>
              <a:t>Power &amp; Chemicals</a:t>
            </a:r>
            <a:endParaRPr lang="en-US" sz="1600" dirty="0"/>
          </a:p>
        </p:txBody>
      </p:sp>
      <p:sp>
        <p:nvSpPr>
          <p:cNvPr id="25" name="Text 23"/>
          <p:cNvSpPr/>
          <p:nvPr/>
        </p:nvSpPr>
        <p:spPr>
          <a:xfrm>
            <a:off x="7498080" y="5394960"/>
            <a:ext cx="3840480" cy="320040"/>
          </a:xfrm>
          <a:prstGeom prst="rect">
            <a:avLst/>
          </a:prstGeom>
          <a:noFill/>
          <a:ln/>
        </p:spPr>
        <p:txBody>
          <a:bodyPr wrap="square" lIns="0" tIns="0" rIns="0" bIns="0" rtlCol="0" anchor="ctr"/>
          <a:lstStyle/>
          <a:p>
            <a:pPr indent="0" marL="0">
              <a:buNone/>
            </a:pPr>
            <a:r>
              <a:rPr lang="en-US" sz="1200" dirty="0">
                <a:solidFill>
                  <a:srgbClr val="7C6F5E"/>
                </a:solidFill>
                <a:latin typeface="Calibri" pitchFamily="34" charset="0"/>
                <a:ea typeface="Calibri" pitchFamily="34" charset="-122"/>
                <a:cs typeface="Calibri" pitchFamily="34" charset="-120"/>
              </a:rPr>
              <a:t>asset-intensive operations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908"/>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lIns="0" tIns="0" rIns="0" bIns="0" rtlCol="0" anchor="ctr"/>
          <a:lstStyle/>
          <a:p>
            <a:pPr indent="0" marL="0">
              <a:buNone/>
            </a:pPr>
            <a:r>
              <a:rPr lang="en-US" sz="1200" spc="300" kern="0" dirty="0">
                <a:solidFill>
                  <a:srgbClr val="FF6A1A"/>
                </a:solidFill>
                <a:latin typeface="Consolas" pitchFamily="34" charset="0"/>
                <a:ea typeface="Consolas" pitchFamily="34" charset="-122"/>
                <a:cs typeface="Consolas" pitchFamily="34" charset="-120"/>
              </a:rPr>
              <a:t>DEPLOYS OVER YOUR STACK</a:t>
            </a:r>
            <a:endParaRPr lang="en-US" sz="1200" dirty="0"/>
          </a:p>
        </p:txBody>
      </p:sp>
      <p:sp>
        <p:nvSpPr>
          <p:cNvPr id="3" name="Text 1"/>
          <p:cNvSpPr/>
          <p:nvPr/>
        </p:nvSpPr>
        <p:spPr>
          <a:xfrm>
            <a:off x="640080" y="841248"/>
            <a:ext cx="10972800" cy="822960"/>
          </a:xfrm>
          <a:prstGeom prst="rect">
            <a:avLst/>
          </a:prstGeom>
          <a:noFill/>
          <a:ln/>
        </p:spPr>
        <p:txBody>
          <a:bodyPr wrap="square" lIns="0" tIns="0" rIns="0" bIns="0" rtlCol="0" anchor="ctr"/>
          <a:lstStyle/>
          <a:p>
            <a:pPr indent="0" marL="0">
              <a:buNone/>
            </a:pPr>
            <a:r>
              <a:rPr lang="en-US" sz="3400" b="1" dirty="0">
                <a:solidFill>
                  <a:srgbClr val="F7EFE1"/>
                </a:solidFill>
                <a:latin typeface="Trebuchet MS" pitchFamily="34" charset="0"/>
                <a:ea typeface="Trebuchet MS" pitchFamily="34" charset="-122"/>
                <a:cs typeface="Trebuchet MS" pitchFamily="34" charset="-120"/>
              </a:rPr>
              <a:t>A connector, not a rewrite</a:t>
            </a:r>
            <a:endParaRPr lang="en-US" sz="3400" dirty="0"/>
          </a:p>
        </p:txBody>
      </p:sp>
      <p:sp>
        <p:nvSpPr>
          <p:cNvPr id="4" name="Shape 2"/>
          <p:cNvSpPr/>
          <p:nvPr/>
        </p:nvSpPr>
        <p:spPr>
          <a:xfrm>
            <a:off x="640080" y="2377440"/>
            <a:ext cx="2505456" cy="1783080"/>
          </a:xfrm>
          <a:prstGeom prst="roundRect">
            <a:avLst>
              <a:gd name="adj" fmla="val 4615"/>
            </a:avLst>
          </a:prstGeom>
          <a:solidFill>
            <a:srgbClr val="15110D"/>
          </a:solidFill>
          <a:ln w="12700">
            <a:solidFill>
              <a:srgbClr val="3B2E22"/>
            </a:solidFill>
            <a:prstDash val="solid"/>
          </a:ln>
        </p:spPr>
      </p:sp>
      <p:sp>
        <p:nvSpPr>
          <p:cNvPr id="5" name="Text 3"/>
          <p:cNvSpPr/>
          <p:nvPr/>
        </p:nvSpPr>
        <p:spPr>
          <a:xfrm>
            <a:off x="822960" y="2578608"/>
            <a:ext cx="2139696" cy="457200"/>
          </a:xfrm>
          <a:prstGeom prst="rect">
            <a:avLst/>
          </a:prstGeom>
          <a:noFill/>
          <a:ln/>
        </p:spPr>
        <p:txBody>
          <a:bodyPr wrap="square" lIns="0" tIns="0" rIns="0" bIns="0" rtlCol="0" anchor="ctr"/>
          <a:lstStyle/>
          <a:p>
            <a:pPr indent="0" marL="0">
              <a:buNone/>
            </a:pPr>
            <a:r>
              <a:rPr lang="en-US" sz="1500" b="1" dirty="0">
                <a:solidFill>
                  <a:srgbClr val="F7EFE1"/>
                </a:solidFill>
                <a:latin typeface="Trebuchet MS" pitchFamily="34" charset="0"/>
                <a:ea typeface="Trebuchet MS" pitchFamily="34" charset="-122"/>
                <a:cs typeface="Trebuchet MS" pitchFamily="34" charset="-120"/>
              </a:rPr>
              <a:t>Plant historian</a:t>
            </a:r>
            <a:endParaRPr lang="en-US" sz="1500" dirty="0"/>
          </a:p>
        </p:txBody>
      </p:sp>
      <p:sp>
        <p:nvSpPr>
          <p:cNvPr id="6" name="Text 4"/>
          <p:cNvSpPr/>
          <p:nvPr/>
        </p:nvSpPr>
        <p:spPr>
          <a:xfrm>
            <a:off x="822960"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OPC-UA / MQTT / PI</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permits · CCTV</a:t>
            </a:r>
            <a:endParaRPr lang="en-US" sz="1150" dirty="0"/>
          </a:p>
        </p:txBody>
      </p:sp>
      <p:sp>
        <p:nvSpPr>
          <p:cNvPr id="7" name="Text 5"/>
          <p:cNvSpPr/>
          <p:nvPr/>
        </p:nvSpPr>
        <p:spPr>
          <a:xfrm>
            <a:off x="3145536" y="2377440"/>
            <a:ext cx="320040" cy="1783080"/>
          </a:xfrm>
          <a:prstGeom prst="rect">
            <a:avLst/>
          </a:prstGeom>
          <a:noFill/>
          <a:ln/>
        </p:spPr>
        <p:txBody>
          <a:bodyPr wrap="square" lIns="0" tIns="0" rIns="0" bIns="0" rtlCol="0" anchor="ctr"/>
          <a:lstStyle/>
          <a:p>
            <a:pPr algn="ctr" indent="0" marL="0">
              <a:buNone/>
            </a:pPr>
            <a:r>
              <a:rPr lang="en-US" sz="2000" dirty="0">
                <a:solidFill>
                  <a:srgbClr val="FF6A1A"/>
                </a:solidFill>
                <a:latin typeface="Trebuchet MS" pitchFamily="34" charset="0"/>
                <a:ea typeface="Trebuchet MS" pitchFamily="34" charset="-122"/>
                <a:cs typeface="Trebuchet MS" pitchFamily="34" charset="-120"/>
              </a:rPr>
              <a:t>→</a:t>
            </a:r>
            <a:endParaRPr lang="en-US" sz="2000" dirty="0"/>
          </a:p>
        </p:txBody>
      </p:sp>
      <p:sp>
        <p:nvSpPr>
          <p:cNvPr id="8" name="Shape 6"/>
          <p:cNvSpPr/>
          <p:nvPr/>
        </p:nvSpPr>
        <p:spPr>
          <a:xfrm>
            <a:off x="3465576" y="2377440"/>
            <a:ext cx="2505456" cy="1783080"/>
          </a:xfrm>
          <a:prstGeom prst="roundRect">
            <a:avLst>
              <a:gd name="adj" fmla="val 4615"/>
            </a:avLst>
          </a:prstGeom>
          <a:solidFill>
            <a:srgbClr val="15110D"/>
          </a:solidFill>
          <a:ln w="12700">
            <a:solidFill>
              <a:srgbClr val="3B2E22"/>
            </a:solidFill>
            <a:prstDash val="solid"/>
          </a:ln>
        </p:spPr>
      </p:sp>
      <p:sp>
        <p:nvSpPr>
          <p:cNvPr id="9" name="Text 7"/>
          <p:cNvSpPr/>
          <p:nvPr/>
        </p:nvSpPr>
        <p:spPr>
          <a:xfrm>
            <a:off x="3648456" y="2578608"/>
            <a:ext cx="2139696" cy="457200"/>
          </a:xfrm>
          <a:prstGeom prst="rect">
            <a:avLst/>
          </a:prstGeom>
          <a:noFill/>
          <a:ln/>
        </p:spPr>
        <p:txBody>
          <a:bodyPr wrap="square" lIns="0" tIns="0" rIns="0" bIns="0" rtlCol="0" anchor="ctr"/>
          <a:lstStyle/>
          <a:p>
            <a:pPr indent="0" marL="0">
              <a:buNone/>
            </a:pPr>
            <a:r>
              <a:rPr lang="en-US" sz="1500" b="1" dirty="0">
                <a:solidFill>
                  <a:srgbClr val="F7EFE1"/>
                </a:solidFill>
                <a:latin typeface="Trebuchet MS" pitchFamily="34" charset="0"/>
                <a:ea typeface="Trebuchet MS" pitchFamily="34" charset="-122"/>
                <a:cs typeface="Trebuchet MS" pitchFamily="34" charset="-120"/>
              </a:rPr>
              <a:t>Edge pre-filter</a:t>
            </a:r>
            <a:endParaRPr lang="en-US" sz="1500" dirty="0"/>
          </a:p>
        </p:txBody>
      </p:sp>
      <p:sp>
        <p:nvSpPr>
          <p:cNvPr id="10" name="Text 8"/>
          <p:cNvSpPr/>
          <p:nvPr/>
        </p:nvSpPr>
        <p:spPr>
          <a:xfrm>
            <a:off x="3648456"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debounce + normalise</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at the plant edge</a:t>
            </a:r>
            <a:endParaRPr lang="en-US" sz="1150" dirty="0"/>
          </a:p>
        </p:txBody>
      </p:sp>
      <p:sp>
        <p:nvSpPr>
          <p:cNvPr id="11" name="Text 9"/>
          <p:cNvSpPr/>
          <p:nvPr/>
        </p:nvSpPr>
        <p:spPr>
          <a:xfrm>
            <a:off x="5971032" y="2377440"/>
            <a:ext cx="320040" cy="1783080"/>
          </a:xfrm>
          <a:prstGeom prst="rect">
            <a:avLst/>
          </a:prstGeom>
          <a:noFill/>
          <a:ln/>
        </p:spPr>
        <p:txBody>
          <a:bodyPr wrap="square" lIns="0" tIns="0" rIns="0" bIns="0" rtlCol="0" anchor="ctr"/>
          <a:lstStyle/>
          <a:p>
            <a:pPr algn="ctr" indent="0" marL="0">
              <a:buNone/>
            </a:pPr>
            <a:r>
              <a:rPr lang="en-US" sz="2000" dirty="0">
                <a:solidFill>
                  <a:srgbClr val="FF6A1A"/>
                </a:solidFill>
                <a:latin typeface="Trebuchet MS" pitchFamily="34" charset="0"/>
                <a:ea typeface="Trebuchet MS" pitchFamily="34" charset="-122"/>
                <a:cs typeface="Trebuchet MS" pitchFamily="34" charset="-120"/>
              </a:rPr>
              <a:t>→</a:t>
            </a:r>
            <a:endParaRPr lang="en-US" sz="2000" dirty="0"/>
          </a:p>
        </p:txBody>
      </p:sp>
      <p:sp>
        <p:nvSpPr>
          <p:cNvPr id="12" name="Shape 10"/>
          <p:cNvSpPr/>
          <p:nvPr/>
        </p:nvSpPr>
        <p:spPr>
          <a:xfrm>
            <a:off x="6291072" y="2377440"/>
            <a:ext cx="2505456" cy="1783080"/>
          </a:xfrm>
          <a:prstGeom prst="roundRect">
            <a:avLst>
              <a:gd name="adj" fmla="val 4615"/>
            </a:avLst>
          </a:prstGeom>
          <a:solidFill>
            <a:srgbClr val="100C09"/>
          </a:solidFill>
          <a:ln w="12700">
            <a:solidFill>
              <a:srgbClr val="FF6A1A"/>
            </a:solidFill>
            <a:prstDash val="solid"/>
          </a:ln>
        </p:spPr>
      </p:sp>
      <p:sp>
        <p:nvSpPr>
          <p:cNvPr id="13" name="Text 11"/>
          <p:cNvSpPr/>
          <p:nvPr/>
        </p:nvSpPr>
        <p:spPr>
          <a:xfrm>
            <a:off x="6473952" y="2578608"/>
            <a:ext cx="2139696" cy="457200"/>
          </a:xfrm>
          <a:prstGeom prst="rect">
            <a:avLst/>
          </a:prstGeom>
          <a:noFill/>
          <a:ln/>
        </p:spPr>
        <p:txBody>
          <a:bodyPr wrap="square" lIns="0" tIns="0" rIns="0" bIns="0" rtlCol="0" anchor="ctr"/>
          <a:lstStyle/>
          <a:p>
            <a:pPr indent="0" marL="0">
              <a:buNone/>
            </a:pPr>
            <a:r>
              <a:rPr lang="en-US" sz="1500" b="1" dirty="0">
                <a:solidFill>
                  <a:srgbClr val="FF6A1A"/>
                </a:solidFill>
                <a:latin typeface="Trebuchet MS" pitchFamily="34" charset="0"/>
                <a:ea typeface="Trebuchet MS" pitchFamily="34" charset="-122"/>
                <a:cs typeface="Trebuchet MS" pitchFamily="34" charset="-120"/>
              </a:rPr>
              <a:t>Compound engine</a:t>
            </a:r>
            <a:endParaRPr lang="en-US" sz="1500" dirty="0"/>
          </a:p>
        </p:txBody>
      </p:sp>
      <p:sp>
        <p:nvSpPr>
          <p:cNvPr id="14" name="Text 12"/>
          <p:cNvSpPr/>
          <p:nvPr/>
        </p:nvSpPr>
        <p:spPr>
          <a:xfrm>
            <a:off x="6473952"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deterministic, O(zones)</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the safety decision</a:t>
            </a:r>
            <a:endParaRPr lang="en-US" sz="1150" dirty="0"/>
          </a:p>
        </p:txBody>
      </p:sp>
      <p:sp>
        <p:nvSpPr>
          <p:cNvPr id="15" name="Text 13"/>
          <p:cNvSpPr/>
          <p:nvPr/>
        </p:nvSpPr>
        <p:spPr>
          <a:xfrm>
            <a:off x="8796528" y="2377440"/>
            <a:ext cx="320040" cy="1783080"/>
          </a:xfrm>
          <a:prstGeom prst="rect">
            <a:avLst/>
          </a:prstGeom>
          <a:noFill/>
          <a:ln/>
        </p:spPr>
        <p:txBody>
          <a:bodyPr wrap="square" lIns="0" tIns="0" rIns="0" bIns="0" rtlCol="0" anchor="ctr"/>
          <a:lstStyle/>
          <a:p>
            <a:pPr algn="ctr" indent="0" marL="0">
              <a:buNone/>
            </a:pPr>
            <a:r>
              <a:rPr lang="en-US" sz="2000" dirty="0">
                <a:solidFill>
                  <a:srgbClr val="FF6A1A"/>
                </a:solidFill>
                <a:latin typeface="Trebuchet MS" pitchFamily="34" charset="0"/>
                <a:ea typeface="Trebuchet MS" pitchFamily="34" charset="-122"/>
                <a:cs typeface="Trebuchet MS" pitchFamily="34" charset="-120"/>
              </a:rPr>
              <a:t>→</a:t>
            </a:r>
            <a:endParaRPr lang="en-US" sz="2000" dirty="0"/>
          </a:p>
        </p:txBody>
      </p:sp>
      <p:sp>
        <p:nvSpPr>
          <p:cNvPr id="16" name="Shape 14"/>
          <p:cNvSpPr/>
          <p:nvPr/>
        </p:nvSpPr>
        <p:spPr>
          <a:xfrm>
            <a:off x="9116568" y="2377440"/>
            <a:ext cx="2505456" cy="1783080"/>
          </a:xfrm>
          <a:prstGeom prst="roundRect">
            <a:avLst>
              <a:gd name="adj" fmla="val 4615"/>
            </a:avLst>
          </a:prstGeom>
          <a:solidFill>
            <a:srgbClr val="15110D"/>
          </a:solidFill>
          <a:ln w="12700">
            <a:solidFill>
              <a:srgbClr val="3B2E22"/>
            </a:solidFill>
            <a:prstDash val="solid"/>
          </a:ln>
        </p:spPr>
      </p:sp>
      <p:sp>
        <p:nvSpPr>
          <p:cNvPr id="17" name="Text 15"/>
          <p:cNvSpPr/>
          <p:nvPr/>
        </p:nvSpPr>
        <p:spPr>
          <a:xfrm>
            <a:off x="9299448" y="2578608"/>
            <a:ext cx="2139696" cy="457200"/>
          </a:xfrm>
          <a:prstGeom prst="rect">
            <a:avLst/>
          </a:prstGeom>
          <a:noFill/>
          <a:ln/>
        </p:spPr>
        <p:txBody>
          <a:bodyPr wrap="square" lIns="0" tIns="0" rIns="0" bIns="0" rtlCol="0" anchor="ctr"/>
          <a:lstStyle/>
          <a:p>
            <a:pPr indent="0" marL="0">
              <a:buNone/>
            </a:pPr>
            <a:r>
              <a:rPr lang="en-US" sz="1500" b="1" dirty="0">
                <a:solidFill>
                  <a:srgbClr val="F7EFE1"/>
                </a:solidFill>
                <a:latin typeface="Trebuchet MS" pitchFamily="34" charset="0"/>
                <a:ea typeface="Trebuchet MS" pitchFamily="34" charset="-122"/>
                <a:cs typeface="Trebuchet MS" pitchFamily="34" charset="-120"/>
              </a:rPr>
              <a:t>Control-room HMI</a:t>
            </a:r>
            <a:endParaRPr lang="en-US" sz="1500" dirty="0"/>
          </a:p>
        </p:txBody>
      </p:sp>
      <p:sp>
        <p:nvSpPr>
          <p:cNvPr id="18" name="Text 16"/>
          <p:cNvSpPr/>
          <p:nvPr/>
        </p:nvSpPr>
        <p:spPr>
          <a:xfrm>
            <a:off x="9299448" y="3090672"/>
            <a:ext cx="2139696" cy="914400"/>
          </a:xfrm>
          <a:prstGeom prst="rect">
            <a:avLst/>
          </a:prstGeom>
          <a:noFill/>
          <a:ln/>
        </p:spPr>
        <p:txBody>
          <a:bodyPr wrap="square" lIns="0" tIns="0" rIns="0" bIns="0" rtlCol="0" anchor="t"/>
          <a:lstStyle/>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split-reality view +</a:t>
            </a:r>
            <a:endParaRPr lang="en-US" sz="1150" dirty="0"/>
          </a:p>
          <a:p>
            <a:pPr indent="0" marL="0">
              <a:lnSpc>
                <a:spcPct val="105000"/>
              </a:lnSpc>
              <a:buNone/>
            </a:pPr>
            <a:r>
              <a:rPr lang="en-US" sz="1150" dirty="0">
                <a:solidFill>
                  <a:srgbClr val="7C6F5E"/>
                </a:solidFill>
                <a:latin typeface="Calibri" pitchFamily="34" charset="0"/>
                <a:ea typeface="Calibri" pitchFamily="34" charset="-122"/>
                <a:cs typeface="Calibri" pitchFamily="34" charset="-120"/>
              </a:rPr>
              <a:t>autonomous response</a:t>
            </a:r>
            <a:endParaRPr lang="en-US" sz="1150" dirty="0"/>
          </a:p>
        </p:txBody>
      </p:sp>
      <p:sp>
        <p:nvSpPr>
          <p:cNvPr id="19" name="Shape 17"/>
          <p:cNvSpPr/>
          <p:nvPr/>
        </p:nvSpPr>
        <p:spPr>
          <a:xfrm>
            <a:off x="640080" y="4526280"/>
            <a:ext cx="5394960" cy="1508760"/>
          </a:xfrm>
          <a:prstGeom prst="roundRect">
            <a:avLst>
              <a:gd name="adj" fmla="val 5455"/>
            </a:avLst>
          </a:prstGeom>
          <a:solidFill>
            <a:srgbClr val="100C09"/>
          </a:solidFill>
          <a:ln w="12700">
            <a:solidFill>
              <a:srgbClr val="FF6A1A"/>
            </a:solidFill>
            <a:prstDash val="solid"/>
          </a:ln>
        </p:spPr>
      </p:sp>
      <p:sp>
        <p:nvSpPr>
          <p:cNvPr id="20" name="Text 18"/>
          <p:cNvSpPr/>
          <p:nvPr/>
        </p:nvSpPr>
        <p:spPr>
          <a:xfrm>
            <a:off x="914400" y="4690872"/>
            <a:ext cx="4572000" cy="274320"/>
          </a:xfrm>
          <a:prstGeom prst="rect">
            <a:avLst/>
          </a:prstGeom>
          <a:noFill/>
          <a:ln/>
        </p:spPr>
        <p:txBody>
          <a:bodyPr wrap="square" lIns="0" tIns="0" rIns="0" bIns="0" rtlCol="0" anchor="ctr"/>
          <a:lstStyle/>
          <a:p>
            <a:pPr indent="0" marL="0">
              <a:buNone/>
            </a:pPr>
            <a:r>
              <a:rPr lang="en-US" sz="1100" spc="200" kern="0" dirty="0">
                <a:solidFill>
                  <a:srgbClr val="FF6A1A"/>
                </a:solidFill>
                <a:latin typeface="Consolas" pitchFamily="34" charset="0"/>
                <a:ea typeface="Consolas" pitchFamily="34" charset="-122"/>
                <a:cs typeface="Consolas" pitchFamily="34" charset="-120"/>
              </a:rPr>
              <a:t>THROUGHPUT</a:t>
            </a:r>
            <a:endParaRPr lang="en-US" sz="1100" dirty="0"/>
          </a:p>
        </p:txBody>
      </p:sp>
      <p:sp>
        <p:nvSpPr>
          <p:cNvPr id="21" name="Text 19"/>
          <p:cNvSpPr/>
          <p:nvPr/>
        </p:nvSpPr>
        <p:spPr>
          <a:xfrm>
            <a:off x="914400" y="4983480"/>
            <a:ext cx="4937760" cy="457200"/>
          </a:xfrm>
          <a:prstGeom prst="rect">
            <a:avLst/>
          </a:prstGeom>
          <a:noFill/>
          <a:ln/>
        </p:spPr>
        <p:txBody>
          <a:bodyPr wrap="square" lIns="0" tIns="0" rIns="0" bIns="0" rtlCol="0" anchor="ctr"/>
          <a:lstStyle/>
          <a:p>
            <a:pPr indent="0" marL="0">
              <a:buNone/>
            </a:pPr>
            <a:r>
              <a:rPr lang="en-US" sz="2400" b="1" dirty="0">
                <a:solidFill>
                  <a:srgbClr val="F7EFE1"/>
                </a:solidFill>
                <a:latin typeface="Trebuchet MS" pitchFamily="34" charset="0"/>
                <a:ea typeface="Trebuchet MS" pitchFamily="34" charset="-122"/>
                <a:cs typeface="Trebuchet MS" pitchFamily="34" charset="-120"/>
              </a:rPr>
              <a:t>~0.65M tags / sec</a:t>
            </a:r>
            <a:endParaRPr lang="en-US" sz="2400" dirty="0"/>
          </a:p>
        </p:txBody>
      </p:sp>
      <p:sp>
        <p:nvSpPr>
          <p:cNvPr id="22" name="Text 20"/>
          <p:cNvSpPr/>
          <p:nvPr/>
        </p:nvSpPr>
        <p:spPr>
          <a:xfrm>
            <a:off x="914400" y="5468112"/>
            <a:ext cx="4937760" cy="548640"/>
          </a:xfrm>
          <a:prstGeom prst="rect">
            <a:avLst/>
          </a:prstGeom>
          <a:noFill/>
          <a:ln/>
        </p:spPr>
        <p:txBody>
          <a:bodyPr wrap="square" lIns="0" tIns="0" rIns="0" bIns="0" rtlCol="0" anchor="t"/>
          <a:lstStyle/>
          <a:p>
            <a:pPr indent="0" marL="0">
              <a:buNone/>
            </a:pPr>
            <a:r>
              <a:rPr lang="en-US" sz="1100" dirty="0">
                <a:solidFill>
                  <a:srgbClr val="7C6F5E"/>
                </a:solidFill>
                <a:latin typeface="Calibri" pitchFamily="34" charset="0"/>
                <a:ea typeface="Calibri" pitchFamily="34" charset="-122"/>
                <a:cs typeface="Calibri" pitchFamily="34" charset="-120"/>
              </a:rPr>
              <a:t>measured (single-core micro-bench, ~0.6-0.7M) — a 10,000-tag plant assesses in ~15 ms per 1 Hz frame, ~65x real-time. O(zones), one instance per plant, no GPU in the life-safety path.</a:t>
            </a:r>
            <a:endParaRPr lang="en-US" sz="1100" dirty="0"/>
          </a:p>
        </p:txBody>
      </p:sp>
      <p:sp>
        <p:nvSpPr>
          <p:cNvPr id="23" name="Shape 21"/>
          <p:cNvSpPr/>
          <p:nvPr/>
        </p:nvSpPr>
        <p:spPr>
          <a:xfrm>
            <a:off x="6309360" y="4526280"/>
            <a:ext cx="5239512" cy="1508760"/>
          </a:xfrm>
          <a:prstGeom prst="roundRect">
            <a:avLst>
              <a:gd name="adj" fmla="val 5455"/>
            </a:avLst>
          </a:prstGeom>
          <a:solidFill>
            <a:srgbClr val="15110D"/>
          </a:solidFill>
          <a:ln w="12700">
            <a:solidFill>
              <a:srgbClr val="3B2E22"/>
            </a:solidFill>
            <a:prstDash val="solid"/>
          </a:ln>
        </p:spPr>
      </p:sp>
      <p:sp>
        <p:nvSpPr>
          <p:cNvPr id="24" name="Shape 22"/>
          <p:cNvSpPr/>
          <p:nvPr/>
        </p:nvSpPr>
        <p:spPr>
          <a:xfrm>
            <a:off x="6565392" y="4782312"/>
            <a:ext cx="128016" cy="128016"/>
          </a:xfrm>
          <a:prstGeom prst="ellipse">
            <a:avLst/>
          </a:prstGeom>
          <a:solidFill>
            <a:srgbClr val="FF6A1A"/>
          </a:solidFill>
          <a:ln/>
        </p:spPr>
      </p:sp>
      <p:sp>
        <p:nvSpPr>
          <p:cNvPr id="25" name="Text 23"/>
          <p:cNvSpPr/>
          <p:nvPr/>
        </p:nvSpPr>
        <p:spPr>
          <a:xfrm>
            <a:off x="6812280" y="4681728"/>
            <a:ext cx="4572000" cy="256032"/>
          </a:xfrm>
          <a:prstGeom prst="rect">
            <a:avLst/>
          </a:prstGeom>
          <a:noFill/>
          <a:ln/>
        </p:spPr>
        <p:txBody>
          <a:bodyPr wrap="square" lIns="0" tIns="0" rIns="0" bIns="0" rtlCol="0" anchor="ctr"/>
          <a:lstStyle/>
          <a:p>
            <a:pPr indent="0" marL="0">
              <a:buNone/>
            </a:pPr>
            <a:r>
              <a:rPr lang="en-US" sz="1300" b="1" dirty="0">
                <a:solidFill>
                  <a:srgbClr val="F7EFE1"/>
                </a:solidFill>
                <a:latin typeface="Trebuchet MS" pitchFamily="34" charset="0"/>
                <a:ea typeface="Trebuchet MS" pitchFamily="34" charset="-122"/>
                <a:cs typeface="Trebuchet MS" pitchFamily="34" charset="-120"/>
              </a:rPr>
              <a:t>Standard formats</a:t>
            </a:r>
            <a:endParaRPr lang="en-US" sz="1300" dirty="0"/>
          </a:p>
        </p:txBody>
      </p:sp>
      <p:sp>
        <p:nvSpPr>
          <p:cNvPr id="26" name="Text 24"/>
          <p:cNvSpPr/>
          <p:nvPr/>
        </p:nvSpPr>
        <p:spPr>
          <a:xfrm>
            <a:off x="6812280" y="4901184"/>
            <a:ext cx="4572000" cy="237744"/>
          </a:xfrm>
          <a:prstGeom prst="rect">
            <a:avLst/>
          </a:prstGeom>
          <a:noFill/>
          <a:ln/>
        </p:spPr>
        <p:txBody>
          <a:bodyPr wrap="square" lIns="0" tIns="0" rIns="0" bIns="0" rtlCol="0" anchor="ctr"/>
          <a:lstStyle/>
          <a:p>
            <a:pPr indent="0" marL="0">
              <a:buNone/>
            </a:pPr>
            <a:r>
              <a:rPr lang="en-US" sz="1050" dirty="0">
                <a:solidFill>
                  <a:srgbClr val="7C6F5E"/>
                </a:solidFill>
                <a:latin typeface="Calibri" pitchFamily="34" charset="0"/>
                <a:ea typeface="Calibri" pitchFamily="34" charset="-122"/>
                <a:cs typeface="Calibri" pitchFamily="34" charset="-120"/>
              </a:rPr>
              <a:t>ingests SCADA / IoT / permit data as-is</a:t>
            </a:r>
            <a:endParaRPr lang="en-US" sz="1050" dirty="0"/>
          </a:p>
        </p:txBody>
      </p:sp>
      <p:sp>
        <p:nvSpPr>
          <p:cNvPr id="27" name="Shape 25"/>
          <p:cNvSpPr/>
          <p:nvPr/>
        </p:nvSpPr>
        <p:spPr>
          <a:xfrm>
            <a:off x="6565392" y="5239512"/>
            <a:ext cx="128016" cy="128016"/>
          </a:xfrm>
          <a:prstGeom prst="ellipse">
            <a:avLst/>
          </a:prstGeom>
          <a:solidFill>
            <a:srgbClr val="FF6A1A"/>
          </a:solidFill>
          <a:ln/>
        </p:spPr>
      </p:sp>
      <p:sp>
        <p:nvSpPr>
          <p:cNvPr id="28" name="Text 26"/>
          <p:cNvSpPr/>
          <p:nvPr/>
        </p:nvSpPr>
        <p:spPr>
          <a:xfrm>
            <a:off x="6812280" y="5138928"/>
            <a:ext cx="4572000" cy="256032"/>
          </a:xfrm>
          <a:prstGeom prst="rect">
            <a:avLst/>
          </a:prstGeom>
          <a:noFill/>
          <a:ln/>
        </p:spPr>
        <p:txBody>
          <a:bodyPr wrap="square" lIns="0" tIns="0" rIns="0" bIns="0" rtlCol="0" anchor="ctr"/>
          <a:lstStyle/>
          <a:p>
            <a:pPr indent="0" marL="0">
              <a:buNone/>
            </a:pPr>
            <a:r>
              <a:rPr lang="en-US" sz="1300" b="1" dirty="0">
                <a:solidFill>
                  <a:srgbClr val="F7EFE1"/>
                </a:solidFill>
                <a:latin typeface="Trebuchet MS" pitchFamily="34" charset="0"/>
                <a:ea typeface="Trebuchet MS" pitchFamily="34" charset="-122"/>
                <a:cs typeface="Trebuchet MS" pitchFamily="34" charset="-120"/>
              </a:rPr>
              <a:t>Edge or on-prem</a:t>
            </a:r>
            <a:endParaRPr lang="en-US" sz="1300" dirty="0"/>
          </a:p>
        </p:txBody>
      </p:sp>
      <p:sp>
        <p:nvSpPr>
          <p:cNvPr id="29" name="Text 27"/>
          <p:cNvSpPr/>
          <p:nvPr/>
        </p:nvSpPr>
        <p:spPr>
          <a:xfrm>
            <a:off x="6812280" y="5358384"/>
            <a:ext cx="4572000" cy="237744"/>
          </a:xfrm>
          <a:prstGeom prst="rect">
            <a:avLst/>
          </a:prstGeom>
          <a:noFill/>
          <a:ln/>
        </p:spPr>
        <p:txBody>
          <a:bodyPr wrap="square" lIns="0" tIns="0" rIns="0" bIns="0" rtlCol="0" anchor="ctr"/>
          <a:lstStyle/>
          <a:p>
            <a:pPr indent="0" marL="0">
              <a:buNone/>
            </a:pPr>
            <a:r>
              <a:rPr lang="en-US" sz="1050" dirty="0">
                <a:solidFill>
                  <a:srgbClr val="7C6F5E"/>
                </a:solidFill>
                <a:latin typeface="Calibri" pitchFamily="34" charset="0"/>
                <a:ea typeface="Calibri" pitchFamily="34" charset="-122"/>
                <a:cs typeface="Calibri" pitchFamily="34" charset="-120"/>
              </a:rPr>
              <a:t>data never has to leave the plant</a:t>
            </a:r>
            <a:endParaRPr lang="en-US" sz="1050" dirty="0"/>
          </a:p>
        </p:txBody>
      </p:sp>
      <p:sp>
        <p:nvSpPr>
          <p:cNvPr id="30" name="Shape 28"/>
          <p:cNvSpPr/>
          <p:nvPr/>
        </p:nvSpPr>
        <p:spPr>
          <a:xfrm>
            <a:off x="6565392" y="5696712"/>
            <a:ext cx="128016" cy="128016"/>
          </a:xfrm>
          <a:prstGeom prst="ellipse">
            <a:avLst/>
          </a:prstGeom>
          <a:solidFill>
            <a:srgbClr val="FF6A1A"/>
          </a:solidFill>
          <a:ln/>
        </p:spPr>
      </p:sp>
      <p:sp>
        <p:nvSpPr>
          <p:cNvPr id="31" name="Text 29"/>
          <p:cNvSpPr/>
          <p:nvPr/>
        </p:nvSpPr>
        <p:spPr>
          <a:xfrm>
            <a:off x="6812280" y="5596128"/>
            <a:ext cx="4572000" cy="256032"/>
          </a:xfrm>
          <a:prstGeom prst="rect">
            <a:avLst/>
          </a:prstGeom>
          <a:noFill/>
          <a:ln/>
        </p:spPr>
        <p:txBody>
          <a:bodyPr wrap="square" lIns="0" tIns="0" rIns="0" bIns="0" rtlCol="0" anchor="ctr"/>
          <a:lstStyle/>
          <a:p>
            <a:pPr indent="0" marL="0">
              <a:buNone/>
            </a:pPr>
            <a:r>
              <a:rPr lang="en-US" sz="1300" b="1" dirty="0">
                <a:solidFill>
                  <a:srgbClr val="F7EFE1"/>
                </a:solidFill>
                <a:latin typeface="Trebuchet MS" pitchFamily="34" charset="0"/>
                <a:ea typeface="Trebuchet MS" pitchFamily="34" charset="-122"/>
                <a:cs typeface="Trebuchet MS" pitchFamily="34" charset="-120"/>
              </a:rPr>
              <a:t>Deterministic core</a:t>
            </a:r>
            <a:endParaRPr lang="en-US" sz="1300" dirty="0"/>
          </a:p>
        </p:txBody>
      </p:sp>
      <p:sp>
        <p:nvSpPr>
          <p:cNvPr id="32" name="Text 30"/>
          <p:cNvSpPr/>
          <p:nvPr/>
        </p:nvSpPr>
        <p:spPr>
          <a:xfrm>
            <a:off x="6812280" y="5815584"/>
            <a:ext cx="4572000" cy="237744"/>
          </a:xfrm>
          <a:prstGeom prst="rect">
            <a:avLst/>
          </a:prstGeom>
          <a:noFill/>
          <a:ln/>
        </p:spPr>
        <p:txBody>
          <a:bodyPr wrap="square" lIns="0" tIns="0" rIns="0" bIns="0" rtlCol="0" anchor="ctr"/>
          <a:lstStyle/>
          <a:p>
            <a:pPr indent="0" marL="0">
              <a:buNone/>
            </a:pPr>
            <a:r>
              <a:rPr lang="en-US" sz="1050" dirty="0">
                <a:solidFill>
                  <a:srgbClr val="7C6F5E"/>
                </a:solidFill>
                <a:latin typeface="Calibri" pitchFamily="34" charset="0"/>
                <a:ea typeface="Calibri" pitchFamily="34" charset="-122"/>
                <a:cs typeface="Calibri" pitchFamily="34" charset="-120"/>
              </a:rPr>
              <a:t>an auditable decision a safety officer can defend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908"/>
        </a:solidFill>
      </p:bgPr>
    </p:bg>
    <p:spTree>
      <p:nvGrpSpPr>
        <p:cNvPr id="1" name=""/>
        <p:cNvGrpSpPr/>
        <p:nvPr/>
      </p:nvGrpSpPr>
      <p:grpSpPr>
        <a:xfrm>
          <a:off x="0" y="0"/>
          <a:ext cx="0" cy="0"/>
          <a:chOff x="0" y="0"/>
          <a:chExt cx="0" cy="0"/>
        </a:xfrm>
      </p:grpSpPr>
      <p:sp>
        <p:nvSpPr>
          <p:cNvPr id="2" name="Shape 0"/>
          <p:cNvSpPr/>
          <p:nvPr/>
        </p:nvSpPr>
        <p:spPr>
          <a:xfrm>
            <a:off x="6089904" y="1097280"/>
            <a:ext cx="411480" cy="822960"/>
          </a:xfrm>
          <a:prstGeom prst="line">
            <a:avLst/>
          </a:prstGeom>
          <a:noFill/>
          <a:ln w="25400">
            <a:solidFill>
              <a:srgbClr val="FF6A1A"/>
            </a:solidFill>
            <a:prstDash val="solid"/>
          </a:ln>
        </p:spPr>
      </p:sp>
      <p:sp>
        <p:nvSpPr>
          <p:cNvPr id="3" name="Shape 1"/>
          <p:cNvSpPr/>
          <p:nvPr/>
        </p:nvSpPr>
        <p:spPr>
          <a:xfrm>
            <a:off x="5678424" y="1920240"/>
            <a:ext cx="822960" cy="0"/>
          </a:xfrm>
          <a:prstGeom prst="line">
            <a:avLst/>
          </a:prstGeom>
          <a:noFill/>
          <a:ln w="25400">
            <a:solidFill>
              <a:srgbClr val="FF6A1A"/>
            </a:solidFill>
            <a:prstDash val="solid"/>
          </a:ln>
        </p:spPr>
      </p:sp>
      <p:sp>
        <p:nvSpPr>
          <p:cNvPr id="4" name="Shape 2"/>
          <p:cNvSpPr/>
          <p:nvPr/>
        </p:nvSpPr>
        <p:spPr>
          <a:xfrm flipH="1">
            <a:off x="5678424" y="1097280"/>
            <a:ext cx="411480" cy="822960"/>
          </a:xfrm>
          <a:prstGeom prst="line">
            <a:avLst/>
          </a:prstGeom>
          <a:noFill/>
          <a:ln w="25400">
            <a:solidFill>
              <a:srgbClr val="FF6A1A"/>
            </a:solidFill>
            <a:prstDash val="solid"/>
          </a:ln>
        </p:spPr>
      </p:sp>
      <p:sp>
        <p:nvSpPr>
          <p:cNvPr id="5" name="Shape 3"/>
          <p:cNvSpPr/>
          <p:nvPr/>
        </p:nvSpPr>
        <p:spPr>
          <a:xfrm>
            <a:off x="5917082" y="1529334"/>
            <a:ext cx="345643" cy="226314"/>
          </a:xfrm>
          <a:prstGeom prst="ellipse">
            <a:avLst/>
          </a:prstGeom>
          <a:ln w="19050">
            <a:solidFill>
              <a:srgbClr val="FF6A1A"/>
            </a:solidFill>
            <a:prstDash val="solid"/>
          </a:ln>
        </p:spPr>
      </p:sp>
      <p:sp>
        <p:nvSpPr>
          <p:cNvPr id="6" name="Shape 4"/>
          <p:cNvSpPr/>
          <p:nvPr/>
        </p:nvSpPr>
        <p:spPr>
          <a:xfrm>
            <a:off x="6061100" y="1599286"/>
            <a:ext cx="74066" cy="74066"/>
          </a:xfrm>
          <a:prstGeom prst="ellipse">
            <a:avLst/>
          </a:prstGeom>
          <a:solidFill>
            <a:srgbClr val="FF6A1A"/>
          </a:solidFill>
          <a:ln/>
        </p:spPr>
      </p:sp>
      <p:sp>
        <p:nvSpPr>
          <p:cNvPr id="7" name="Text 5"/>
          <p:cNvSpPr/>
          <p:nvPr/>
        </p:nvSpPr>
        <p:spPr>
          <a:xfrm>
            <a:off x="0" y="2377440"/>
            <a:ext cx="12191695" cy="1371600"/>
          </a:xfrm>
          <a:prstGeom prst="rect">
            <a:avLst/>
          </a:prstGeom>
          <a:noFill/>
          <a:ln/>
        </p:spPr>
        <p:txBody>
          <a:bodyPr wrap="square" lIns="0" tIns="0" rIns="0" bIns="0" rtlCol="0" anchor="ctr"/>
          <a:lstStyle/>
          <a:p>
            <a:pPr algn="ctr" indent="0" marL="0">
              <a:lnSpc>
                <a:spcPct val="105000"/>
              </a:lnSpc>
              <a:buNone/>
            </a:pPr>
            <a:r>
              <a:rPr lang="en-US" sz="4000" b="1" dirty="0">
                <a:solidFill>
                  <a:srgbClr val="F7EFE1"/>
                </a:solidFill>
                <a:latin typeface="Trebuchet MS" pitchFamily="34" charset="0"/>
                <a:ea typeface="Trebuchet MS" pitchFamily="34" charset="-122"/>
                <a:cs typeface="Trebuchet MS" pitchFamily="34" charset="-120"/>
              </a:rPr>
              <a:t>Three workers a day.</a:t>
            </a:r>
            <a:endParaRPr lang="en-US" sz="4000" dirty="0"/>
          </a:p>
          <a:p>
            <a:pPr algn="ctr" indent="0" marL="0">
              <a:lnSpc>
                <a:spcPct val="105000"/>
              </a:lnSpc>
              <a:buNone/>
            </a:pPr>
            <a:r>
              <a:rPr lang="en-US" sz="4000" b="1" dirty="0">
                <a:solidFill>
                  <a:srgbClr val="F7EFE1"/>
                </a:solidFill>
                <a:latin typeface="Trebuchet MS" pitchFamily="34" charset="0"/>
                <a:ea typeface="Trebuchet MS" pitchFamily="34" charset="-122"/>
                <a:cs typeface="Trebuchet MS" pitchFamily="34" charset="-120"/>
              </a:rPr>
              <a:t>The data already exists.</a:t>
            </a:r>
            <a:endParaRPr lang="en-US" sz="4000" dirty="0"/>
          </a:p>
        </p:txBody>
      </p:sp>
      <p:sp>
        <p:nvSpPr>
          <p:cNvPr id="8" name="Text 6"/>
          <p:cNvSpPr/>
          <p:nvPr/>
        </p:nvSpPr>
        <p:spPr>
          <a:xfrm>
            <a:off x="0" y="4114800"/>
            <a:ext cx="12191695" cy="548640"/>
          </a:xfrm>
          <a:prstGeom prst="rect">
            <a:avLst/>
          </a:prstGeom>
          <a:noFill/>
          <a:ln/>
        </p:spPr>
        <p:txBody>
          <a:bodyPr wrap="square" lIns="0" tIns="0" rIns="0" bIns="0" rtlCol="0" anchor="ctr"/>
          <a:lstStyle/>
          <a:p>
            <a:pPr algn="ctr" indent="0" marL="0">
              <a:buNone/>
            </a:pPr>
            <a:r>
              <a:rPr lang="en-US" sz="2600" b="1" dirty="0">
                <a:solidFill>
                  <a:srgbClr val="FF6A1A"/>
                </a:solidFill>
                <a:latin typeface="Trebuchet MS" pitchFamily="34" charset="0"/>
                <a:ea typeface="Trebuchet MS" pitchFamily="34" charset="-122"/>
                <a:cs typeface="Trebuchet MS" pitchFamily="34" charset="-120"/>
              </a:rPr>
              <a:t>Trinetra is the layer that acts — before, not after.</a:t>
            </a:r>
            <a:endParaRPr lang="en-US" sz="2600" dirty="0"/>
          </a:p>
        </p:txBody>
      </p:sp>
      <p:sp>
        <p:nvSpPr>
          <p:cNvPr id="9" name="Text 7"/>
          <p:cNvSpPr/>
          <p:nvPr/>
        </p:nvSpPr>
        <p:spPr>
          <a:xfrm>
            <a:off x="0" y="5212080"/>
            <a:ext cx="12191695" cy="365760"/>
          </a:xfrm>
          <a:prstGeom prst="rect">
            <a:avLst/>
          </a:prstGeom>
          <a:noFill/>
          <a:ln/>
        </p:spPr>
        <p:txBody>
          <a:bodyPr wrap="square" lIns="0" tIns="0" rIns="0" bIns="0" rtlCol="0" anchor="ctr"/>
          <a:lstStyle/>
          <a:p>
            <a:pPr algn="ctr" indent="0" marL="0">
              <a:buNone/>
            </a:pPr>
            <a:r>
              <a:rPr lang="en-US" sz="1400" b="1" dirty="0">
                <a:solidFill>
                  <a:srgbClr val="FF6A1A"/>
                </a:solidFill>
                <a:latin typeface="Consolas" pitchFamily="34" charset="0"/>
                <a:ea typeface="Consolas" pitchFamily="34" charset="-122"/>
                <a:cs typeface="Consolas" pitchFamily="34" charset="-120"/>
              </a:rPr>
              <a:t>100% recall</a:t>
            </a:r>
            <a:pPr algn="ctr" indent="0" marL="0">
              <a:buNone/>
            </a:pPr>
            <a:r>
              <a:rPr lang="en-US" sz="1400" b="1" dirty="0">
                <a:solidFill>
                  <a:srgbClr val="7C6F5E"/>
                </a:solidFill>
                <a:latin typeface="Consolas" pitchFamily="34" charset="0"/>
                <a:ea typeface="Consolas" pitchFamily="34" charset="-122"/>
                <a:cs typeface="Consolas" pitchFamily="34" charset="-120"/>
              </a:rPr>
              <a:t>   ·   </a:t>
            </a:r>
            <a:pPr algn="ctr" indent="0" marL="0">
              <a:buNone/>
            </a:pPr>
            <a:r>
              <a:rPr lang="en-US" sz="1400" b="1" dirty="0">
                <a:solidFill>
                  <a:srgbClr val="FF6A1A"/>
                </a:solidFill>
                <a:latin typeface="Consolas" pitchFamily="34" charset="0"/>
                <a:ea typeface="Consolas" pitchFamily="34" charset="-122"/>
                <a:cs typeface="Consolas" pitchFamily="34" charset="-120"/>
              </a:rPr>
              <a:t>0% false-positive</a:t>
            </a:r>
            <a:pPr algn="ctr" indent="0" marL="0">
              <a:buNone/>
            </a:pPr>
            <a:r>
              <a:rPr lang="en-US" sz="1400" b="1" dirty="0">
                <a:solidFill>
                  <a:srgbClr val="7C6F5E"/>
                </a:solidFill>
                <a:latin typeface="Consolas" pitchFamily="34" charset="0"/>
                <a:ea typeface="Consolas" pitchFamily="34" charset="-122"/>
                <a:cs typeface="Consolas" pitchFamily="34" charset="-120"/>
              </a:rPr>
              <a:t>   ·   </a:t>
            </a:r>
            <a:pPr algn="ctr" indent="0" marL="0">
              <a:buNone/>
            </a:pPr>
            <a:r>
              <a:rPr lang="en-US" sz="1400" b="1" dirty="0">
                <a:solidFill>
                  <a:srgbClr val="FF6A1A"/>
                </a:solidFill>
                <a:latin typeface="Consolas" pitchFamily="34" charset="0"/>
                <a:ea typeface="Consolas" pitchFamily="34" charset="-122"/>
                <a:cs typeface="Consolas" pitchFamily="34" charset="-120"/>
              </a:rPr>
              <a:t>7.4 min early-warning</a:t>
            </a:r>
            <a:endParaRPr lang="en-US" sz="1400" dirty="0"/>
          </a:p>
        </p:txBody>
      </p:sp>
      <p:sp>
        <p:nvSpPr>
          <p:cNvPr id="10" name="Text 8"/>
          <p:cNvSpPr/>
          <p:nvPr/>
        </p:nvSpPr>
        <p:spPr>
          <a:xfrm>
            <a:off x="0" y="6126480"/>
            <a:ext cx="12191695" cy="274320"/>
          </a:xfrm>
          <a:prstGeom prst="rect">
            <a:avLst/>
          </a:prstGeom>
          <a:noFill/>
          <a:ln/>
        </p:spPr>
        <p:txBody>
          <a:bodyPr wrap="square" lIns="0" tIns="0" rIns="0" bIns="0" rtlCol="0" anchor="ctr"/>
          <a:lstStyle/>
          <a:p>
            <a:pPr algn="ctr" indent="0" marL="0">
              <a:buNone/>
            </a:pPr>
            <a:r>
              <a:rPr lang="en-US" sz="1100" spc="200" kern="0" dirty="0">
                <a:solidFill>
                  <a:srgbClr val="7C6F5E"/>
                </a:solidFill>
                <a:latin typeface="Consolas" pitchFamily="34" charset="0"/>
                <a:ea typeface="Consolas" pitchFamily="34" charset="-122"/>
                <a:cs typeface="Consolas" pitchFamily="34" charset="-120"/>
              </a:rPr>
              <a:t>TRINETRA   ·   Saud Satopay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Trinetra</dc:title>
  <dc:subject>PptxGenJS Presentation</dc:subject>
  <dc:creator>Saud Satopay</dc:creator>
  <cp:lastModifiedBy>Saud Satopay</cp:lastModifiedBy>
  <cp:revision>1</cp:revision>
  <dcterms:created xsi:type="dcterms:W3CDTF">2026-06-25T12:32:04Z</dcterms:created>
  <dcterms:modified xsi:type="dcterms:W3CDTF">2026-06-25T12:32:04Z</dcterms:modified>
</cp:coreProperties>
</file>