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6095848" y="1152144"/>
            <a:ext cx="475488" cy="950976"/>
          </a:xfrm>
          <a:prstGeom prst="line">
            <a:avLst/>
          </a:prstGeom>
          <a:noFill/>
          <a:ln w="28575">
            <a:solidFill>
              <a:srgbClr val="FF6A1A"/>
            </a:solidFill>
            <a:prstDash val="solid"/>
          </a:ln>
        </p:spPr>
      </p:sp>
      <p:sp>
        <p:nvSpPr>
          <p:cNvPr id="3" name="Shape 1"/>
          <p:cNvSpPr/>
          <p:nvPr/>
        </p:nvSpPr>
        <p:spPr>
          <a:xfrm>
            <a:off x="5620360" y="2103120"/>
            <a:ext cx="950976" cy="0"/>
          </a:xfrm>
          <a:prstGeom prst="line">
            <a:avLst/>
          </a:prstGeom>
          <a:noFill/>
          <a:ln w="28575">
            <a:solidFill>
              <a:srgbClr val="FF6A1A"/>
            </a:solidFill>
            <a:prstDash val="solid"/>
          </a:ln>
        </p:spPr>
      </p:sp>
      <p:sp>
        <p:nvSpPr>
          <p:cNvPr id="4" name="Shape 2"/>
          <p:cNvSpPr/>
          <p:nvPr/>
        </p:nvSpPr>
        <p:spPr>
          <a:xfrm flipH="1">
            <a:off x="5620360" y="1152144"/>
            <a:ext cx="475488" cy="950976"/>
          </a:xfrm>
          <a:prstGeom prst="line">
            <a:avLst/>
          </a:prstGeom>
          <a:noFill/>
          <a:ln w="28575">
            <a:solidFill>
              <a:srgbClr val="FF6A1A"/>
            </a:solidFill>
            <a:prstDash val="solid"/>
          </a:ln>
        </p:spPr>
      </p:sp>
      <p:sp>
        <p:nvSpPr>
          <p:cNvPr id="5" name="Shape 3"/>
          <p:cNvSpPr/>
          <p:nvPr/>
        </p:nvSpPr>
        <p:spPr>
          <a:xfrm>
            <a:off x="5896143" y="1656161"/>
            <a:ext cx="399410" cy="247254"/>
          </a:xfrm>
          <a:prstGeom prst="ellipse">
            <a:avLst/>
          </a:prstGeom>
          <a:ln w="22225">
            <a:solidFill>
              <a:srgbClr val="FF6A1A"/>
            </a:solidFill>
            <a:prstDash val="solid"/>
          </a:ln>
        </p:spPr>
      </p:sp>
      <p:sp>
        <p:nvSpPr>
          <p:cNvPr id="6" name="Shape 4"/>
          <p:cNvSpPr/>
          <p:nvPr/>
        </p:nvSpPr>
        <p:spPr>
          <a:xfrm>
            <a:off x="6055431" y="1739372"/>
            <a:ext cx="80833" cy="80833"/>
          </a:xfrm>
          <a:prstGeom prst="ellipse">
            <a:avLst/>
          </a:prstGeom>
          <a:solidFill>
            <a:srgbClr val="FF6A1A"/>
          </a:solidFill>
          <a:ln/>
        </p:spPr>
      </p:sp>
      <p:sp>
        <p:nvSpPr>
          <p:cNvPr id="7" name="Text 5"/>
          <p:cNvSpPr/>
          <p:nvPr/>
        </p:nvSpPr>
        <p:spPr>
          <a:xfrm>
            <a:off x="0" y="2331720"/>
            <a:ext cx="12191695" cy="1143000"/>
          </a:xfrm>
          <a:prstGeom prst="rect">
            <a:avLst/>
          </a:prstGeom>
          <a:noFill/>
          <a:ln/>
        </p:spPr>
        <p:txBody>
          <a:bodyPr wrap="square" lIns="0" tIns="0" rIns="0" bIns="0" rtlCol="0" anchor="t"/>
          <a:lstStyle/>
          <a:p>
            <a:pPr algn="ctr" indent="0" marL="0">
              <a:buNone/>
            </a:pPr>
            <a:r>
              <a:rPr lang="en-US" sz="8200" spc="800" kern="0" dirty="0">
                <a:solidFill>
                  <a:srgbClr val="FBF6EC"/>
                </a:solidFill>
                <a:latin typeface="Bahnschrift SemiBold" pitchFamily="34" charset="0"/>
                <a:ea typeface="Bahnschrift SemiBold" pitchFamily="34" charset="-122"/>
                <a:cs typeface="Bahnschrift SemiBold" pitchFamily="34" charset="-120"/>
              </a:rPr>
              <a:t>TRINETRA</a:t>
            </a:r>
            <a:endParaRPr lang="en-US" sz="8200" dirty="0"/>
          </a:p>
        </p:txBody>
      </p:sp>
      <p:sp>
        <p:nvSpPr>
          <p:cNvPr id="8" name="Shape 6"/>
          <p:cNvSpPr/>
          <p:nvPr/>
        </p:nvSpPr>
        <p:spPr>
          <a:xfrm>
            <a:off x="5090008" y="3584448"/>
            <a:ext cx="2011680" cy="27432"/>
          </a:xfrm>
          <a:prstGeom prst="rect">
            <a:avLst/>
          </a:prstGeom>
          <a:solidFill>
            <a:srgbClr val="FF6A1A"/>
          </a:solidFill>
          <a:ln/>
        </p:spPr>
      </p:sp>
      <p:sp>
        <p:nvSpPr>
          <p:cNvPr id="9" name="Text 7"/>
          <p:cNvSpPr/>
          <p:nvPr/>
        </p:nvSpPr>
        <p:spPr>
          <a:xfrm>
            <a:off x="0" y="3822192"/>
            <a:ext cx="12191695" cy="320040"/>
          </a:xfrm>
          <a:prstGeom prst="rect">
            <a:avLst/>
          </a:prstGeom>
          <a:noFill/>
          <a:ln/>
        </p:spPr>
        <p:txBody>
          <a:bodyPr wrap="square" lIns="0" tIns="0" rIns="0" bIns="0" rtlCol="0" anchor="t"/>
          <a:lstStyle/>
          <a:p>
            <a:pPr algn="ctr" indent="0" marL="0">
              <a:buNone/>
            </a:pPr>
            <a:r>
              <a:rPr lang="en-US" sz="1200" spc="200" kern="0" dirty="0">
                <a:solidFill>
                  <a:srgbClr val="FF6A1A"/>
                </a:solidFill>
                <a:latin typeface="Cascadia Mono" pitchFamily="34" charset="0"/>
                <a:ea typeface="Cascadia Mono" pitchFamily="34" charset="-122"/>
                <a:cs typeface="Cascadia Mono" pitchFamily="34" charset="-120"/>
              </a:rPr>
              <a:t>THE THIRD EYE THAT SEES THE DANGER NO SINGLE SENSOR CAN</a:t>
            </a:r>
            <a:endParaRPr lang="en-US" sz="1200" dirty="0"/>
          </a:p>
        </p:txBody>
      </p:sp>
      <p:sp>
        <p:nvSpPr>
          <p:cNvPr id="10" name="Text 8"/>
          <p:cNvSpPr/>
          <p:nvPr/>
        </p:nvSpPr>
        <p:spPr>
          <a:xfrm>
            <a:off x="0" y="4261104"/>
            <a:ext cx="12191695" cy="365760"/>
          </a:xfrm>
          <a:prstGeom prst="rect">
            <a:avLst/>
          </a:prstGeom>
          <a:noFill/>
          <a:ln/>
        </p:spPr>
        <p:txBody>
          <a:bodyPr wrap="square" lIns="0" tIns="0" rIns="0" bIns="0" rtlCol="0" anchor="t"/>
          <a:lstStyle/>
          <a:p>
            <a:pPr algn="ctr" indent="0" marL="0">
              <a:buNone/>
            </a:pPr>
            <a:r>
              <a:rPr lang="en-US" sz="1700" dirty="0">
                <a:solidFill>
                  <a:srgbClr val="C6B9A6"/>
                </a:solidFill>
                <a:latin typeface="Segoe UI Light" pitchFamily="34" charset="0"/>
                <a:ea typeface="Segoe UI Light" pitchFamily="34" charset="-122"/>
                <a:cs typeface="Segoe UI Light" pitchFamily="34" charset="-120"/>
              </a:rPr>
              <a:t>AI compound-risk intelligence for zero-harm industrial operations</a:t>
            </a:r>
            <a:endParaRPr lang="en-US" sz="1700" dirty="0"/>
          </a:p>
        </p:txBody>
      </p:sp>
      <p:sp>
        <p:nvSpPr>
          <p:cNvPr id="11" name="Text 9"/>
          <p:cNvSpPr/>
          <p:nvPr/>
        </p:nvSpPr>
        <p:spPr>
          <a:xfrm>
            <a:off x="0" y="5440680"/>
            <a:ext cx="12191695" cy="365760"/>
          </a:xfrm>
          <a:prstGeom prst="rect">
            <a:avLst/>
          </a:prstGeom>
          <a:noFill/>
          <a:ln/>
        </p:spPr>
        <p:txBody>
          <a:bodyPr wrap="square" lIns="0" tIns="0" rIns="0" bIns="0" rtlCol="0" anchor="t"/>
          <a:lstStyle/>
          <a:p>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100%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compound recall</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false-positive</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7.4</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min mean lead</a:t>
            </a:r>
            <a:endParaRPr lang="en-US" sz="1400" dirty="0"/>
          </a:p>
        </p:txBody>
      </p:sp>
      <p:sp>
        <p:nvSpPr>
          <p:cNvPr id="12" name="Text 10"/>
          <p:cNvSpPr/>
          <p:nvPr/>
        </p:nvSpPr>
        <p:spPr>
          <a:xfrm>
            <a:off x="0" y="6355080"/>
            <a:ext cx="12191695" cy="274320"/>
          </a:xfrm>
          <a:prstGeom prst="rect">
            <a:avLst/>
          </a:prstGeom>
          <a:noFill/>
          <a:ln/>
        </p:spPr>
        <p:txBody>
          <a:bodyPr wrap="square" lIns="0" tIns="0" rIns="0" bIns="0" rtlCol="0" anchor="t"/>
          <a:lstStyle/>
          <a:p>
            <a:pPr algn="ctr" indent="0" marL="0">
              <a:buNone/>
            </a:pPr>
            <a:r>
              <a:rPr lang="en-US" sz="950" spc="200" kern="0" dirty="0">
                <a:solidFill>
                  <a:srgbClr val="8A7B68"/>
                </a:solidFill>
                <a:latin typeface="Cascadia Mono" pitchFamily="34" charset="0"/>
                <a:ea typeface="Cascadia Mono" pitchFamily="34" charset="-122"/>
                <a:cs typeface="Cascadia Mono" pitchFamily="34" charset="-120"/>
              </a:rPr>
              <a:t>SAUD SATOPAY   ·   ET AI HACKATHON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02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PROBLEM</a:t>
            </a:r>
            <a:endParaRPr lang="en-US" sz="1050" dirty="0"/>
          </a:p>
        </p:txBody>
      </p:sp>
      <p:sp>
        <p:nvSpPr>
          <p:cNvPr id="8" name="Text 6"/>
          <p:cNvSpPr/>
          <p:nvPr/>
        </p:nvSpPr>
        <p:spPr>
          <a:xfrm>
            <a:off x="777240" y="969264"/>
            <a:ext cx="6035040" cy="1645920"/>
          </a:xfrm>
          <a:prstGeom prst="rect">
            <a:avLst/>
          </a:prstGeom>
          <a:noFill/>
          <a:ln/>
        </p:spPr>
        <p:txBody>
          <a:bodyPr wrap="square" lIns="0" tIns="0" rIns="0" bIns="0" rtlCol="0" anchor="t"/>
          <a:lstStyle/>
          <a:p>
            <a:pPr algn="l" indent="0" marL="0">
              <a:lnSpc>
                <a:spcPct val="102000"/>
              </a:lnSpc>
              <a:buNone/>
            </a:pPr>
            <a:r>
              <a:rPr lang="en-US" sz="4000" dirty="0">
                <a:solidFill>
                  <a:srgbClr val="FBF6EC"/>
                </a:solidFill>
                <a:latin typeface="Bahnschrift SemiBold" pitchFamily="34" charset="0"/>
                <a:ea typeface="Bahnschrift SemiBold" pitchFamily="34" charset="-122"/>
                <a:cs typeface="Bahnschrift SemiBold" pitchFamily="34" charset="-120"/>
              </a:rPr>
              <a:t>Data present.</a:t>
            </a:r>
            <a:endParaRPr lang="en-US" sz="4000" dirty="0"/>
          </a:p>
          <a:p>
            <a:pPr algn="l" indent="0" marL="0">
              <a:lnSpc>
                <a:spcPct val="102000"/>
              </a:lnSpc>
              <a:buNone/>
            </a:pPr>
            <a:r>
              <a:rPr lang="en-US" sz="4000" dirty="0">
                <a:solidFill>
                  <a:srgbClr val="FBF6EC"/>
                </a:solidFill>
                <a:latin typeface="Bahnschrift SemiBold" pitchFamily="34" charset="0"/>
                <a:ea typeface="Bahnschrift SemiBold" pitchFamily="34" charset="-122"/>
                <a:cs typeface="Bahnschrift SemiBold" pitchFamily="34" charset="-120"/>
              </a:rPr>
              <a:t>Unacted upon.</a:t>
            </a:r>
            <a:endParaRPr lang="en-US" sz="4000" dirty="0"/>
          </a:p>
        </p:txBody>
      </p:sp>
      <p:sp>
        <p:nvSpPr>
          <p:cNvPr id="9" name="Text 7"/>
          <p:cNvSpPr/>
          <p:nvPr/>
        </p:nvSpPr>
        <p:spPr>
          <a:xfrm>
            <a:off x="777240" y="3063240"/>
            <a:ext cx="5943600" cy="2377440"/>
          </a:xfrm>
          <a:prstGeom prst="rect">
            <a:avLst/>
          </a:prstGeom>
          <a:noFill/>
          <a:ln/>
        </p:spPr>
        <p:txBody>
          <a:bodyPr wrap="square" lIns="0" tIns="0" rIns="0" bIns="0" rtlCol="0" anchor="t"/>
          <a:lstStyle/>
          <a:p>
            <a:pPr indent="0" marL="0">
              <a:lnSpc>
                <a:spcPct val="130000"/>
              </a:lnSpc>
              <a:buNone/>
            </a:pPr>
            <a:r>
              <a:rPr lang="en-US" sz="1700" b="1" dirty="0">
                <a:solidFill>
                  <a:srgbClr val="FBF6EC"/>
                </a:solidFill>
                <a:latin typeface="Segoe UI" pitchFamily="34" charset="0"/>
                <a:ea typeface="Segoe UI" pitchFamily="34" charset="-122"/>
                <a:cs typeface="Segoe UI" pitchFamily="34" charset="-120"/>
              </a:rPr>
              <a:t>On 13 January 2025, eight workers died</a:t>
            </a:r>
            <a:endParaRPr lang="en-US" sz="1700" dirty="0"/>
          </a:p>
          <a:p>
            <a:pPr indent="0" marL="0">
              <a:lnSpc>
                <a:spcPct val="130000"/>
              </a:lnSpc>
              <a:buNone/>
            </a:pPr>
            <a:r>
              <a:rPr lang="en-US" sz="1700" dirty="0">
                <a:solidFill>
                  <a:srgbClr val="C6B9A6"/>
                </a:solidFill>
                <a:latin typeface="Segoe UI" pitchFamily="34" charset="0"/>
                <a:ea typeface="Segoe UI" pitchFamily="34" charset="-122"/>
                <a:cs typeface="Segoe UI" pitchFamily="34" charset="-120"/>
              </a:rPr>
              <a:t>in a coke-oven-battery explosion at the Visakhapatnam Steel Plant.</a:t>
            </a:r>
            <a:endParaRPr lang="en-US" sz="1700" dirty="0"/>
          </a:p>
          <a:p>
            <a:pPr indent="0" marL="0">
              <a:lnSpc>
                <a:spcPct val="130000"/>
              </a:lnSpc>
              <a:buNone/>
            </a:pPr>
            <a:r>
              <a:rPr lang="en-US" sz="800" dirty="0">
                <a:solidFill>
                  <a:srgbClr val="000000"/>
                </a:solidFill>
                <a:latin typeface="Segoe UI" pitchFamily="34" charset="0"/>
                <a:ea typeface="Segoe UI" pitchFamily="34" charset="-122"/>
                <a:cs typeface="Segoe UI" pitchFamily="34" charset="-120"/>
              </a:rPr>
              <a:t> </a:t>
            </a:r>
            <a:endParaRPr lang="en-US" sz="1700" dirty="0"/>
          </a:p>
          <a:p>
            <a:pPr indent="0" marL="0">
              <a:lnSpc>
                <a:spcPct val="130000"/>
              </a:lnSpc>
              <a:buNone/>
            </a:pPr>
            <a:r>
              <a:rPr lang="en-US" sz="1700" dirty="0">
                <a:solidFill>
                  <a:srgbClr val="C6B9A6"/>
                </a:solidFill>
                <a:latin typeface="Segoe UI" pitchFamily="34" charset="0"/>
                <a:ea typeface="Segoe UI" pitchFamily="34" charset="-122"/>
                <a:cs typeface="Segoe UI" pitchFamily="34" charset="-120"/>
              </a:rPr>
              <a:t>The gas sensors had data. The permits were logged. SCADA was running.</a:t>
            </a:r>
            <a:endParaRPr lang="en-US" sz="1700" dirty="0"/>
          </a:p>
          <a:p>
            <a:pPr indent="0" marL="0">
              <a:lnSpc>
                <a:spcPct val="130000"/>
              </a:lnSpc>
              <a:buNone/>
            </a:pPr>
            <a:r>
              <a:rPr lang="en-US" sz="1700" b="1" dirty="0">
                <a:solidFill>
                  <a:srgbClr val="FF2B4E"/>
                </a:solidFill>
                <a:latin typeface="Segoe UI" pitchFamily="34" charset="0"/>
                <a:ea typeface="Segoe UI" pitchFamily="34" charset="-122"/>
                <a:cs typeface="Segoe UI" pitchFamily="34" charset="-120"/>
              </a:rPr>
              <a:t>No layer connected those signals in time.</a:t>
            </a:r>
            <a:endParaRPr lang="en-US" sz="1700" dirty="0"/>
          </a:p>
        </p:txBody>
      </p:sp>
      <p:sp>
        <p:nvSpPr>
          <p:cNvPr id="10" name="Shape 8"/>
          <p:cNvSpPr/>
          <p:nvPr/>
        </p:nvSpPr>
        <p:spPr>
          <a:xfrm>
            <a:off x="7269480" y="1783080"/>
            <a:ext cx="4144975" cy="0"/>
          </a:xfrm>
          <a:prstGeom prst="line">
            <a:avLst/>
          </a:prstGeom>
          <a:noFill/>
          <a:ln w="12700">
            <a:solidFill>
              <a:srgbClr val="2A2118"/>
            </a:solidFill>
            <a:prstDash val="solid"/>
          </a:ln>
        </p:spPr>
      </p:sp>
      <p:sp>
        <p:nvSpPr>
          <p:cNvPr id="11" name="Text 9"/>
          <p:cNvSpPr/>
          <p:nvPr/>
        </p:nvSpPr>
        <p:spPr>
          <a:xfrm>
            <a:off x="7269480" y="1911096"/>
            <a:ext cx="2286000" cy="868680"/>
          </a:xfrm>
          <a:prstGeom prst="rect">
            <a:avLst/>
          </a:prstGeom>
          <a:noFill/>
          <a:ln/>
        </p:spPr>
        <p:txBody>
          <a:bodyPr wrap="square" lIns="0" tIns="0" rIns="0" bIns="0" rtlCol="0" anchor="t"/>
          <a:lstStyle/>
          <a:p>
            <a:pPr indent="0" marL="0">
              <a:buNone/>
            </a:pPr>
            <a:r>
              <a:rPr lang="en-US" sz="4200" dirty="0">
                <a:solidFill>
                  <a:srgbClr val="FF2B4E"/>
                </a:solidFill>
                <a:latin typeface="Bahnschrift SemiBold" pitchFamily="34" charset="0"/>
                <a:ea typeface="Bahnschrift SemiBold" pitchFamily="34" charset="-122"/>
                <a:cs typeface="Bahnschrift SemiBold" pitchFamily="34" charset="-120"/>
              </a:rPr>
              <a:t>8</a:t>
            </a:r>
            <a:endParaRPr lang="en-US" sz="4200" dirty="0"/>
          </a:p>
        </p:txBody>
      </p:sp>
      <p:sp>
        <p:nvSpPr>
          <p:cNvPr id="12" name="Text 10"/>
          <p:cNvSpPr/>
          <p:nvPr/>
        </p:nvSpPr>
        <p:spPr>
          <a:xfrm>
            <a:off x="9601200" y="1965960"/>
            <a:ext cx="1813255" cy="777240"/>
          </a:xfrm>
          <a:prstGeom prst="rect">
            <a:avLst/>
          </a:prstGeom>
          <a:noFill/>
          <a:ln/>
        </p:spPr>
        <p:txBody>
          <a:bodyPr wrap="square" lIns="0" tIns="0" rIns="0" bIns="0" rtlCol="0" anchor="ctr"/>
          <a:lstStyle/>
          <a:p>
            <a:pPr indent="0" marL="0">
              <a:lnSpc>
                <a:spcPct val="110000"/>
              </a:lnSpc>
              <a:buNone/>
            </a:pPr>
            <a:r>
              <a:rPr lang="en-US" sz="1250" dirty="0">
                <a:solidFill>
                  <a:srgbClr val="C6B9A6"/>
                </a:solidFill>
                <a:latin typeface="Segoe UI" pitchFamily="34" charset="0"/>
                <a:ea typeface="Segoe UI" pitchFamily="34" charset="-122"/>
                <a:cs typeface="Segoe UI" pitchFamily="34" charset="-120"/>
              </a:rPr>
              <a:t>workers killed at Vizag · Jan 2025</a:t>
            </a:r>
            <a:endParaRPr lang="en-US" sz="1250" dirty="0"/>
          </a:p>
        </p:txBody>
      </p:sp>
      <p:sp>
        <p:nvSpPr>
          <p:cNvPr id="13" name="Shape 11"/>
          <p:cNvSpPr/>
          <p:nvPr/>
        </p:nvSpPr>
        <p:spPr>
          <a:xfrm>
            <a:off x="7269480" y="3172968"/>
            <a:ext cx="4144975" cy="0"/>
          </a:xfrm>
          <a:prstGeom prst="line">
            <a:avLst/>
          </a:prstGeom>
          <a:noFill/>
          <a:ln w="12700">
            <a:solidFill>
              <a:srgbClr val="2A2118"/>
            </a:solidFill>
            <a:prstDash val="solid"/>
          </a:ln>
        </p:spPr>
      </p:sp>
      <p:sp>
        <p:nvSpPr>
          <p:cNvPr id="14" name="Text 12"/>
          <p:cNvSpPr/>
          <p:nvPr/>
        </p:nvSpPr>
        <p:spPr>
          <a:xfrm>
            <a:off x="7269480" y="3300984"/>
            <a:ext cx="2286000" cy="868680"/>
          </a:xfrm>
          <a:prstGeom prst="rect">
            <a:avLst/>
          </a:prstGeom>
          <a:noFill/>
          <a:ln/>
        </p:spPr>
        <p:txBody>
          <a:bodyPr wrap="square" lIns="0" tIns="0" rIns="0" bIns="0" rtlCol="0" anchor="t"/>
          <a:lstStyle/>
          <a:p>
            <a:pPr indent="0" marL="0">
              <a:buNone/>
            </a:pPr>
            <a:r>
              <a:rPr lang="en-US" sz="4200" dirty="0">
                <a:solidFill>
                  <a:srgbClr val="F5902B"/>
                </a:solidFill>
                <a:latin typeface="Bahnschrift SemiBold" pitchFamily="34" charset="0"/>
                <a:ea typeface="Bahnschrift SemiBold" pitchFamily="34" charset="-122"/>
                <a:cs typeface="Bahnschrift SemiBold" pitchFamily="34" charset="-120"/>
              </a:rPr>
              <a:t>~3 / day</a:t>
            </a:r>
            <a:endParaRPr lang="en-US" sz="4200" dirty="0"/>
          </a:p>
        </p:txBody>
      </p:sp>
      <p:sp>
        <p:nvSpPr>
          <p:cNvPr id="15" name="Text 13"/>
          <p:cNvSpPr/>
          <p:nvPr/>
        </p:nvSpPr>
        <p:spPr>
          <a:xfrm>
            <a:off x="9601200" y="3355848"/>
            <a:ext cx="1813255" cy="777240"/>
          </a:xfrm>
          <a:prstGeom prst="rect">
            <a:avLst/>
          </a:prstGeom>
          <a:noFill/>
          <a:ln/>
        </p:spPr>
        <p:txBody>
          <a:bodyPr wrap="square" lIns="0" tIns="0" rIns="0" bIns="0" rtlCol="0" anchor="ctr"/>
          <a:lstStyle/>
          <a:p>
            <a:pPr indent="0" marL="0">
              <a:lnSpc>
                <a:spcPct val="110000"/>
              </a:lnSpc>
              <a:buNone/>
            </a:pPr>
            <a:r>
              <a:rPr lang="en-US" sz="1250" dirty="0">
                <a:solidFill>
                  <a:srgbClr val="C6B9A6"/>
                </a:solidFill>
                <a:latin typeface="Segoe UI" pitchFamily="34" charset="0"/>
                <a:ea typeface="Segoe UI" pitchFamily="34" charset="-122"/>
                <a:cs typeface="Segoe UI" pitchFamily="34" charset="-120"/>
              </a:rPr>
              <a:t>deaths in India's registered factories (DGFASLI)</a:t>
            </a:r>
            <a:endParaRPr lang="en-US" sz="1250" dirty="0"/>
          </a:p>
        </p:txBody>
      </p:sp>
      <p:sp>
        <p:nvSpPr>
          <p:cNvPr id="16" name="Shape 14"/>
          <p:cNvSpPr/>
          <p:nvPr/>
        </p:nvSpPr>
        <p:spPr>
          <a:xfrm>
            <a:off x="7269480" y="4562856"/>
            <a:ext cx="4144975" cy="0"/>
          </a:xfrm>
          <a:prstGeom prst="line">
            <a:avLst/>
          </a:prstGeom>
          <a:noFill/>
          <a:ln w="12700">
            <a:solidFill>
              <a:srgbClr val="2A2118"/>
            </a:solidFill>
            <a:prstDash val="solid"/>
          </a:ln>
        </p:spPr>
      </p:sp>
      <p:sp>
        <p:nvSpPr>
          <p:cNvPr id="17" name="Text 15"/>
          <p:cNvSpPr/>
          <p:nvPr/>
        </p:nvSpPr>
        <p:spPr>
          <a:xfrm>
            <a:off x="7269480" y="4690872"/>
            <a:ext cx="2286000" cy="868680"/>
          </a:xfrm>
          <a:prstGeom prst="rect">
            <a:avLst/>
          </a:prstGeom>
          <a:noFill/>
          <a:ln/>
        </p:spPr>
        <p:txBody>
          <a:bodyPr wrap="square" lIns="0" tIns="0" rIns="0" bIns="0" rtlCol="0" anchor="t"/>
          <a:lstStyle/>
          <a:p>
            <a:pPr indent="0" marL="0">
              <a:buNone/>
            </a:pPr>
            <a:r>
              <a:rPr lang="en-US" sz="4200" dirty="0">
                <a:solidFill>
                  <a:srgbClr val="FF6A1A"/>
                </a:solidFill>
                <a:latin typeface="Bahnschrift SemiBold" pitchFamily="34" charset="0"/>
                <a:ea typeface="Bahnschrift SemiBold" pitchFamily="34" charset="-122"/>
                <a:cs typeface="Bahnschrift SemiBold" pitchFamily="34" charset="-120"/>
              </a:rPr>
              <a:t>0</a:t>
            </a:r>
            <a:endParaRPr lang="en-US" sz="4200" dirty="0"/>
          </a:p>
        </p:txBody>
      </p:sp>
      <p:sp>
        <p:nvSpPr>
          <p:cNvPr id="18" name="Text 16"/>
          <p:cNvSpPr/>
          <p:nvPr/>
        </p:nvSpPr>
        <p:spPr>
          <a:xfrm>
            <a:off x="9601200" y="4745736"/>
            <a:ext cx="1813255" cy="777240"/>
          </a:xfrm>
          <a:prstGeom prst="rect">
            <a:avLst/>
          </a:prstGeom>
          <a:noFill/>
          <a:ln/>
        </p:spPr>
        <p:txBody>
          <a:bodyPr wrap="square" lIns="0" tIns="0" rIns="0" bIns="0" rtlCol="0" anchor="ctr"/>
          <a:lstStyle/>
          <a:p>
            <a:pPr indent="0" marL="0">
              <a:lnSpc>
                <a:spcPct val="110000"/>
              </a:lnSpc>
              <a:buNone/>
            </a:pPr>
            <a:r>
              <a:rPr lang="en-US" sz="1250" dirty="0">
                <a:solidFill>
                  <a:srgbClr val="C6B9A6"/>
                </a:solidFill>
                <a:latin typeface="Segoe UI" pitchFamily="34" charset="0"/>
                <a:ea typeface="Segoe UI" pitchFamily="34" charset="-122"/>
                <a:cs typeface="Segoe UI" pitchFamily="34" charset="-120"/>
              </a:rPr>
              <a:t>layers connected those signals in time</a:t>
            </a:r>
            <a:endParaRPr lang="en-US" sz="1250" dirty="0"/>
          </a:p>
        </p:txBody>
      </p:sp>
      <p:sp>
        <p:nvSpPr>
          <p:cNvPr id="19" name="Shape 17"/>
          <p:cNvSpPr/>
          <p:nvPr/>
        </p:nvSpPr>
        <p:spPr>
          <a:xfrm>
            <a:off x="7269480" y="5952744"/>
            <a:ext cx="4144975" cy="0"/>
          </a:xfrm>
          <a:prstGeom prst="line">
            <a:avLst/>
          </a:prstGeom>
          <a:noFill/>
          <a:ln w="12700">
            <a:solidFill>
              <a:srgbClr val="2A211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03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VALIDATED BY THE FIELD</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The pattern, in a veteran's words</a:t>
            </a:r>
            <a:endParaRPr lang="en-US" sz="3100" dirty="0"/>
          </a:p>
        </p:txBody>
      </p:sp>
      <p:sp>
        <p:nvSpPr>
          <p:cNvPr id="9" name="Shape 7"/>
          <p:cNvSpPr/>
          <p:nvPr/>
        </p:nvSpPr>
        <p:spPr>
          <a:xfrm>
            <a:off x="795528" y="1965960"/>
            <a:ext cx="0" cy="2286000"/>
          </a:xfrm>
          <a:prstGeom prst="line">
            <a:avLst/>
          </a:prstGeom>
          <a:noFill/>
          <a:ln w="38100">
            <a:solidFill>
              <a:srgbClr val="FF6A1A"/>
            </a:solidFill>
            <a:prstDash val="solid"/>
          </a:ln>
        </p:spPr>
      </p:sp>
      <p:sp>
        <p:nvSpPr>
          <p:cNvPr id="10" name="Text 8"/>
          <p:cNvSpPr/>
          <p:nvPr/>
        </p:nvSpPr>
        <p:spPr>
          <a:xfrm>
            <a:off x="1143000" y="1993392"/>
            <a:ext cx="10271455" cy="1828800"/>
          </a:xfrm>
          <a:prstGeom prst="rect">
            <a:avLst/>
          </a:prstGeom>
          <a:noFill/>
          <a:ln/>
        </p:spPr>
        <p:txBody>
          <a:bodyPr wrap="square" lIns="0" tIns="0" rIns="0" bIns="0" rtlCol="0" anchor="t"/>
          <a:lstStyle/>
          <a:p>
            <a:pPr indent="0" marL="0">
              <a:lnSpc>
                <a:spcPct val="116000"/>
              </a:lnSpc>
              <a:buNone/>
            </a:pPr>
            <a:r>
              <a:rPr lang="en-US" sz="2200" dirty="0">
                <a:solidFill>
                  <a:srgbClr val="FBF6EC"/>
                </a:solidFill>
                <a:latin typeface="Bahnschrift Light" pitchFamily="34" charset="0"/>
                <a:ea typeface="Bahnschrift Light" pitchFamily="34" charset="-122"/>
                <a:cs typeface="Bahnschrift Light" pitchFamily="34" charset="-120"/>
              </a:rPr>
              <a:t>“In more than 30 years in gas and heavy industry, the worst incidents were never one single failure. They were usually three or four small things lining up at the same time, each looking acceptable on its own. Most of the time, nothing actually flagged that combination before it became a serious event.”</a:t>
            </a:r>
            <a:endParaRPr lang="en-US" sz="2200" dirty="0"/>
          </a:p>
        </p:txBody>
      </p:sp>
      <p:sp>
        <p:nvSpPr>
          <p:cNvPr id="11" name="Text 9"/>
          <p:cNvSpPr/>
          <p:nvPr/>
        </p:nvSpPr>
        <p:spPr>
          <a:xfrm>
            <a:off x="1143000" y="3950208"/>
            <a:ext cx="10271455" cy="274320"/>
          </a:xfrm>
          <a:prstGeom prst="rect">
            <a:avLst/>
          </a:prstGeom>
          <a:noFill/>
          <a:ln/>
        </p:spPr>
        <p:txBody>
          <a:bodyPr wrap="square" lIns="0" tIns="0" rIns="0" bIns="0" rtlCol="0" anchor="t"/>
          <a:lstStyle/>
          <a:p>
            <a:pPr indent="0" marL="0">
              <a:buNone/>
            </a:pPr>
            <a:r>
              <a:rPr lang="en-US" sz="1100" spc="100" kern="0" dirty="0">
                <a:solidFill>
                  <a:srgbClr val="FF6A1A"/>
                </a:solidFill>
                <a:latin typeface="Cascadia Mono" pitchFamily="34" charset="0"/>
                <a:ea typeface="Cascadia Mono" pitchFamily="34" charset="-122"/>
                <a:cs typeface="Cascadia Mono" pitchFamily="34" charset="-120"/>
              </a:rPr>
              <a:t>NISHAT MULLA   ·   PLANT MANAGER   ·   30+ YEARS ACROSS GAS &amp; HEAVY INDUSTRY</a:t>
            </a:r>
            <a:endParaRPr lang="en-US" sz="1100" dirty="0"/>
          </a:p>
        </p:txBody>
      </p:sp>
      <p:sp>
        <p:nvSpPr>
          <p:cNvPr id="12" name="Shape 10"/>
          <p:cNvSpPr/>
          <p:nvPr/>
        </p:nvSpPr>
        <p:spPr>
          <a:xfrm>
            <a:off x="777240" y="4663440"/>
            <a:ext cx="10637215" cy="1371600"/>
          </a:xfrm>
          <a:prstGeom prst="rect">
            <a:avLst/>
          </a:prstGeom>
          <a:solidFill>
            <a:srgbClr val="151009"/>
          </a:solidFill>
          <a:ln w="12700">
            <a:solidFill>
              <a:srgbClr val="2A2118"/>
            </a:solidFill>
            <a:prstDash val="solid"/>
          </a:ln>
        </p:spPr>
      </p:sp>
      <p:sp>
        <p:nvSpPr>
          <p:cNvPr id="13" name="Shape 11"/>
          <p:cNvSpPr/>
          <p:nvPr/>
        </p:nvSpPr>
        <p:spPr>
          <a:xfrm>
            <a:off x="777240" y="4663440"/>
            <a:ext cx="45720" cy="1371600"/>
          </a:xfrm>
          <a:prstGeom prst="rect">
            <a:avLst/>
          </a:prstGeom>
          <a:solidFill>
            <a:srgbClr val="FF6A1A"/>
          </a:solidFill>
          <a:ln/>
        </p:spPr>
      </p:sp>
      <p:sp>
        <p:nvSpPr>
          <p:cNvPr id="14" name="Text 12"/>
          <p:cNvSpPr/>
          <p:nvPr/>
        </p:nvSpPr>
        <p:spPr>
          <a:xfrm>
            <a:off x="1097280" y="4846320"/>
            <a:ext cx="7315200" cy="274320"/>
          </a:xfrm>
          <a:prstGeom prst="rect">
            <a:avLst/>
          </a:prstGeom>
          <a:noFill/>
          <a:ln/>
        </p:spPr>
        <p:txBody>
          <a:bodyPr wrap="square" lIns="0" tIns="0" rIns="0" bIns="0" rtlCol="0" anchor="t"/>
          <a:lstStyle/>
          <a:p>
            <a:pPr indent="0" marL="0">
              <a:buNone/>
            </a:pPr>
            <a:r>
              <a:rPr lang="en-US" sz="1000" spc="200" kern="0" dirty="0">
                <a:solidFill>
                  <a:srgbClr val="8A7B68"/>
                </a:solidFill>
                <a:latin typeface="Cascadia Mono" pitchFamily="34" charset="0"/>
                <a:ea typeface="Cascadia Mono" pitchFamily="34" charset="-122"/>
                <a:cs typeface="Cascadia Mono" pitchFamily="34" charset="-120"/>
              </a:rPr>
              <a:t>TRINETRA — OUR RESPONSE</a:t>
            </a:r>
            <a:endParaRPr lang="en-US" sz="1000" dirty="0"/>
          </a:p>
        </p:txBody>
      </p:sp>
      <p:sp>
        <p:nvSpPr>
          <p:cNvPr id="15" name="Text 13"/>
          <p:cNvSpPr/>
          <p:nvPr/>
        </p:nvSpPr>
        <p:spPr>
          <a:xfrm>
            <a:off x="1097280" y="5175504"/>
            <a:ext cx="9997135" cy="777240"/>
          </a:xfrm>
          <a:prstGeom prst="rect">
            <a:avLst/>
          </a:prstGeom>
          <a:noFill/>
          <a:ln/>
        </p:spPr>
        <p:txBody>
          <a:bodyPr wrap="square" lIns="0" tIns="0" rIns="0" bIns="0" rtlCol="0" anchor="t"/>
          <a:lstStyle/>
          <a:p>
            <a:pPr indent="0" marL="0">
              <a:lnSpc>
                <a:spcPct val="118000"/>
              </a:lnSpc>
              <a:buNone/>
            </a:pPr>
            <a:r>
              <a:rPr lang="en-US" sz="1300" b="1" dirty="0">
                <a:solidFill>
                  <a:srgbClr val="FF6A1A"/>
                </a:solidFill>
                <a:latin typeface="Segoe UI" pitchFamily="34" charset="0"/>
                <a:ea typeface="Segoe UI" pitchFamily="34" charset="-122"/>
                <a:cs typeface="Segoe UI" pitchFamily="34" charset="-120"/>
              </a:rPr>
              <a:t>Trinetra is that experience, encoded</a:t>
            </a:r>
            <a:pPr indent="0" marL="0">
              <a:lnSpc>
                <a:spcPct val="118000"/>
              </a:lnSpc>
              <a:buNone/>
            </a:pPr>
            <a:r>
              <a:rPr lang="en-US" sz="1300" dirty="0">
                <a:solidFill>
                  <a:srgbClr val="C6B9A6"/>
                </a:solidFill>
                <a:latin typeface="Segoe UI" pitchFamily="34" charset="0"/>
                <a:ea typeface="Segoe UI" pitchFamily="34" charset="-122"/>
                <a:cs typeface="Segoe UI" pitchFamily="34" charset="-120"/>
              </a:rPr>
              <a:t> — it watches every zone 24/7 and flags the combination the moment it forms, so the catch never depends on the right person paying attention at 3 a.m. We enforce safety culture consistently across every shift and handover.</a:t>
            </a:r>
            <a:endParaRPr lang="en-US" sz="1300" dirty="0"/>
          </a:p>
        </p:txBody>
      </p:sp>
      <p:sp>
        <p:nvSpPr>
          <p:cNvPr id="16" name="Text 14"/>
          <p:cNvSpPr/>
          <p:nvPr/>
        </p:nvSpPr>
        <p:spPr>
          <a:xfrm>
            <a:off x="777240" y="5989320"/>
            <a:ext cx="10637215" cy="274320"/>
          </a:xfrm>
          <a:prstGeom prst="rect">
            <a:avLst/>
          </a:prstGeom>
          <a:noFill/>
          <a:ln/>
        </p:spPr>
        <p:txBody>
          <a:bodyPr wrap="square" lIns="0" tIns="0" rIns="0" bIns="0" rtlCol="0" anchor="t"/>
          <a:lstStyle/>
          <a:p>
            <a:pPr indent="0" marL="0">
              <a:buNone/>
            </a:pPr>
            <a:r>
              <a:rPr lang="en-US" sz="1050" i="1" dirty="0">
                <a:solidFill>
                  <a:srgbClr val="8A7B68"/>
                </a:solidFill>
                <a:latin typeface="Segoe UI" pitchFamily="34" charset="0"/>
                <a:ea typeface="Segoe UI" pitchFamily="34" charset="-122"/>
                <a:cs typeface="Segoe UI" pitchFamily="34" charset="-120"/>
              </a:rPr>
              <a:t>Independent field validation of the problem — a practitioner, in his own words.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04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INSIGHT</a:t>
            </a:r>
            <a:endParaRPr lang="en-US" sz="1050" dirty="0"/>
          </a:p>
        </p:txBody>
      </p:sp>
      <p:sp>
        <p:nvSpPr>
          <p:cNvPr id="8" name="Text 6"/>
          <p:cNvSpPr/>
          <p:nvPr/>
        </p:nvSpPr>
        <p:spPr>
          <a:xfrm>
            <a:off x="777240" y="1280160"/>
            <a:ext cx="10637215" cy="1828800"/>
          </a:xfrm>
          <a:prstGeom prst="rect">
            <a:avLst/>
          </a:prstGeom>
          <a:noFill/>
          <a:ln/>
        </p:spPr>
        <p:txBody>
          <a:bodyPr wrap="square" lIns="0" tIns="0" rIns="0" bIns="0" rtlCol="0" anchor="t"/>
          <a:lstStyle/>
          <a:p>
            <a:pPr indent="0" marL="0">
              <a:lnSpc>
                <a:spcPct val="104000"/>
              </a:lnSpc>
              <a:buNone/>
            </a:pPr>
            <a:r>
              <a:rPr lang="en-US" sz="4600" dirty="0">
                <a:solidFill>
                  <a:srgbClr val="3FC77D"/>
                </a:solidFill>
                <a:latin typeface="Bahnschrift SemiBold" pitchFamily="34" charset="0"/>
                <a:ea typeface="Bahnschrift SemiBold" pitchFamily="34" charset="-122"/>
                <a:cs typeface="Bahnschrift SemiBold" pitchFamily="34" charset="-120"/>
              </a:rPr>
              <a:t>Three green lights.</a:t>
            </a:r>
            <a:endParaRPr lang="en-US" sz="4600" dirty="0"/>
          </a:p>
          <a:p>
            <a:pPr indent="0" marL="0">
              <a:lnSpc>
                <a:spcPct val="104000"/>
              </a:lnSpc>
              <a:buNone/>
            </a:pPr>
            <a:r>
              <a:rPr lang="en-US" sz="4600" dirty="0">
                <a:solidFill>
                  <a:srgbClr val="FF2B4E"/>
                </a:solidFill>
                <a:latin typeface="Bahnschrift SemiBold" pitchFamily="34" charset="0"/>
                <a:ea typeface="Bahnschrift SemiBold" pitchFamily="34" charset="-122"/>
                <a:cs typeface="Bahnschrift SemiBold" pitchFamily="34" charset="-120"/>
              </a:rPr>
              <a:t>One lethal combination.</a:t>
            </a:r>
            <a:endParaRPr lang="en-US" sz="4600" dirty="0"/>
          </a:p>
        </p:txBody>
      </p:sp>
      <p:sp>
        <p:nvSpPr>
          <p:cNvPr id="9" name="Shape 7"/>
          <p:cNvSpPr/>
          <p:nvPr/>
        </p:nvSpPr>
        <p:spPr>
          <a:xfrm>
            <a:off x="777240" y="3703320"/>
            <a:ext cx="3301898" cy="0"/>
          </a:xfrm>
          <a:prstGeom prst="line">
            <a:avLst/>
          </a:prstGeom>
          <a:noFill/>
          <a:ln w="12700">
            <a:solidFill>
              <a:srgbClr val="473726"/>
            </a:solidFill>
            <a:prstDash val="solid"/>
          </a:ln>
        </p:spPr>
      </p:sp>
      <p:sp>
        <p:nvSpPr>
          <p:cNvPr id="10" name="Shape 8"/>
          <p:cNvSpPr/>
          <p:nvPr/>
        </p:nvSpPr>
        <p:spPr>
          <a:xfrm>
            <a:off x="822960" y="3959352"/>
            <a:ext cx="128016" cy="128016"/>
          </a:xfrm>
          <a:prstGeom prst="ellipse">
            <a:avLst/>
          </a:prstGeom>
          <a:solidFill>
            <a:srgbClr val="7C8B9A"/>
          </a:solidFill>
          <a:ln/>
        </p:spPr>
      </p:sp>
      <p:sp>
        <p:nvSpPr>
          <p:cNvPr id="11" name="Text 9"/>
          <p:cNvSpPr/>
          <p:nvPr/>
        </p:nvSpPr>
        <p:spPr>
          <a:xfrm>
            <a:off x="1051560" y="3886200"/>
            <a:ext cx="3027578" cy="502920"/>
          </a:xfrm>
          <a:prstGeom prst="rect">
            <a:avLst/>
          </a:prstGeom>
          <a:noFill/>
          <a:ln/>
        </p:spPr>
        <p:txBody>
          <a:bodyPr wrap="square" lIns="0" tIns="0" rIns="0" bIns="0" rtlCol="0" anchor="t"/>
          <a:lstStyle/>
          <a:p>
            <a:pPr indent="0" marL="0">
              <a:lnSpc>
                <a:spcPct val="100000"/>
              </a:lnSpc>
              <a:buNone/>
            </a:pPr>
            <a:r>
              <a:rPr lang="en-US" sz="1450" dirty="0">
                <a:solidFill>
                  <a:srgbClr val="FBF6EC"/>
                </a:solidFill>
                <a:latin typeface="Bahnschrift" pitchFamily="34" charset="0"/>
                <a:ea typeface="Bahnschrift" pitchFamily="34" charset="-122"/>
                <a:cs typeface="Bahnschrift" pitchFamily="34" charset="-120"/>
              </a:rPr>
              <a:t>RISING FLAMMABLE GAS</a:t>
            </a:r>
            <a:endParaRPr lang="en-US" sz="1450" dirty="0"/>
          </a:p>
        </p:txBody>
      </p:sp>
      <p:sp>
        <p:nvSpPr>
          <p:cNvPr id="12" name="Text 10"/>
          <p:cNvSpPr/>
          <p:nvPr/>
        </p:nvSpPr>
        <p:spPr>
          <a:xfrm>
            <a:off x="1051560" y="4434840"/>
            <a:ext cx="3027578" cy="365760"/>
          </a:xfrm>
          <a:prstGeom prst="rect">
            <a:avLst/>
          </a:prstGeom>
          <a:noFill/>
          <a:ln/>
        </p:spPr>
        <p:txBody>
          <a:bodyPr wrap="square" lIns="0" tIns="0" rIns="0" bIns="0" rtlCol="0" anchor="t"/>
          <a:lstStyle/>
          <a:p>
            <a:pPr indent="0" marL="0">
              <a:buNone/>
            </a:pPr>
            <a:r>
              <a:rPr lang="en-US" sz="1250" dirty="0">
                <a:solidFill>
                  <a:srgbClr val="C6B9A6"/>
                </a:solidFill>
                <a:latin typeface="Segoe UI" pitchFamily="34" charset="0"/>
                <a:ea typeface="Segoe UI" pitchFamily="34" charset="-122"/>
                <a:cs typeface="Segoe UI" pitchFamily="34" charset="-120"/>
              </a:rPr>
              <a:t>still below its alarm</a:t>
            </a:r>
            <a:endParaRPr lang="en-US" sz="1250" dirty="0"/>
          </a:p>
        </p:txBody>
      </p:sp>
      <p:sp>
        <p:nvSpPr>
          <p:cNvPr id="13" name="Text 11"/>
          <p:cNvSpPr/>
          <p:nvPr/>
        </p:nvSpPr>
        <p:spPr>
          <a:xfrm>
            <a:off x="1051560" y="4800600"/>
            <a:ext cx="3027578" cy="274320"/>
          </a:xfrm>
          <a:prstGeom prst="rect">
            <a:avLst/>
          </a:prstGeom>
          <a:noFill/>
          <a:ln/>
        </p:spPr>
        <p:txBody>
          <a:bodyPr wrap="square" lIns="0" tIns="0" rIns="0" bIns="0" rtlCol="0" anchor="t"/>
          <a:lstStyle/>
          <a:p>
            <a:pPr indent="0" marL="0">
              <a:buNone/>
            </a:pPr>
            <a:r>
              <a:rPr lang="en-US" sz="950" spc="100" kern="0" dirty="0">
                <a:solidFill>
                  <a:srgbClr val="7C8B9A"/>
                </a:solidFill>
                <a:latin typeface="Cascadia Mono" pitchFamily="34" charset="0"/>
                <a:ea typeface="Cascadia Mono" pitchFamily="34" charset="-122"/>
                <a:cs typeface="Cascadia Mono" pitchFamily="34" charset="-120"/>
              </a:rPr>
              <a:t>reads NORMAL</a:t>
            </a:r>
            <a:endParaRPr lang="en-US" sz="950" dirty="0"/>
          </a:p>
        </p:txBody>
      </p:sp>
      <p:sp>
        <p:nvSpPr>
          <p:cNvPr id="14" name="Shape 12"/>
          <p:cNvSpPr/>
          <p:nvPr/>
        </p:nvSpPr>
        <p:spPr>
          <a:xfrm>
            <a:off x="4444898" y="3703320"/>
            <a:ext cx="3301898" cy="0"/>
          </a:xfrm>
          <a:prstGeom prst="line">
            <a:avLst/>
          </a:prstGeom>
          <a:noFill/>
          <a:ln w="12700">
            <a:solidFill>
              <a:srgbClr val="473726"/>
            </a:solidFill>
            <a:prstDash val="solid"/>
          </a:ln>
        </p:spPr>
      </p:sp>
      <p:sp>
        <p:nvSpPr>
          <p:cNvPr id="15" name="Shape 13"/>
          <p:cNvSpPr/>
          <p:nvPr/>
        </p:nvSpPr>
        <p:spPr>
          <a:xfrm>
            <a:off x="4490618" y="3959352"/>
            <a:ext cx="128016" cy="128016"/>
          </a:xfrm>
          <a:prstGeom prst="ellipse">
            <a:avLst/>
          </a:prstGeom>
          <a:solidFill>
            <a:srgbClr val="7C8B9A"/>
          </a:solidFill>
          <a:ln/>
        </p:spPr>
      </p:sp>
      <p:sp>
        <p:nvSpPr>
          <p:cNvPr id="16" name="Text 14"/>
          <p:cNvSpPr/>
          <p:nvPr/>
        </p:nvSpPr>
        <p:spPr>
          <a:xfrm>
            <a:off x="4719218" y="3886200"/>
            <a:ext cx="3027578" cy="502920"/>
          </a:xfrm>
          <a:prstGeom prst="rect">
            <a:avLst/>
          </a:prstGeom>
          <a:noFill/>
          <a:ln/>
        </p:spPr>
        <p:txBody>
          <a:bodyPr wrap="square" lIns="0" tIns="0" rIns="0" bIns="0" rtlCol="0" anchor="t"/>
          <a:lstStyle/>
          <a:p>
            <a:pPr indent="0" marL="0">
              <a:lnSpc>
                <a:spcPct val="100000"/>
              </a:lnSpc>
              <a:buNone/>
            </a:pPr>
            <a:r>
              <a:rPr lang="en-US" sz="1450" dirty="0">
                <a:solidFill>
                  <a:srgbClr val="FBF6EC"/>
                </a:solidFill>
                <a:latin typeface="Bahnschrift" pitchFamily="34" charset="0"/>
                <a:ea typeface="Bahnschrift" pitchFamily="34" charset="-122"/>
                <a:cs typeface="Bahnschrift" pitchFamily="34" charset="-120"/>
              </a:rPr>
              <a:t>ACTIVE HOT-WORK PERMIT</a:t>
            </a:r>
            <a:endParaRPr lang="en-US" sz="1450" dirty="0"/>
          </a:p>
        </p:txBody>
      </p:sp>
      <p:sp>
        <p:nvSpPr>
          <p:cNvPr id="17" name="Text 15"/>
          <p:cNvSpPr/>
          <p:nvPr/>
        </p:nvSpPr>
        <p:spPr>
          <a:xfrm>
            <a:off x="4719218" y="4434840"/>
            <a:ext cx="3027578" cy="365760"/>
          </a:xfrm>
          <a:prstGeom prst="rect">
            <a:avLst/>
          </a:prstGeom>
          <a:noFill/>
          <a:ln/>
        </p:spPr>
        <p:txBody>
          <a:bodyPr wrap="square" lIns="0" tIns="0" rIns="0" bIns="0" rtlCol="0" anchor="t"/>
          <a:lstStyle/>
          <a:p>
            <a:pPr indent="0" marL="0">
              <a:buNone/>
            </a:pPr>
            <a:r>
              <a:rPr lang="en-US" sz="1250" dirty="0">
                <a:solidFill>
                  <a:srgbClr val="C6B9A6"/>
                </a:solidFill>
                <a:latin typeface="Segoe UI" pitchFamily="34" charset="0"/>
                <a:ea typeface="Segoe UI" pitchFamily="34" charset="-122"/>
                <a:cs typeface="Segoe UI" pitchFamily="34" charset="-120"/>
              </a:rPr>
              <a:t>an ignition source</a:t>
            </a:r>
            <a:endParaRPr lang="en-US" sz="1250" dirty="0"/>
          </a:p>
        </p:txBody>
      </p:sp>
      <p:sp>
        <p:nvSpPr>
          <p:cNvPr id="18" name="Text 16"/>
          <p:cNvSpPr/>
          <p:nvPr/>
        </p:nvSpPr>
        <p:spPr>
          <a:xfrm>
            <a:off x="4719218" y="4800600"/>
            <a:ext cx="3027578" cy="274320"/>
          </a:xfrm>
          <a:prstGeom prst="rect">
            <a:avLst/>
          </a:prstGeom>
          <a:noFill/>
          <a:ln/>
        </p:spPr>
        <p:txBody>
          <a:bodyPr wrap="square" lIns="0" tIns="0" rIns="0" bIns="0" rtlCol="0" anchor="t"/>
          <a:lstStyle/>
          <a:p>
            <a:pPr indent="0" marL="0">
              <a:buNone/>
            </a:pPr>
            <a:r>
              <a:rPr lang="en-US" sz="950" spc="100" kern="0" dirty="0">
                <a:solidFill>
                  <a:srgbClr val="7C8B9A"/>
                </a:solidFill>
                <a:latin typeface="Cascadia Mono" pitchFamily="34" charset="0"/>
                <a:ea typeface="Cascadia Mono" pitchFamily="34" charset="-122"/>
                <a:cs typeface="Cascadia Mono" pitchFamily="34" charset="-120"/>
              </a:rPr>
              <a:t>reads NORMAL</a:t>
            </a:r>
            <a:endParaRPr lang="en-US" sz="950" dirty="0"/>
          </a:p>
        </p:txBody>
      </p:sp>
      <p:sp>
        <p:nvSpPr>
          <p:cNvPr id="19" name="Shape 17"/>
          <p:cNvSpPr/>
          <p:nvPr/>
        </p:nvSpPr>
        <p:spPr>
          <a:xfrm>
            <a:off x="8112557" y="3703320"/>
            <a:ext cx="3301898" cy="0"/>
          </a:xfrm>
          <a:prstGeom prst="line">
            <a:avLst/>
          </a:prstGeom>
          <a:noFill/>
          <a:ln w="12700">
            <a:solidFill>
              <a:srgbClr val="473726"/>
            </a:solidFill>
            <a:prstDash val="solid"/>
          </a:ln>
        </p:spPr>
      </p:sp>
      <p:sp>
        <p:nvSpPr>
          <p:cNvPr id="20" name="Shape 18"/>
          <p:cNvSpPr/>
          <p:nvPr/>
        </p:nvSpPr>
        <p:spPr>
          <a:xfrm>
            <a:off x="8158277" y="3959352"/>
            <a:ext cx="128016" cy="128016"/>
          </a:xfrm>
          <a:prstGeom prst="ellipse">
            <a:avLst/>
          </a:prstGeom>
          <a:solidFill>
            <a:srgbClr val="7C8B9A"/>
          </a:solidFill>
          <a:ln/>
        </p:spPr>
      </p:sp>
      <p:sp>
        <p:nvSpPr>
          <p:cNvPr id="21" name="Text 19"/>
          <p:cNvSpPr/>
          <p:nvPr/>
        </p:nvSpPr>
        <p:spPr>
          <a:xfrm>
            <a:off x="8386877" y="3886200"/>
            <a:ext cx="3027578" cy="502920"/>
          </a:xfrm>
          <a:prstGeom prst="rect">
            <a:avLst/>
          </a:prstGeom>
          <a:noFill/>
          <a:ln/>
        </p:spPr>
        <p:txBody>
          <a:bodyPr wrap="square" lIns="0" tIns="0" rIns="0" bIns="0" rtlCol="0" anchor="t"/>
          <a:lstStyle/>
          <a:p>
            <a:pPr indent="0" marL="0">
              <a:lnSpc>
                <a:spcPct val="100000"/>
              </a:lnSpc>
              <a:buNone/>
            </a:pPr>
            <a:r>
              <a:rPr lang="en-US" sz="1450" dirty="0">
                <a:solidFill>
                  <a:srgbClr val="FBF6EC"/>
                </a:solidFill>
                <a:latin typeface="Bahnschrift" pitchFamily="34" charset="0"/>
                <a:ea typeface="Bahnschrift" pitchFamily="34" charset="-122"/>
                <a:cs typeface="Bahnschrift" pitchFamily="34" charset="-120"/>
              </a:rPr>
              <a:t>PERSONNEL PRESENT</a:t>
            </a:r>
            <a:endParaRPr lang="en-US" sz="1450" dirty="0"/>
          </a:p>
        </p:txBody>
      </p:sp>
      <p:sp>
        <p:nvSpPr>
          <p:cNvPr id="22" name="Text 20"/>
          <p:cNvSpPr/>
          <p:nvPr/>
        </p:nvSpPr>
        <p:spPr>
          <a:xfrm>
            <a:off x="8386877" y="4434840"/>
            <a:ext cx="3027578" cy="365760"/>
          </a:xfrm>
          <a:prstGeom prst="rect">
            <a:avLst/>
          </a:prstGeom>
          <a:noFill/>
          <a:ln/>
        </p:spPr>
        <p:txBody>
          <a:bodyPr wrap="square" lIns="0" tIns="0" rIns="0" bIns="0" rtlCol="0" anchor="t"/>
          <a:lstStyle/>
          <a:p>
            <a:pPr indent="0" marL="0">
              <a:buNone/>
            </a:pPr>
            <a:r>
              <a:rPr lang="en-US" sz="1250" dirty="0">
                <a:solidFill>
                  <a:srgbClr val="C6B9A6"/>
                </a:solidFill>
                <a:latin typeface="Segoe UI" pitchFamily="34" charset="0"/>
                <a:ea typeface="Segoe UI" pitchFamily="34" charset="-122"/>
                <a:cs typeface="Segoe UI" pitchFamily="34" charset="-120"/>
              </a:rPr>
              <a:t>inside a confined space</a:t>
            </a:r>
            <a:endParaRPr lang="en-US" sz="1250" dirty="0"/>
          </a:p>
        </p:txBody>
      </p:sp>
      <p:sp>
        <p:nvSpPr>
          <p:cNvPr id="23" name="Text 21"/>
          <p:cNvSpPr/>
          <p:nvPr/>
        </p:nvSpPr>
        <p:spPr>
          <a:xfrm>
            <a:off x="8386877" y="4800600"/>
            <a:ext cx="3027578" cy="274320"/>
          </a:xfrm>
          <a:prstGeom prst="rect">
            <a:avLst/>
          </a:prstGeom>
          <a:noFill/>
          <a:ln/>
        </p:spPr>
        <p:txBody>
          <a:bodyPr wrap="square" lIns="0" tIns="0" rIns="0" bIns="0" rtlCol="0" anchor="t"/>
          <a:lstStyle/>
          <a:p>
            <a:pPr indent="0" marL="0">
              <a:buNone/>
            </a:pPr>
            <a:r>
              <a:rPr lang="en-US" sz="950" spc="100" kern="0" dirty="0">
                <a:solidFill>
                  <a:srgbClr val="7C8B9A"/>
                </a:solidFill>
                <a:latin typeface="Cascadia Mono" pitchFamily="34" charset="0"/>
                <a:ea typeface="Cascadia Mono" pitchFamily="34" charset="-122"/>
                <a:cs typeface="Cascadia Mono" pitchFamily="34" charset="-120"/>
              </a:rPr>
              <a:t>reads NORMAL</a:t>
            </a:r>
            <a:endParaRPr lang="en-US" sz="950" dirty="0"/>
          </a:p>
        </p:txBody>
      </p:sp>
      <p:sp>
        <p:nvSpPr>
          <p:cNvPr id="24" name="Shape 22"/>
          <p:cNvSpPr/>
          <p:nvPr/>
        </p:nvSpPr>
        <p:spPr>
          <a:xfrm>
            <a:off x="777240" y="5440680"/>
            <a:ext cx="10637215" cy="566928"/>
          </a:xfrm>
          <a:prstGeom prst="rect">
            <a:avLst/>
          </a:prstGeom>
          <a:solidFill>
            <a:srgbClr val="120D08"/>
          </a:solidFill>
          <a:ln w="12700">
            <a:solidFill>
              <a:srgbClr val="FF2B4E"/>
            </a:solidFill>
            <a:prstDash val="solid"/>
          </a:ln>
        </p:spPr>
      </p:sp>
      <p:sp>
        <p:nvSpPr>
          <p:cNvPr id="25" name="Text 23"/>
          <p:cNvSpPr/>
          <p:nvPr/>
        </p:nvSpPr>
        <p:spPr>
          <a:xfrm>
            <a:off x="1097280" y="5440680"/>
            <a:ext cx="9997135" cy="566928"/>
          </a:xfrm>
          <a:prstGeom prst="rect">
            <a:avLst/>
          </a:prstGeom>
          <a:noFill/>
          <a:ln/>
        </p:spPr>
        <p:txBody>
          <a:bodyPr wrap="square" lIns="0" tIns="0" rIns="0" bIns="0" rtlCol="0" anchor="ctr"/>
          <a:lstStyle/>
          <a:p>
            <a:pPr indent="0" marL="0">
              <a:buNone/>
            </a:pPr>
            <a:r>
              <a:rPr lang="en-US" sz="1500" b="1" dirty="0">
                <a:solidFill>
                  <a:srgbClr val="FF2B4E"/>
                </a:solidFill>
                <a:latin typeface="Bahnschrift" pitchFamily="34" charset="0"/>
                <a:ea typeface="Bahnschrift" pitchFamily="34" charset="-122"/>
                <a:cs typeface="Bahnschrift" pitchFamily="34" charset="-120"/>
              </a:rPr>
              <a:t>A lethal combination no single sensor flags  </a:t>
            </a:r>
            <a:pPr indent="0" marL="0">
              <a:buNone/>
            </a:pPr>
            <a:r>
              <a:rPr lang="en-US" sz="1500" dirty="0">
                <a:solidFill>
                  <a:srgbClr val="C6B9A6"/>
                </a:solidFill>
                <a:latin typeface="Segoe UI" pitchFamily="34" charset="0"/>
                <a:ea typeface="Segoe UI" pitchFamily="34" charset="-122"/>
                <a:cs typeface="Segoe UI" pitchFamily="34" charset="-120"/>
              </a:rPr>
              <a:t>— detected minutes before it becomes critical.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05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MOMENT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Split reality at T + 8 min</a:t>
            </a:r>
            <a:endParaRPr lang="en-US" sz="3300" dirty="0"/>
          </a:p>
        </p:txBody>
      </p:sp>
      <p:sp>
        <p:nvSpPr>
          <p:cNvPr id="9" name="Text 7"/>
          <p:cNvSpPr/>
          <p:nvPr/>
        </p:nvSpPr>
        <p:spPr>
          <a:xfrm>
            <a:off x="777240" y="2286000"/>
            <a:ext cx="4572000" cy="274320"/>
          </a:xfrm>
          <a:prstGeom prst="rect">
            <a:avLst/>
          </a:prstGeom>
          <a:noFill/>
          <a:ln/>
        </p:spPr>
        <p:txBody>
          <a:bodyPr wrap="square" lIns="0" tIns="0" rIns="0" bIns="0" rtlCol="0" anchor="t"/>
          <a:lstStyle/>
          <a:p>
            <a:pPr indent="0" marL="0">
              <a:buNone/>
            </a:pPr>
            <a:r>
              <a:rPr lang="en-US" sz="1100" spc="100" kern="0" dirty="0">
                <a:solidFill>
                  <a:srgbClr val="7C8B9A"/>
                </a:solidFill>
                <a:latin typeface="Cascadia Mono" pitchFamily="34" charset="0"/>
                <a:ea typeface="Cascadia Mono" pitchFamily="34" charset="-122"/>
                <a:cs typeface="Cascadia Mono" pitchFamily="34" charset="-120"/>
              </a:rPr>
              <a:t>LEGACY SINGLE-SENSOR</a:t>
            </a:r>
            <a:endParaRPr lang="en-US" sz="1100" dirty="0"/>
          </a:p>
        </p:txBody>
      </p:sp>
      <p:sp>
        <p:nvSpPr>
          <p:cNvPr id="10" name="Shape 8"/>
          <p:cNvSpPr/>
          <p:nvPr/>
        </p:nvSpPr>
        <p:spPr>
          <a:xfrm>
            <a:off x="777240" y="3127248"/>
            <a:ext cx="237744" cy="237744"/>
          </a:xfrm>
          <a:prstGeom prst="ellipse">
            <a:avLst/>
          </a:prstGeom>
          <a:solidFill>
            <a:srgbClr val="7C8B9A"/>
          </a:solidFill>
          <a:ln/>
        </p:spPr>
      </p:sp>
      <p:sp>
        <p:nvSpPr>
          <p:cNvPr id="11" name="Text 9"/>
          <p:cNvSpPr/>
          <p:nvPr/>
        </p:nvSpPr>
        <p:spPr>
          <a:xfrm>
            <a:off x="1161288" y="2852928"/>
            <a:ext cx="4206240" cy="731520"/>
          </a:xfrm>
          <a:prstGeom prst="rect">
            <a:avLst/>
          </a:prstGeom>
          <a:noFill/>
          <a:ln/>
        </p:spPr>
        <p:txBody>
          <a:bodyPr wrap="square" lIns="0" tIns="0" rIns="0" bIns="0" rtlCol="0" anchor="t"/>
          <a:lstStyle/>
          <a:p>
            <a:pPr indent="0" marL="0">
              <a:buNone/>
            </a:pPr>
            <a:r>
              <a:rPr lang="en-US" sz="3800" dirty="0">
                <a:solidFill>
                  <a:srgbClr val="7C8B9A"/>
                </a:solidFill>
                <a:latin typeface="Bahnschrift SemiBold" pitchFamily="34" charset="0"/>
                <a:ea typeface="Bahnschrift SemiBold" pitchFamily="34" charset="-122"/>
                <a:cs typeface="Bahnschrift SemiBold" pitchFamily="34" charset="-120"/>
              </a:rPr>
              <a:t>ALL CLEAR</a:t>
            </a:r>
            <a:endParaRPr lang="en-US" sz="3800" dirty="0"/>
          </a:p>
        </p:txBody>
      </p:sp>
      <p:sp>
        <p:nvSpPr>
          <p:cNvPr id="12" name="Text 10"/>
          <p:cNvSpPr/>
          <p:nvPr/>
        </p:nvSpPr>
        <p:spPr>
          <a:xfrm>
            <a:off x="777240" y="3886200"/>
            <a:ext cx="4389120" cy="365760"/>
          </a:xfrm>
          <a:prstGeom prst="rect">
            <a:avLst/>
          </a:prstGeom>
          <a:noFill/>
          <a:ln/>
        </p:spPr>
        <p:txBody>
          <a:bodyPr wrap="square" lIns="0" tIns="0" rIns="0" bIns="0" rtlCol="0" anchor="t"/>
          <a:lstStyle/>
          <a:p>
            <a:pPr indent="0" marL="0">
              <a:buNone/>
            </a:pPr>
            <a:r>
              <a:rPr lang="en-US" sz="1400" dirty="0">
                <a:solidFill>
                  <a:srgbClr val="C6B9A6"/>
                </a:solidFill>
                <a:latin typeface="Segoe UI" pitchFamily="34" charset="0"/>
                <a:ea typeface="Segoe UI" pitchFamily="34" charset="-122"/>
                <a:cs typeface="Segoe UI" pitchFamily="34" charset="-120"/>
              </a:rPr>
              <a:t>Every gas reads below its setpoint.</a:t>
            </a:r>
            <a:endParaRPr lang="en-US" sz="1400" dirty="0"/>
          </a:p>
        </p:txBody>
      </p:sp>
      <p:sp>
        <p:nvSpPr>
          <p:cNvPr id="13" name="Text 11"/>
          <p:cNvSpPr/>
          <p:nvPr/>
        </p:nvSpPr>
        <p:spPr>
          <a:xfrm>
            <a:off x="777240" y="5029200"/>
            <a:ext cx="43891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threshold detection only</a:t>
            </a:r>
            <a:endParaRPr lang="en-US" sz="1000" dirty="0"/>
          </a:p>
        </p:txBody>
      </p:sp>
      <p:sp>
        <p:nvSpPr>
          <p:cNvPr id="14" name="Shape 12"/>
          <p:cNvSpPr/>
          <p:nvPr/>
        </p:nvSpPr>
        <p:spPr>
          <a:xfrm>
            <a:off x="5227168" y="2331720"/>
            <a:ext cx="0" cy="3200400"/>
          </a:xfrm>
          <a:prstGeom prst="line">
            <a:avLst/>
          </a:prstGeom>
          <a:noFill/>
          <a:ln w="12700">
            <a:solidFill>
              <a:srgbClr val="2A2118"/>
            </a:solidFill>
            <a:prstDash val="solid"/>
          </a:ln>
        </p:spPr>
      </p:sp>
      <p:sp>
        <p:nvSpPr>
          <p:cNvPr id="15" name="Text 13"/>
          <p:cNvSpPr/>
          <p:nvPr/>
        </p:nvSpPr>
        <p:spPr>
          <a:xfrm>
            <a:off x="5181448" y="2743200"/>
            <a:ext cx="1828800" cy="1005840"/>
          </a:xfrm>
          <a:prstGeom prst="rect">
            <a:avLst/>
          </a:prstGeom>
          <a:noFill/>
          <a:ln/>
        </p:spPr>
        <p:txBody>
          <a:bodyPr wrap="square" lIns="0" tIns="0" rIns="0" bIns="0" rtlCol="0" anchor="t"/>
          <a:lstStyle/>
          <a:p>
            <a:pPr algn="ctr" indent="0" marL="0">
              <a:buNone/>
            </a:pPr>
            <a:r>
              <a:rPr lang="en-US" sz="8000" dirty="0">
                <a:solidFill>
                  <a:srgbClr val="FF6A1A"/>
                </a:solidFill>
                <a:latin typeface="Bahnschrift SemiBold" pitchFamily="34" charset="0"/>
                <a:ea typeface="Bahnschrift SemiBold" pitchFamily="34" charset="-122"/>
                <a:cs typeface="Bahnschrift SemiBold" pitchFamily="34" charset="-120"/>
              </a:rPr>
              <a:t>+6</a:t>
            </a:r>
            <a:endParaRPr lang="en-US" sz="8000" dirty="0"/>
          </a:p>
        </p:txBody>
      </p:sp>
      <p:sp>
        <p:nvSpPr>
          <p:cNvPr id="16" name="Text 14"/>
          <p:cNvSpPr/>
          <p:nvPr/>
        </p:nvSpPr>
        <p:spPr>
          <a:xfrm>
            <a:off x="5181448" y="3822192"/>
            <a:ext cx="1828800" cy="274320"/>
          </a:xfrm>
          <a:prstGeom prst="rect">
            <a:avLst/>
          </a:prstGeom>
          <a:noFill/>
          <a:ln/>
        </p:spPr>
        <p:txBody>
          <a:bodyPr wrap="square" lIns="0" tIns="0" rIns="0" bIns="0" rtlCol="0" anchor="t"/>
          <a:lstStyle/>
          <a:p>
            <a:pPr algn="ctr" indent="0" marL="0">
              <a:buNone/>
            </a:pPr>
            <a:r>
              <a:rPr lang="en-US" sz="1100" spc="200" kern="0" dirty="0">
                <a:solidFill>
                  <a:srgbClr val="FF6A1A"/>
                </a:solidFill>
                <a:latin typeface="Cascadia Mono" pitchFamily="34" charset="0"/>
                <a:ea typeface="Cascadia Mono" pitchFamily="34" charset="-122"/>
                <a:cs typeface="Cascadia Mono" pitchFamily="34" charset="-120"/>
              </a:rPr>
              <a:t>MIN EARLY</a:t>
            </a:r>
            <a:endParaRPr lang="en-US" sz="1100" dirty="0"/>
          </a:p>
        </p:txBody>
      </p:sp>
      <p:sp>
        <p:nvSpPr>
          <p:cNvPr id="17" name="Shape 15"/>
          <p:cNvSpPr/>
          <p:nvPr/>
        </p:nvSpPr>
        <p:spPr>
          <a:xfrm>
            <a:off x="6964528" y="2331720"/>
            <a:ext cx="0" cy="3200400"/>
          </a:xfrm>
          <a:prstGeom prst="line">
            <a:avLst/>
          </a:prstGeom>
          <a:noFill/>
          <a:ln w="12700">
            <a:solidFill>
              <a:srgbClr val="2A2118"/>
            </a:solidFill>
            <a:prstDash val="solid"/>
          </a:ln>
        </p:spPr>
      </p:sp>
      <p:sp>
        <p:nvSpPr>
          <p:cNvPr id="18" name="Shape 16"/>
          <p:cNvSpPr/>
          <p:nvPr/>
        </p:nvSpPr>
        <p:spPr>
          <a:xfrm>
            <a:off x="7101688" y="2103120"/>
            <a:ext cx="4312768" cy="3291840"/>
          </a:xfrm>
          <a:prstGeom prst="rect">
            <a:avLst/>
          </a:prstGeom>
          <a:solidFill>
            <a:srgbClr val="120D08"/>
          </a:solidFill>
          <a:ln/>
        </p:spPr>
      </p:sp>
      <p:sp>
        <p:nvSpPr>
          <p:cNvPr id="19" name="Text 17"/>
          <p:cNvSpPr/>
          <p:nvPr/>
        </p:nvSpPr>
        <p:spPr>
          <a:xfrm>
            <a:off x="7421728" y="2286000"/>
            <a:ext cx="4572000" cy="274320"/>
          </a:xfrm>
          <a:prstGeom prst="rect">
            <a:avLst/>
          </a:prstGeom>
          <a:noFill/>
          <a:ln/>
        </p:spPr>
        <p:txBody>
          <a:bodyPr wrap="square" lIns="0" tIns="0" rIns="0" bIns="0" rtlCol="0" anchor="t"/>
          <a:lstStyle/>
          <a:p>
            <a:pPr indent="0" marL="0">
              <a:buNone/>
            </a:pPr>
            <a:r>
              <a:rPr lang="en-US" sz="1100" spc="100" kern="0" dirty="0">
                <a:solidFill>
                  <a:srgbClr val="FF6A1A"/>
                </a:solidFill>
                <a:latin typeface="Cascadia Mono" pitchFamily="34" charset="0"/>
                <a:ea typeface="Cascadia Mono" pitchFamily="34" charset="-122"/>
                <a:cs typeface="Cascadia Mono" pitchFamily="34" charset="-120"/>
              </a:rPr>
              <a:t>TRINETRA COMPOUND AI</a:t>
            </a:r>
            <a:endParaRPr lang="en-US" sz="1100" dirty="0"/>
          </a:p>
        </p:txBody>
      </p:sp>
      <p:sp>
        <p:nvSpPr>
          <p:cNvPr id="20" name="Shape 18"/>
          <p:cNvSpPr/>
          <p:nvPr/>
        </p:nvSpPr>
        <p:spPr>
          <a:xfrm>
            <a:off x="7421728" y="3127248"/>
            <a:ext cx="237744" cy="237744"/>
          </a:xfrm>
          <a:prstGeom prst="ellipse">
            <a:avLst/>
          </a:prstGeom>
          <a:solidFill>
            <a:srgbClr val="FF2B4E"/>
          </a:solidFill>
          <a:ln/>
        </p:spPr>
      </p:sp>
      <p:sp>
        <p:nvSpPr>
          <p:cNvPr id="21" name="Text 19"/>
          <p:cNvSpPr/>
          <p:nvPr/>
        </p:nvSpPr>
        <p:spPr>
          <a:xfrm>
            <a:off x="7805776" y="2907792"/>
            <a:ext cx="4480560" cy="640080"/>
          </a:xfrm>
          <a:prstGeom prst="rect">
            <a:avLst/>
          </a:prstGeom>
          <a:noFill/>
          <a:ln/>
        </p:spPr>
        <p:txBody>
          <a:bodyPr wrap="square" lIns="0" tIns="0" rIns="0" bIns="0" rtlCol="0" anchor="t"/>
          <a:lstStyle/>
          <a:p>
            <a:pPr indent="0" marL="0">
              <a:buNone/>
            </a:pPr>
            <a:r>
              <a:rPr lang="en-US" sz="2700" dirty="0">
                <a:solidFill>
                  <a:srgbClr val="FF2B4E"/>
                </a:solidFill>
                <a:latin typeface="Bahnschrift SemiBold" pitchFamily="34" charset="0"/>
                <a:ea typeface="Bahnschrift SemiBold" pitchFamily="34" charset="-122"/>
                <a:cs typeface="Bahnschrift SemiBold" pitchFamily="34" charset="-120"/>
              </a:rPr>
              <a:t>COMPOUND ALERT</a:t>
            </a:r>
            <a:endParaRPr lang="en-US" sz="2700" dirty="0"/>
          </a:p>
        </p:txBody>
      </p:sp>
      <p:sp>
        <p:nvSpPr>
          <p:cNvPr id="22" name="Text 20"/>
          <p:cNvSpPr/>
          <p:nvPr/>
        </p:nvSpPr>
        <p:spPr>
          <a:xfrm>
            <a:off x="7421728" y="3840480"/>
            <a:ext cx="3992728" cy="731520"/>
          </a:xfrm>
          <a:prstGeom prst="rect">
            <a:avLst/>
          </a:prstGeom>
          <a:noFill/>
          <a:ln/>
        </p:spPr>
        <p:txBody>
          <a:bodyPr wrap="square" lIns="0" tIns="0" rIns="0" bIns="0" rtlCol="0" anchor="t"/>
          <a:lstStyle/>
          <a:p>
            <a:pPr indent="0" marL="0">
              <a:lnSpc>
                <a:spcPct val="125000"/>
              </a:lnSpc>
              <a:buNone/>
            </a:pPr>
            <a:r>
              <a:rPr lang="en-US" sz="1350" dirty="0">
                <a:solidFill>
                  <a:srgbClr val="FBF6EC"/>
                </a:solidFill>
                <a:latin typeface="Segoe UI" pitchFamily="34" charset="0"/>
                <a:ea typeface="Segoe UI" pitchFamily="34" charset="-122"/>
                <a:cs typeface="Segoe UI" pitchFamily="34" charset="-120"/>
              </a:rPr>
              <a:t>COB-1 critical · breach predicted ~36 min</a:t>
            </a:r>
            <a:endParaRPr lang="en-US" sz="1350" dirty="0"/>
          </a:p>
          <a:p>
            <a:pPr indent="0" marL="0">
              <a:lnSpc>
                <a:spcPct val="125000"/>
              </a:lnSpc>
              <a:buNone/>
            </a:pPr>
            <a:r>
              <a:rPr lang="en-US" sz="1350" dirty="0">
                <a:solidFill>
                  <a:srgbClr val="C6B9A6"/>
                </a:solidFill>
                <a:latin typeface="Segoe UI" pitchFamily="34" charset="0"/>
                <a:ea typeface="Segoe UI" pitchFamily="34" charset="-122"/>
                <a:cs typeface="Segoe UI" pitchFamily="34" charset="-120"/>
              </a:rPr>
              <a:t>rising CH4 + hot-work permit + 3 personnel</a:t>
            </a:r>
            <a:endParaRPr lang="en-US" sz="1350" dirty="0"/>
          </a:p>
        </p:txBody>
      </p:sp>
      <p:sp>
        <p:nvSpPr>
          <p:cNvPr id="23" name="Text 21"/>
          <p:cNvSpPr/>
          <p:nvPr/>
        </p:nvSpPr>
        <p:spPr>
          <a:xfrm>
            <a:off x="7421728" y="5029200"/>
            <a:ext cx="43891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multi-signal fusion</a:t>
            </a:r>
            <a:endParaRPr lang="en-US" sz="1000" dirty="0"/>
          </a:p>
        </p:txBody>
      </p:sp>
      <p:sp>
        <p:nvSpPr>
          <p:cNvPr id="24" name="Text 22"/>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Six minutes of warning — while every gas sensor still reads below its setpoint.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06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HOW IT WORKS</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One multi-modal brain</a:t>
            </a:r>
            <a:endParaRPr lang="en-US" sz="3300" dirty="0"/>
          </a:p>
        </p:txBody>
      </p:sp>
      <p:sp>
        <p:nvSpPr>
          <p:cNvPr id="9" name="Shape 7"/>
          <p:cNvSpPr/>
          <p:nvPr/>
        </p:nvSpPr>
        <p:spPr>
          <a:xfrm>
            <a:off x="941832" y="2212848"/>
            <a:ext cx="365760" cy="45720"/>
          </a:xfrm>
          <a:prstGeom prst="rect">
            <a:avLst/>
          </a:prstGeom>
          <a:solidFill>
            <a:srgbClr val="FF6A1A"/>
          </a:solidFill>
          <a:ln/>
        </p:spPr>
      </p:sp>
      <p:sp>
        <p:nvSpPr>
          <p:cNvPr id="10" name="Text 8"/>
          <p:cNvSpPr/>
          <p:nvPr/>
        </p:nvSpPr>
        <p:spPr>
          <a:xfrm>
            <a:off x="941832" y="2377440"/>
            <a:ext cx="1853123" cy="274320"/>
          </a:xfrm>
          <a:prstGeom prst="rect">
            <a:avLst/>
          </a:prstGeom>
          <a:noFill/>
          <a:ln/>
        </p:spPr>
        <p:txBody>
          <a:bodyPr wrap="square" lIns="0" tIns="0" rIns="0" bIns="0" rtlCol="0" anchor="t"/>
          <a:lstStyle/>
          <a:p>
            <a:pPr indent="0" marL="0">
              <a:buNone/>
            </a:pPr>
            <a:r>
              <a:rPr lang="en-US" sz="1000" dirty="0">
                <a:solidFill>
                  <a:srgbClr val="FF6A1A"/>
                </a:solidFill>
                <a:latin typeface="Cascadia Mono" pitchFamily="34" charset="0"/>
                <a:ea typeface="Cascadia Mono" pitchFamily="34" charset="-122"/>
                <a:cs typeface="Cascadia Mono" pitchFamily="34" charset="-120"/>
              </a:rPr>
              <a:t>01</a:t>
            </a:r>
            <a:endParaRPr lang="en-US" sz="1000" dirty="0"/>
          </a:p>
        </p:txBody>
      </p:sp>
      <p:sp>
        <p:nvSpPr>
          <p:cNvPr id="11" name="Text 9"/>
          <p:cNvSpPr/>
          <p:nvPr/>
        </p:nvSpPr>
        <p:spPr>
          <a:xfrm>
            <a:off x="941832" y="2697480"/>
            <a:ext cx="1834835" cy="868680"/>
          </a:xfrm>
          <a:prstGeom prst="rect">
            <a:avLst/>
          </a:prstGeom>
          <a:noFill/>
          <a:ln/>
        </p:spPr>
        <p:txBody>
          <a:bodyPr wrap="square" lIns="0" tIns="0" rIns="0" bIns="0" rtlCol="0" anchor="t"/>
          <a:lstStyle/>
          <a:p>
            <a:pPr indent="0" marL="0">
              <a:lnSpc>
                <a:spcPct val="98000"/>
              </a:lnSpc>
              <a:buNone/>
            </a:pPr>
            <a:r>
              <a:rPr lang="en-US" sz="1700" dirty="0">
                <a:solidFill>
                  <a:srgbClr val="FBF6EC"/>
                </a:solidFill>
                <a:latin typeface="Bahnschrift" pitchFamily="34" charset="0"/>
                <a:ea typeface="Bahnschrift" pitchFamily="34" charset="-122"/>
                <a:cs typeface="Bahnschrift" pitchFamily="34" charset="-120"/>
              </a:rPr>
              <a:t>Compound</a:t>
            </a:r>
            <a:endParaRPr lang="en-US" sz="1700" dirty="0"/>
          </a:p>
          <a:p>
            <a:pPr indent="0" marL="0">
              <a:lnSpc>
                <a:spcPct val="98000"/>
              </a:lnSpc>
              <a:buNone/>
            </a:pPr>
            <a:r>
              <a:rPr lang="en-US" sz="1700" dirty="0">
                <a:solidFill>
                  <a:srgbClr val="FBF6EC"/>
                </a:solidFill>
                <a:latin typeface="Bahnschrift" pitchFamily="34" charset="0"/>
                <a:ea typeface="Bahnschrift" pitchFamily="34" charset="-122"/>
                <a:cs typeface="Bahnschrift" pitchFamily="34" charset="-120"/>
              </a:rPr>
              <a:t>Engine</a:t>
            </a:r>
            <a:endParaRPr lang="en-US" sz="1700" dirty="0"/>
          </a:p>
        </p:txBody>
      </p:sp>
      <p:sp>
        <p:nvSpPr>
          <p:cNvPr id="12" name="Text 10"/>
          <p:cNvSpPr/>
          <p:nvPr/>
        </p:nvSpPr>
        <p:spPr>
          <a:xfrm>
            <a:off x="941832" y="3657600"/>
            <a:ext cx="1834835" cy="82296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fuses gas trend + permits + people</a:t>
            </a:r>
            <a:endParaRPr lang="en-US" sz="1200" dirty="0"/>
          </a:p>
        </p:txBody>
      </p:sp>
      <p:sp>
        <p:nvSpPr>
          <p:cNvPr id="13" name="Shape 11"/>
          <p:cNvSpPr/>
          <p:nvPr/>
        </p:nvSpPr>
        <p:spPr>
          <a:xfrm>
            <a:off x="2904683" y="2194560"/>
            <a:ext cx="0" cy="2286000"/>
          </a:xfrm>
          <a:prstGeom prst="line">
            <a:avLst/>
          </a:prstGeom>
          <a:noFill/>
          <a:ln w="12700">
            <a:solidFill>
              <a:srgbClr val="2A2118"/>
            </a:solidFill>
            <a:prstDash val="solid"/>
          </a:ln>
        </p:spPr>
      </p:sp>
      <p:sp>
        <p:nvSpPr>
          <p:cNvPr id="14" name="Shape 12"/>
          <p:cNvSpPr/>
          <p:nvPr/>
        </p:nvSpPr>
        <p:spPr>
          <a:xfrm>
            <a:off x="3069275" y="2212848"/>
            <a:ext cx="365760" cy="45720"/>
          </a:xfrm>
          <a:prstGeom prst="rect">
            <a:avLst/>
          </a:prstGeom>
          <a:solidFill>
            <a:srgbClr val="C6B9A6"/>
          </a:solidFill>
          <a:ln/>
        </p:spPr>
      </p:sp>
      <p:sp>
        <p:nvSpPr>
          <p:cNvPr id="15" name="Text 13"/>
          <p:cNvSpPr/>
          <p:nvPr/>
        </p:nvSpPr>
        <p:spPr>
          <a:xfrm>
            <a:off x="3069275" y="2377440"/>
            <a:ext cx="1853123" cy="274320"/>
          </a:xfrm>
          <a:prstGeom prst="rect">
            <a:avLst/>
          </a:prstGeom>
          <a:noFill/>
          <a:ln/>
        </p:spPr>
        <p:txBody>
          <a:bodyPr wrap="square" lIns="0" tIns="0" rIns="0" bIns="0" rtlCol="0" anchor="t"/>
          <a:lstStyle/>
          <a:p>
            <a:pPr indent="0" marL="0">
              <a:buNone/>
            </a:pPr>
            <a:r>
              <a:rPr lang="en-US" sz="1000" dirty="0">
                <a:solidFill>
                  <a:srgbClr val="C6B9A6"/>
                </a:solidFill>
                <a:latin typeface="Cascadia Mono" pitchFamily="34" charset="0"/>
                <a:ea typeface="Cascadia Mono" pitchFamily="34" charset="-122"/>
                <a:cs typeface="Cascadia Mono" pitchFamily="34" charset="-120"/>
              </a:rPr>
              <a:t>02</a:t>
            </a:r>
            <a:endParaRPr lang="en-US" sz="1000" dirty="0"/>
          </a:p>
        </p:txBody>
      </p:sp>
      <p:sp>
        <p:nvSpPr>
          <p:cNvPr id="16" name="Text 14"/>
          <p:cNvSpPr/>
          <p:nvPr/>
        </p:nvSpPr>
        <p:spPr>
          <a:xfrm>
            <a:off x="3069275" y="2697480"/>
            <a:ext cx="1834835" cy="868680"/>
          </a:xfrm>
          <a:prstGeom prst="rect">
            <a:avLst/>
          </a:prstGeom>
          <a:noFill/>
          <a:ln/>
        </p:spPr>
        <p:txBody>
          <a:bodyPr wrap="square" lIns="0" tIns="0" rIns="0" bIns="0" rtlCol="0" anchor="t"/>
          <a:lstStyle/>
          <a:p>
            <a:pPr indent="0" marL="0">
              <a:lnSpc>
                <a:spcPct val="98000"/>
              </a:lnSpc>
              <a:buNone/>
            </a:pPr>
            <a:r>
              <a:rPr lang="en-US" sz="1700" dirty="0">
                <a:solidFill>
                  <a:srgbClr val="FBF6EC"/>
                </a:solidFill>
                <a:latin typeface="Bahnschrift" pitchFamily="34" charset="0"/>
                <a:ea typeface="Bahnschrift" pitchFamily="34" charset="-122"/>
                <a:cs typeface="Bahnschrift" pitchFamily="34" charset="-120"/>
              </a:rPr>
              <a:t>Vision</a:t>
            </a:r>
            <a:endParaRPr lang="en-US" sz="1700" dirty="0"/>
          </a:p>
        </p:txBody>
      </p:sp>
      <p:sp>
        <p:nvSpPr>
          <p:cNvPr id="17" name="Text 15"/>
          <p:cNvSpPr/>
          <p:nvPr/>
        </p:nvSpPr>
        <p:spPr>
          <a:xfrm>
            <a:off x="3069275" y="3657600"/>
            <a:ext cx="1834835" cy="82296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person &amp; zone-intrusion (monitoring layer)</a:t>
            </a:r>
            <a:endParaRPr lang="en-US" sz="1200" dirty="0"/>
          </a:p>
        </p:txBody>
      </p:sp>
      <p:sp>
        <p:nvSpPr>
          <p:cNvPr id="18" name="Shape 16"/>
          <p:cNvSpPr/>
          <p:nvPr/>
        </p:nvSpPr>
        <p:spPr>
          <a:xfrm>
            <a:off x="5032126" y="2194560"/>
            <a:ext cx="0" cy="2286000"/>
          </a:xfrm>
          <a:prstGeom prst="line">
            <a:avLst/>
          </a:prstGeom>
          <a:noFill/>
          <a:ln w="12700">
            <a:solidFill>
              <a:srgbClr val="2A2118"/>
            </a:solidFill>
            <a:prstDash val="solid"/>
          </a:ln>
        </p:spPr>
      </p:sp>
      <p:sp>
        <p:nvSpPr>
          <p:cNvPr id="19" name="Shape 17"/>
          <p:cNvSpPr/>
          <p:nvPr/>
        </p:nvSpPr>
        <p:spPr>
          <a:xfrm>
            <a:off x="5196718" y="2212848"/>
            <a:ext cx="365760" cy="45720"/>
          </a:xfrm>
          <a:prstGeom prst="rect">
            <a:avLst/>
          </a:prstGeom>
          <a:solidFill>
            <a:srgbClr val="C6B9A6"/>
          </a:solidFill>
          <a:ln/>
        </p:spPr>
      </p:sp>
      <p:sp>
        <p:nvSpPr>
          <p:cNvPr id="20" name="Text 18"/>
          <p:cNvSpPr/>
          <p:nvPr/>
        </p:nvSpPr>
        <p:spPr>
          <a:xfrm>
            <a:off x="5196718" y="2377440"/>
            <a:ext cx="1853123" cy="274320"/>
          </a:xfrm>
          <a:prstGeom prst="rect">
            <a:avLst/>
          </a:prstGeom>
          <a:noFill/>
          <a:ln/>
        </p:spPr>
        <p:txBody>
          <a:bodyPr wrap="square" lIns="0" tIns="0" rIns="0" bIns="0" rtlCol="0" anchor="t"/>
          <a:lstStyle/>
          <a:p>
            <a:pPr indent="0" marL="0">
              <a:buNone/>
            </a:pPr>
            <a:r>
              <a:rPr lang="en-US" sz="1000" dirty="0">
                <a:solidFill>
                  <a:srgbClr val="C6B9A6"/>
                </a:solidFill>
                <a:latin typeface="Cascadia Mono" pitchFamily="34" charset="0"/>
                <a:ea typeface="Cascadia Mono" pitchFamily="34" charset="-122"/>
                <a:cs typeface="Cascadia Mono" pitchFamily="34" charset="-120"/>
              </a:rPr>
              <a:t>03</a:t>
            </a:r>
            <a:endParaRPr lang="en-US" sz="1000" dirty="0"/>
          </a:p>
        </p:txBody>
      </p:sp>
      <p:sp>
        <p:nvSpPr>
          <p:cNvPr id="21" name="Text 19"/>
          <p:cNvSpPr/>
          <p:nvPr/>
        </p:nvSpPr>
        <p:spPr>
          <a:xfrm>
            <a:off x="5196718" y="2697480"/>
            <a:ext cx="1834835" cy="868680"/>
          </a:xfrm>
          <a:prstGeom prst="rect">
            <a:avLst/>
          </a:prstGeom>
          <a:noFill/>
          <a:ln/>
        </p:spPr>
        <p:txBody>
          <a:bodyPr wrap="square" lIns="0" tIns="0" rIns="0" bIns="0" rtlCol="0" anchor="t"/>
          <a:lstStyle/>
          <a:p>
            <a:pPr indent="0" marL="0">
              <a:lnSpc>
                <a:spcPct val="98000"/>
              </a:lnSpc>
              <a:buNone/>
            </a:pPr>
            <a:r>
              <a:rPr lang="en-US" sz="1700" dirty="0">
                <a:solidFill>
                  <a:srgbClr val="FBF6EC"/>
                </a:solidFill>
                <a:latin typeface="Bahnschrift" pitchFamily="34" charset="0"/>
                <a:ea typeface="Bahnschrift" pitchFamily="34" charset="-122"/>
                <a:cs typeface="Bahnschrift" pitchFamily="34" charset="-120"/>
              </a:rPr>
              <a:t>Reasoning</a:t>
            </a:r>
            <a:endParaRPr lang="en-US" sz="1700" dirty="0"/>
          </a:p>
          <a:p>
            <a:pPr indent="0" marL="0">
              <a:lnSpc>
                <a:spcPct val="98000"/>
              </a:lnSpc>
              <a:buNone/>
            </a:pPr>
            <a:r>
              <a:rPr lang="en-US" sz="1700" dirty="0">
                <a:solidFill>
                  <a:srgbClr val="FBF6EC"/>
                </a:solidFill>
                <a:latin typeface="Bahnschrift" pitchFamily="34" charset="0"/>
                <a:ea typeface="Bahnschrift" pitchFamily="34" charset="-122"/>
                <a:cs typeface="Bahnschrift" pitchFamily="34" charset="-120"/>
              </a:rPr>
              <a:t>Graph</a:t>
            </a:r>
            <a:endParaRPr lang="en-US" sz="1700" dirty="0"/>
          </a:p>
        </p:txBody>
      </p:sp>
      <p:sp>
        <p:nvSpPr>
          <p:cNvPr id="22" name="Text 20"/>
          <p:cNvSpPr/>
          <p:nvPr/>
        </p:nvSpPr>
        <p:spPr>
          <a:xfrm>
            <a:off x="5196718" y="3657600"/>
            <a:ext cx="1834835" cy="82296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6-stage auditable trace</a:t>
            </a:r>
            <a:endParaRPr lang="en-US" sz="1200" dirty="0"/>
          </a:p>
        </p:txBody>
      </p:sp>
      <p:sp>
        <p:nvSpPr>
          <p:cNvPr id="23" name="Shape 21"/>
          <p:cNvSpPr/>
          <p:nvPr/>
        </p:nvSpPr>
        <p:spPr>
          <a:xfrm>
            <a:off x="7159569" y="2194560"/>
            <a:ext cx="0" cy="2286000"/>
          </a:xfrm>
          <a:prstGeom prst="line">
            <a:avLst/>
          </a:prstGeom>
          <a:noFill/>
          <a:ln w="12700">
            <a:solidFill>
              <a:srgbClr val="2A2118"/>
            </a:solidFill>
            <a:prstDash val="solid"/>
          </a:ln>
        </p:spPr>
      </p:sp>
      <p:sp>
        <p:nvSpPr>
          <p:cNvPr id="24" name="Shape 22"/>
          <p:cNvSpPr/>
          <p:nvPr/>
        </p:nvSpPr>
        <p:spPr>
          <a:xfrm>
            <a:off x="7324161" y="2212848"/>
            <a:ext cx="365760" cy="45720"/>
          </a:xfrm>
          <a:prstGeom prst="rect">
            <a:avLst/>
          </a:prstGeom>
          <a:solidFill>
            <a:srgbClr val="C6B9A6"/>
          </a:solidFill>
          <a:ln/>
        </p:spPr>
      </p:sp>
      <p:sp>
        <p:nvSpPr>
          <p:cNvPr id="25" name="Text 23"/>
          <p:cNvSpPr/>
          <p:nvPr/>
        </p:nvSpPr>
        <p:spPr>
          <a:xfrm>
            <a:off x="7324161" y="2377440"/>
            <a:ext cx="1853123" cy="274320"/>
          </a:xfrm>
          <a:prstGeom prst="rect">
            <a:avLst/>
          </a:prstGeom>
          <a:noFill/>
          <a:ln/>
        </p:spPr>
        <p:txBody>
          <a:bodyPr wrap="square" lIns="0" tIns="0" rIns="0" bIns="0" rtlCol="0" anchor="t"/>
          <a:lstStyle/>
          <a:p>
            <a:pPr indent="0" marL="0">
              <a:buNone/>
            </a:pPr>
            <a:r>
              <a:rPr lang="en-US" sz="1000" dirty="0">
                <a:solidFill>
                  <a:srgbClr val="C6B9A6"/>
                </a:solidFill>
                <a:latin typeface="Cascadia Mono" pitchFamily="34" charset="0"/>
                <a:ea typeface="Cascadia Mono" pitchFamily="34" charset="-122"/>
                <a:cs typeface="Cascadia Mono" pitchFamily="34" charset="-120"/>
              </a:rPr>
              <a:t>04</a:t>
            </a:r>
            <a:endParaRPr lang="en-US" sz="1000" dirty="0"/>
          </a:p>
        </p:txBody>
      </p:sp>
      <p:sp>
        <p:nvSpPr>
          <p:cNvPr id="26" name="Text 24"/>
          <p:cNvSpPr/>
          <p:nvPr/>
        </p:nvSpPr>
        <p:spPr>
          <a:xfrm>
            <a:off x="7324161" y="2697480"/>
            <a:ext cx="1834835" cy="868680"/>
          </a:xfrm>
          <a:prstGeom prst="rect">
            <a:avLst/>
          </a:prstGeom>
          <a:noFill/>
          <a:ln/>
        </p:spPr>
        <p:txBody>
          <a:bodyPr wrap="square" lIns="0" tIns="0" rIns="0" bIns="0" rtlCol="0" anchor="t"/>
          <a:lstStyle/>
          <a:p>
            <a:pPr indent="0" marL="0">
              <a:lnSpc>
                <a:spcPct val="98000"/>
              </a:lnSpc>
              <a:buNone/>
            </a:pPr>
            <a:r>
              <a:rPr lang="en-US" sz="1700" dirty="0">
                <a:solidFill>
                  <a:srgbClr val="FBF6EC"/>
                </a:solidFill>
                <a:latin typeface="Bahnschrift" pitchFamily="34" charset="0"/>
                <a:ea typeface="Bahnschrift" pitchFamily="34" charset="-122"/>
                <a:cs typeface="Bahnschrift" pitchFamily="34" charset="-120"/>
              </a:rPr>
              <a:t>Disaster</a:t>
            </a:r>
            <a:endParaRPr lang="en-US" sz="1700" dirty="0"/>
          </a:p>
          <a:p>
            <a:pPr indent="0" marL="0">
              <a:lnSpc>
                <a:spcPct val="98000"/>
              </a:lnSpc>
              <a:buNone/>
            </a:pPr>
            <a:r>
              <a:rPr lang="en-US" sz="1700" dirty="0">
                <a:solidFill>
                  <a:srgbClr val="FBF6EC"/>
                </a:solidFill>
                <a:latin typeface="Bahnschrift" pitchFamily="34" charset="0"/>
                <a:ea typeface="Bahnschrift" pitchFamily="34" charset="-122"/>
                <a:cs typeface="Bahnschrift" pitchFamily="34" charset="-120"/>
              </a:rPr>
              <a:t>RAG</a:t>
            </a:r>
            <a:endParaRPr lang="en-US" sz="1700" dirty="0"/>
          </a:p>
        </p:txBody>
      </p:sp>
      <p:sp>
        <p:nvSpPr>
          <p:cNvPr id="27" name="Text 25"/>
          <p:cNvSpPr/>
          <p:nvPr/>
        </p:nvSpPr>
        <p:spPr>
          <a:xfrm>
            <a:off x="7324161" y="3657600"/>
            <a:ext cx="1834835" cy="82296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Gemini precedent matching</a:t>
            </a:r>
            <a:endParaRPr lang="en-US" sz="1200" dirty="0"/>
          </a:p>
        </p:txBody>
      </p:sp>
      <p:sp>
        <p:nvSpPr>
          <p:cNvPr id="28" name="Shape 26"/>
          <p:cNvSpPr/>
          <p:nvPr/>
        </p:nvSpPr>
        <p:spPr>
          <a:xfrm>
            <a:off x="9287012" y="2194560"/>
            <a:ext cx="0" cy="2286000"/>
          </a:xfrm>
          <a:prstGeom prst="line">
            <a:avLst/>
          </a:prstGeom>
          <a:noFill/>
          <a:ln w="12700">
            <a:solidFill>
              <a:srgbClr val="2A2118"/>
            </a:solidFill>
            <a:prstDash val="solid"/>
          </a:ln>
        </p:spPr>
      </p:sp>
      <p:sp>
        <p:nvSpPr>
          <p:cNvPr id="29" name="Shape 27"/>
          <p:cNvSpPr/>
          <p:nvPr/>
        </p:nvSpPr>
        <p:spPr>
          <a:xfrm>
            <a:off x="9451604" y="2212848"/>
            <a:ext cx="365760" cy="45720"/>
          </a:xfrm>
          <a:prstGeom prst="rect">
            <a:avLst/>
          </a:prstGeom>
          <a:solidFill>
            <a:srgbClr val="FF2B4E"/>
          </a:solidFill>
          <a:ln/>
        </p:spPr>
      </p:sp>
      <p:sp>
        <p:nvSpPr>
          <p:cNvPr id="30" name="Text 28"/>
          <p:cNvSpPr/>
          <p:nvPr/>
        </p:nvSpPr>
        <p:spPr>
          <a:xfrm>
            <a:off x="9451604" y="2377440"/>
            <a:ext cx="1853123" cy="274320"/>
          </a:xfrm>
          <a:prstGeom prst="rect">
            <a:avLst/>
          </a:prstGeom>
          <a:noFill/>
          <a:ln/>
        </p:spPr>
        <p:txBody>
          <a:bodyPr wrap="square" lIns="0" tIns="0" rIns="0" bIns="0" rtlCol="0" anchor="t"/>
          <a:lstStyle/>
          <a:p>
            <a:pPr indent="0" marL="0">
              <a:buNone/>
            </a:pPr>
            <a:r>
              <a:rPr lang="en-US" sz="1000" dirty="0">
                <a:solidFill>
                  <a:srgbClr val="FF2B4E"/>
                </a:solidFill>
                <a:latin typeface="Cascadia Mono" pitchFamily="34" charset="0"/>
                <a:ea typeface="Cascadia Mono" pitchFamily="34" charset="-122"/>
                <a:cs typeface="Cascadia Mono" pitchFamily="34" charset="-120"/>
              </a:rPr>
              <a:t>05</a:t>
            </a:r>
            <a:endParaRPr lang="en-US" sz="1000" dirty="0"/>
          </a:p>
        </p:txBody>
      </p:sp>
      <p:sp>
        <p:nvSpPr>
          <p:cNvPr id="31" name="Text 29"/>
          <p:cNvSpPr/>
          <p:nvPr/>
        </p:nvSpPr>
        <p:spPr>
          <a:xfrm>
            <a:off x="9451604" y="2697480"/>
            <a:ext cx="1834835" cy="868680"/>
          </a:xfrm>
          <a:prstGeom prst="rect">
            <a:avLst/>
          </a:prstGeom>
          <a:noFill/>
          <a:ln/>
        </p:spPr>
        <p:txBody>
          <a:bodyPr wrap="square" lIns="0" tIns="0" rIns="0" bIns="0" rtlCol="0" anchor="t"/>
          <a:lstStyle/>
          <a:p>
            <a:pPr indent="0" marL="0">
              <a:lnSpc>
                <a:spcPct val="98000"/>
              </a:lnSpc>
              <a:buNone/>
            </a:pPr>
            <a:r>
              <a:rPr lang="en-US" sz="1700" dirty="0">
                <a:solidFill>
                  <a:srgbClr val="FBF6EC"/>
                </a:solidFill>
                <a:latin typeface="Bahnschrift" pitchFamily="34" charset="0"/>
                <a:ea typeface="Bahnschrift" pitchFamily="34" charset="-122"/>
                <a:cs typeface="Bahnschrift" pitchFamily="34" charset="-120"/>
              </a:rPr>
              <a:t>Response</a:t>
            </a:r>
            <a:endParaRPr lang="en-US" sz="1700" dirty="0"/>
          </a:p>
        </p:txBody>
      </p:sp>
      <p:sp>
        <p:nvSpPr>
          <p:cNvPr id="32" name="Text 30"/>
          <p:cNvSpPr/>
          <p:nvPr/>
        </p:nvSpPr>
        <p:spPr>
          <a:xfrm>
            <a:off x="9451604" y="3657600"/>
            <a:ext cx="1834835" cy="82296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report + multilingual alerts</a:t>
            </a:r>
            <a:endParaRPr lang="en-US" sz="1200" dirty="0"/>
          </a:p>
        </p:txBody>
      </p:sp>
      <p:sp>
        <p:nvSpPr>
          <p:cNvPr id="33" name="Shape 31"/>
          <p:cNvSpPr/>
          <p:nvPr/>
        </p:nvSpPr>
        <p:spPr>
          <a:xfrm>
            <a:off x="777240" y="4983480"/>
            <a:ext cx="10637215" cy="914400"/>
          </a:xfrm>
          <a:prstGeom prst="rect">
            <a:avLst/>
          </a:prstGeom>
          <a:solidFill>
            <a:srgbClr val="151009"/>
          </a:solidFill>
          <a:ln w="12700">
            <a:solidFill>
              <a:srgbClr val="2A2118"/>
            </a:solidFill>
            <a:prstDash val="solid"/>
          </a:ln>
        </p:spPr>
      </p:sp>
      <p:sp>
        <p:nvSpPr>
          <p:cNvPr id="34" name="Shape 32"/>
          <p:cNvSpPr/>
          <p:nvPr/>
        </p:nvSpPr>
        <p:spPr>
          <a:xfrm>
            <a:off x="777240" y="4983480"/>
            <a:ext cx="45720" cy="914400"/>
          </a:xfrm>
          <a:prstGeom prst="rect">
            <a:avLst/>
          </a:prstGeom>
          <a:solidFill>
            <a:srgbClr val="FF6A1A"/>
          </a:solidFill>
          <a:ln/>
        </p:spPr>
      </p:sp>
      <p:sp>
        <p:nvSpPr>
          <p:cNvPr id="35" name="Text 33"/>
          <p:cNvSpPr/>
          <p:nvPr/>
        </p:nvSpPr>
        <p:spPr>
          <a:xfrm>
            <a:off x="1097280" y="4983480"/>
            <a:ext cx="9997135" cy="914400"/>
          </a:xfrm>
          <a:prstGeom prst="rect">
            <a:avLst/>
          </a:prstGeom>
          <a:noFill/>
          <a:ln/>
        </p:spPr>
        <p:txBody>
          <a:bodyPr wrap="square" lIns="0" tIns="0" rIns="0" bIns="0" rtlCol="0" anchor="ctr"/>
          <a:lstStyle/>
          <a:p>
            <a:pPr indent="0" marL="0">
              <a:lnSpc>
                <a:spcPct val="115000"/>
              </a:lnSpc>
              <a:buNone/>
            </a:pPr>
            <a:r>
              <a:rPr lang="en-US" sz="1450" b="1" dirty="0">
                <a:solidFill>
                  <a:srgbClr val="FF6A1A"/>
                </a:solidFill>
                <a:latin typeface="Bahnschrift" pitchFamily="34" charset="0"/>
                <a:ea typeface="Bahnschrift" pitchFamily="34" charset="-122"/>
                <a:cs typeface="Bahnschrift" pitchFamily="34" charset="-120"/>
              </a:rPr>
              <a:t>Hybrid by design.  </a:t>
            </a:r>
            <a:pPr indent="0" marL="0">
              <a:lnSpc>
                <a:spcPct val="115000"/>
              </a:lnSpc>
              <a:buNone/>
            </a:pPr>
            <a:r>
              <a:rPr lang="en-US" sz="1450" dirty="0">
                <a:solidFill>
                  <a:srgbClr val="C6B9A6"/>
                </a:solidFill>
                <a:latin typeface="Segoe UI" pitchFamily="34" charset="0"/>
                <a:ea typeface="Segoe UI" pitchFamily="34" charset="-122"/>
                <a:cs typeface="Segoe UI" pitchFamily="34" charset="-120"/>
              </a:rPr>
              <a:t>A transparent, deterministic backbone makes the life-safety decision — the LLM only explains, retrieves precedent, and drafts reports. No black box in the loop.</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07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DIFFERENTIATOR</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We've seen this death before</a:t>
            </a:r>
            <a:endParaRPr lang="en-US" sz="3300" dirty="0"/>
          </a:p>
        </p:txBody>
      </p:sp>
      <p:sp>
        <p:nvSpPr>
          <p:cNvPr id="9" name="Text 7"/>
          <p:cNvSpPr/>
          <p:nvPr/>
        </p:nvSpPr>
        <p:spPr>
          <a:xfrm>
            <a:off x="777240" y="2011680"/>
            <a:ext cx="3657600" cy="1828800"/>
          </a:xfrm>
          <a:prstGeom prst="rect">
            <a:avLst/>
          </a:prstGeom>
          <a:noFill/>
          <a:ln/>
        </p:spPr>
        <p:txBody>
          <a:bodyPr wrap="square" lIns="0" tIns="0" rIns="0" bIns="0" rtlCol="0" anchor="t"/>
          <a:lstStyle/>
          <a:p>
            <a:pPr indent="0" marL="0">
              <a:buNone/>
            </a:pPr>
            <a:r>
              <a:rPr lang="en-US" sz="15000" dirty="0">
                <a:solidFill>
                  <a:srgbClr val="FF2B4E"/>
                </a:solidFill>
                <a:latin typeface="Bahnschrift SemiBold" pitchFamily="34" charset="0"/>
                <a:ea typeface="Bahnschrift SemiBold" pitchFamily="34" charset="-122"/>
                <a:cs typeface="Bahnschrift SemiBold" pitchFamily="34" charset="-120"/>
              </a:rPr>
              <a:t>81</a:t>
            </a:r>
            <a:endParaRPr lang="en-US" sz="15000" dirty="0"/>
          </a:p>
        </p:txBody>
      </p:sp>
      <p:sp>
        <p:nvSpPr>
          <p:cNvPr id="10" name="Text 8"/>
          <p:cNvSpPr/>
          <p:nvPr/>
        </p:nvSpPr>
        <p:spPr>
          <a:xfrm>
            <a:off x="868680" y="3977640"/>
            <a:ext cx="3657600" cy="365760"/>
          </a:xfrm>
          <a:prstGeom prst="rect">
            <a:avLst/>
          </a:prstGeom>
          <a:noFill/>
          <a:ln/>
        </p:spPr>
        <p:txBody>
          <a:bodyPr wrap="square" lIns="0" tIns="0" rIns="0" bIns="0" rtlCol="0" anchor="t"/>
          <a:lstStyle/>
          <a:p>
            <a:pPr indent="0" marL="0">
              <a:buNone/>
            </a:pPr>
            <a:r>
              <a:rPr lang="en-US" sz="1500" spc="200" kern="0" dirty="0">
                <a:solidFill>
                  <a:srgbClr val="FF6A1A"/>
                </a:solidFill>
                <a:latin typeface="Cascadia Mono" pitchFamily="34" charset="0"/>
                <a:ea typeface="Cascadia Mono" pitchFamily="34" charset="-122"/>
                <a:cs typeface="Cascadia Mono" pitchFamily="34" charset="-120"/>
              </a:rPr>
              <a:t>% MATCH</a:t>
            </a:r>
            <a:endParaRPr lang="en-US" sz="1500" dirty="0"/>
          </a:p>
        </p:txBody>
      </p:sp>
      <p:sp>
        <p:nvSpPr>
          <p:cNvPr id="11" name="Text 9"/>
          <p:cNvSpPr/>
          <p:nvPr/>
        </p:nvSpPr>
        <p:spPr>
          <a:xfrm>
            <a:off x="777240" y="4370832"/>
            <a:ext cx="3931920" cy="548640"/>
          </a:xfrm>
          <a:prstGeom prst="rect">
            <a:avLst/>
          </a:prstGeom>
          <a:noFill/>
          <a:ln/>
        </p:spPr>
        <p:txBody>
          <a:bodyPr wrap="square" lIns="0" tIns="0" rIns="0" bIns="0" rtlCol="0" anchor="t"/>
          <a:lstStyle/>
          <a:p>
            <a:pPr indent="0" marL="0">
              <a:lnSpc>
                <a:spcPct val="115000"/>
              </a:lnSpc>
              <a:buNone/>
            </a:pPr>
            <a:r>
              <a:rPr lang="en-US" sz="1300" dirty="0">
                <a:solidFill>
                  <a:srgbClr val="C6B9A6"/>
                </a:solidFill>
                <a:latin typeface="Segoe UI" pitchFamily="34" charset="0"/>
                <a:ea typeface="Segoe UI" pitchFamily="34" charset="-122"/>
                <a:cs typeface="Segoe UI" pitchFamily="34" charset="-120"/>
              </a:rPr>
              <a:t>Visakhapatnam coke-oven explosion · 2025 · 8 killed</a:t>
            </a:r>
            <a:endParaRPr lang="en-US" sz="1300" dirty="0"/>
          </a:p>
        </p:txBody>
      </p:sp>
      <p:sp>
        <p:nvSpPr>
          <p:cNvPr id="12" name="Shape 10"/>
          <p:cNvSpPr/>
          <p:nvPr/>
        </p:nvSpPr>
        <p:spPr>
          <a:xfrm>
            <a:off x="5212080" y="2057400"/>
            <a:ext cx="0" cy="2697480"/>
          </a:xfrm>
          <a:prstGeom prst="line">
            <a:avLst/>
          </a:prstGeom>
          <a:noFill/>
          <a:ln w="12700">
            <a:solidFill>
              <a:srgbClr val="2A2118"/>
            </a:solidFill>
            <a:prstDash val="solid"/>
          </a:ln>
        </p:spPr>
      </p:sp>
      <p:sp>
        <p:nvSpPr>
          <p:cNvPr id="13" name="Text 11"/>
          <p:cNvSpPr/>
          <p:nvPr/>
        </p:nvSpPr>
        <p:spPr>
          <a:xfrm>
            <a:off x="5532120" y="2103120"/>
            <a:ext cx="5943600" cy="274320"/>
          </a:xfrm>
          <a:prstGeom prst="rect">
            <a:avLst/>
          </a:prstGeom>
          <a:noFill/>
          <a:ln/>
        </p:spPr>
        <p:txBody>
          <a:bodyPr wrap="square" lIns="0" tIns="0" rIns="0" bIns="0" rtlCol="0" anchor="t"/>
          <a:lstStyle/>
          <a:p>
            <a:pPr indent="0" marL="0">
              <a:buNone/>
            </a:pPr>
            <a:r>
              <a:rPr lang="en-US" sz="1000" spc="200" kern="0" dirty="0">
                <a:solidFill>
                  <a:srgbClr val="8A7B68"/>
                </a:solidFill>
                <a:latin typeface="Cascadia Mono" pitchFamily="34" charset="0"/>
                <a:ea typeface="Cascadia Mono" pitchFamily="34" charset="-122"/>
                <a:cs typeface="Cascadia Mono" pitchFamily="34" charset="-120"/>
              </a:rPr>
              <a:t>GROUNDED BRIEFING</a:t>
            </a:r>
            <a:endParaRPr lang="en-US" sz="1000" dirty="0"/>
          </a:p>
        </p:txBody>
      </p:sp>
      <p:sp>
        <p:nvSpPr>
          <p:cNvPr id="14" name="Text 12"/>
          <p:cNvSpPr/>
          <p:nvPr/>
        </p:nvSpPr>
        <p:spPr>
          <a:xfrm>
            <a:off x="5532120" y="2487168"/>
            <a:ext cx="5882335" cy="1920240"/>
          </a:xfrm>
          <a:prstGeom prst="rect">
            <a:avLst/>
          </a:prstGeom>
          <a:noFill/>
          <a:ln/>
        </p:spPr>
        <p:txBody>
          <a:bodyPr wrap="square" lIns="0" tIns="0" rIns="0" bIns="0" rtlCol="0" anchor="t"/>
          <a:lstStyle/>
          <a:p>
            <a:pPr indent="0" marL="0">
              <a:lnSpc>
                <a:spcPct val="122000"/>
              </a:lnSpc>
              <a:buNone/>
            </a:pPr>
            <a:r>
              <a:rPr lang="en-US" sz="1600" dirty="0">
                <a:solidFill>
                  <a:srgbClr val="FBF6EC"/>
                </a:solidFill>
                <a:latin typeface="Segoe UI Light" pitchFamily="34" charset="0"/>
                <a:ea typeface="Segoe UI Light" pitchFamily="34" charset="-122"/>
                <a:cs typeface="Segoe UI Light" pitchFamily="34" charset="-120"/>
              </a:rPr>
              <a:t>“The present condition echoes the Visakhapatnam coke-oven explosion — rising CH4 alongside an active ignition source mirrors the precedent's root cause of unacted-upon warnings. The single most important action is the immediate cessation of hot-work and evacuation of personnel.”</a:t>
            </a:r>
            <a:endParaRPr lang="en-US" sz="1600" dirty="0"/>
          </a:p>
        </p:txBody>
      </p:sp>
      <p:sp>
        <p:nvSpPr>
          <p:cNvPr id="15" name="Text 13"/>
          <p:cNvSpPr/>
          <p:nvPr/>
        </p:nvSpPr>
        <p:spPr>
          <a:xfrm>
            <a:off x="5532120" y="4983480"/>
            <a:ext cx="1005840" cy="457200"/>
          </a:xfrm>
          <a:prstGeom prst="rect">
            <a:avLst/>
          </a:prstGeom>
          <a:noFill/>
          <a:ln/>
        </p:spPr>
        <p:txBody>
          <a:bodyPr wrap="square" lIns="0" tIns="0" rIns="0" bIns="0" rtlCol="0" anchor="t"/>
          <a:lstStyle/>
          <a:p>
            <a:pPr indent="0" marL="0">
              <a:buNone/>
            </a:pPr>
            <a:r>
              <a:rPr lang="en-US" sz="2400" dirty="0">
                <a:solidFill>
                  <a:srgbClr val="FF6A1A"/>
                </a:solidFill>
                <a:latin typeface="Bahnschrift SemiBold" pitchFamily="34" charset="0"/>
                <a:ea typeface="Bahnschrift SemiBold" pitchFamily="34" charset="-122"/>
                <a:cs typeface="Bahnschrift SemiBold" pitchFamily="34" charset="-120"/>
              </a:rPr>
              <a:t>73%</a:t>
            </a:r>
            <a:endParaRPr lang="en-US" sz="2400" dirty="0"/>
          </a:p>
        </p:txBody>
      </p:sp>
      <p:sp>
        <p:nvSpPr>
          <p:cNvPr id="16" name="Text 14"/>
          <p:cNvSpPr/>
          <p:nvPr/>
        </p:nvSpPr>
        <p:spPr>
          <a:xfrm>
            <a:off x="5532120" y="5468112"/>
            <a:ext cx="20116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Texas City refinery</a:t>
            </a:r>
            <a:endParaRPr lang="en-US" sz="950" dirty="0"/>
          </a:p>
        </p:txBody>
      </p:sp>
      <p:sp>
        <p:nvSpPr>
          <p:cNvPr id="17" name="Text 15"/>
          <p:cNvSpPr/>
          <p:nvPr/>
        </p:nvSpPr>
        <p:spPr>
          <a:xfrm>
            <a:off x="7680960" y="4983480"/>
            <a:ext cx="1005840" cy="457200"/>
          </a:xfrm>
          <a:prstGeom prst="rect">
            <a:avLst/>
          </a:prstGeom>
          <a:noFill/>
          <a:ln/>
        </p:spPr>
        <p:txBody>
          <a:bodyPr wrap="square" lIns="0" tIns="0" rIns="0" bIns="0" rtlCol="0" anchor="t"/>
          <a:lstStyle/>
          <a:p>
            <a:pPr indent="0" marL="0">
              <a:buNone/>
            </a:pPr>
            <a:r>
              <a:rPr lang="en-US" sz="2400" dirty="0">
                <a:solidFill>
                  <a:srgbClr val="FF6A1A"/>
                </a:solidFill>
                <a:latin typeface="Bahnschrift SemiBold" pitchFamily="34" charset="0"/>
                <a:ea typeface="Bahnschrift SemiBold" pitchFamily="34" charset="-122"/>
                <a:cs typeface="Bahnschrift SemiBold" pitchFamily="34" charset="-120"/>
              </a:rPr>
              <a:t>71%</a:t>
            </a:r>
            <a:endParaRPr lang="en-US" sz="2400" dirty="0"/>
          </a:p>
        </p:txBody>
      </p:sp>
      <p:sp>
        <p:nvSpPr>
          <p:cNvPr id="18" name="Text 16"/>
          <p:cNvSpPr/>
          <p:nvPr/>
        </p:nvSpPr>
        <p:spPr>
          <a:xfrm>
            <a:off x="7680960" y="5468112"/>
            <a:ext cx="20116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Hot-work ignition</a:t>
            </a:r>
            <a:endParaRPr lang="en-US" sz="950" dirty="0"/>
          </a:p>
        </p:txBody>
      </p:sp>
      <p:sp>
        <p:nvSpPr>
          <p:cNvPr id="19" name="Text 17"/>
          <p:cNvSpPr/>
          <p:nvPr/>
        </p:nvSpPr>
        <p:spPr>
          <a:xfrm>
            <a:off x="9829800" y="4983480"/>
            <a:ext cx="1005840" cy="457200"/>
          </a:xfrm>
          <a:prstGeom prst="rect">
            <a:avLst/>
          </a:prstGeom>
          <a:noFill/>
          <a:ln/>
        </p:spPr>
        <p:txBody>
          <a:bodyPr wrap="square" lIns="0" tIns="0" rIns="0" bIns="0" rtlCol="0" anchor="t"/>
          <a:lstStyle/>
          <a:p>
            <a:pPr indent="0" marL="0">
              <a:buNone/>
            </a:pPr>
            <a:r>
              <a:rPr lang="en-US" sz="2400" dirty="0">
                <a:solidFill>
                  <a:srgbClr val="FF6A1A"/>
                </a:solidFill>
                <a:latin typeface="Bahnschrift SemiBold" pitchFamily="34" charset="0"/>
                <a:ea typeface="Bahnschrift SemiBold" pitchFamily="34" charset="-122"/>
                <a:cs typeface="Bahnschrift SemiBold" pitchFamily="34" charset="-120"/>
              </a:rPr>
              <a:t>—</a:t>
            </a:r>
            <a:endParaRPr lang="en-US" sz="2400" dirty="0"/>
          </a:p>
        </p:txBody>
      </p:sp>
      <p:sp>
        <p:nvSpPr>
          <p:cNvPr id="20" name="Text 18"/>
          <p:cNvSpPr/>
          <p:nvPr/>
        </p:nvSpPr>
        <p:spPr>
          <a:xfrm>
            <a:off x="9829800" y="5468112"/>
            <a:ext cx="20116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Piper Alpha</a:t>
            </a:r>
            <a:endParaRPr lang="en-US" sz="950" dirty="0"/>
          </a:p>
        </p:txBody>
      </p:sp>
      <p:sp>
        <p:nvSpPr>
          <p:cNvPr id="21" name="Text 19"/>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Live conditions embedded with Gemini, matched against a corpus of real industrial disasters.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08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PROACTIVE, NOT REACTIVE</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The hazard that hasn't happened yet</a:t>
            </a:r>
            <a:endParaRPr lang="en-US" sz="3100" dirty="0"/>
          </a:p>
        </p:txBody>
      </p:sp>
      <p:sp>
        <p:nvSpPr>
          <p:cNvPr id="9" name="Shape 7"/>
          <p:cNvSpPr/>
          <p:nvPr/>
        </p:nvSpPr>
        <p:spPr>
          <a:xfrm>
            <a:off x="777240" y="2148840"/>
            <a:ext cx="2384984" cy="0"/>
          </a:xfrm>
          <a:prstGeom prst="line">
            <a:avLst/>
          </a:prstGeom>
          <a:noFill/>
          <a:ln w="12700">
            <a:solidFill>
              <a:srgbClr val="473726"/>
            </a:solidFill>
            <a:prstDash val="solid"/>
          </a:ln>
        </p:spPr>
      </p:sp>
      <p:sp>
        <p:nvSpPr>
          <p:cNvPr id="10" name="Text 8"/>
          <p:cNvSpPr/>
          <p:nvPr/>
        </p:nvSpPr>
        <p:spPr>
          <a:xfrm>
            <a:off x="777240" y="2286000"/>
            <a:ext cx="2384984" cy="868680"/>
          </a:xfrm>
          <a:prstGeom prst="rect">
            <a:avLst/>
          </a:prstGeom>
          <a:noFill/>
          <a:ln/>
        </p:spPr>
        <p:txBody>
          <a:bodyPr wrap="square" lIns="0" tIns="0" rIns="0" bIns="0" rtlCol="0" anchor="t"/>
          <a:lstStyle/>
          <a:p>
            <a:pPr indent="0" marL="0">
              <a:buNone/>
            </a:pPr>
            <a:r>
              <a:rPr lang="en-US" sz="5200" dirty="0">
                <a:solidFill>
                  <a:srgbClr val="C6B9A6"/>
                </a:solidFill>
                <a:latin typeface="Bahnschrift SemiBold" pitchFamily="34" charset="0"/>
                <a:ea typeface="Bahnschrift SemiBold" pitchFamily="34" charset="-122"/>
                <a:cs typeface="Bahnschrift SemiBold" pitchFamily="34" charset="-120"/>
              </a:rPr>
              <a:t>228</a:t>
            </a:r>
            <a:endParaRPr lang="en-US" sz="5200" dirty="0"/>
          </a:p>
        </p:txBody>
      </p:sp>
      <p:sp>
        <p:nvSpPr>
          <p:cNvPr id="11" name="Text 9"/>
          <p:cNvSpPr/>
          <p:nvPr/>
        </p:nvSpPr>
        <p:spPr>
          <a:xfrm>
            <a:off x="777240" y="3200400"/>
            <a:ext cx="2339264" cy="54864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placements searched</a:t>
            </a:r>
            <a:endParaRPr lang="en-US" sz="1200" dirty="0"/>
          </a:p>
        </p:txBody>
      </p:sp>
      <p:sp>
        <p:nvSpPr>
          <p:cNvPr id="12" name="Shape 10"/>
          <p:cNvSpPr/>
          <p:nvPr/>
        </p:nvSpPr>
        <p:spPr>
          <a:xfrm>
            <a:off x="3436544" y="2148840"/>
            <a:ext cx="2384984" cy="0"/>
          </a:xfrm>
          <a:prstGeom prst="line">
            <a:avLst/>
          </a:prstGeom>
          <a:noFill/>
          <a:ln w="12700">
            <a:solidFill>
              <a:srgbClr val="473726"/>
            </a:solidFill>
            <a:prstDash val="solid"/>
          </a:ln>
        </p:spPr>
      </p:sp>
      <p:sp>
        <p:nvSpPr>
          <p:cNvPr id="13" name="Text 11"/>
          <p:cNvSpPr/>
          <p:nvPr/>
        </p:nvSpPr>
        <p:spPr>
          <a:xfrm>
            <a:off x="3436544" y="2286000"/>
            <a:ext cx="2384984" cy="868680"/>
          </a:xfrm>
          <a:prstGeom prst="rect">
            <a:avLst/>
          </a:prstGeom>
          <a:noFill/>
          <a:ln/>
        </p:spPr>
        <p:txBody>
          <a:bodyPr wrap="square" lIns="0" tIns="0" rIns="0" bIns="0" rtlCol="0" anchor="t"/>
          <a:lstStyle/>
          <a:p>
            <a:pPr indent="0" marL="0">
              <a:buNone/>
            </a:pPr>
            <a:r>
              <a:rPr lang="en-US" sz="5200" dirty="0">
                <a:solidFill>
                  <a:srgbClr val="FF2B4E"/>
                </a:solidFill>
                <a:latin typeface="Bahnschrift SemiBold" pitchFamily="34" charset="0"/>
                <a:ea typeface="Bahnschrift SemiBold" pitchFamily="34" charset="-122"/>
                <a:cs typeface="Bahnschrift SemiBold" pitchFamily="34" charset="-120"/>
              </a:rPr>
              <a:t>136</a:t>
            </a:r>
            <a:endParaRPr lang="en-US" sz="5200" dirty="0"/>
          </a:p>
        </p:txBody>
      </p:sp>
      <p:sp>
        <p:nvSpPr>
          <p:cNvPr id="14" name="Text 12"/>
          <p:cNvSpPr/>
          <p:nvPr/>
        </p:nvSpPr>
        <p:spPr>
          <a:xfrm>
            <a:off x="3436544" y="3200400"/>
            <a:ext cx="2339264" cy="54864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compound hazards found</a:t>
            </a:r>
            <a:endParaRPr lang="en-US" sz="1200" dirty="0"/>
          </a:p>
        </p:txBody>
      </p:sp>
      <p:sp>
        <p:nvSpPr>
          <p:cNvPr id="15" name="Shape 13"/>
          <p:cNvSpPr/>
          <p:nvPr/>
        </p:nvSpPr>
        <p:spPr>
          <a:xfrm>
            <a:off x="6095848" y="2148840"/>
            <a:ext cx="2384984" cy="0"/>
          </a:xfrm>
          <a:prstGeom prst="line">
            <a:avLst/>
          </a:prstGeom>
          <a:noFill/>
          <a:ln w="12700">
            <a:solidFill>
              <a:srgbClr val="473726"/>
            </a:solidFill>
            <a:prstDash val="solid"/>
          </a:ln>
        </p:spPr>
      </p:sp>
      <p:sp>
        <p:nvSpPr>
          <p:cNvPr id="16" name="Text 14"/>
          <p:cNvSpPr/>
          <p:nvPr/>
        </p:nvSpPr>
        <p:spPr>
          <a:xfrm>
            <a:off x="6095848" y="2286000"/>
            <a:ext cx="2384984" cy="868680"/>
          </a:xfrm>
          <a:prstGeom prst="rect">
            <a:avLst/>
          </a:prstGeom>
          <a:noFill/>
          <a:ln/>
        </p:spPr>
        <p:txBody>
          <a:bodyPr wrap="square" lIns="0" tIns="0" rIns="0" bIns="0" rtlCol="0" anchor="t"/>
          <a:lstStyle/>
          <a:p>
            <a:pPr indent="0" marL="0">
              <a:buNone/>
            </a:pPr>
            <a:r>
              <a:rPr lang="en-US" sz="5200" dirty="0">
                <a:solidFill>
                  <a:srgbClr val="F5902B"/>
                </a:solidFill>
                <a:latin typeface="Bahnschrift SemiBold" pitchFamily="34" charset="0"/>
                <a:ea typeface="Bahnschrift SemiBold" pitchFamily="34" charset="-122"/>
                <a:cs typeface="Bahnschrift SemiBold" pitchFamily="34" charset="-120"/>
              </a:rPr>
              <a:t>124</a:t>
            </a:r>
            <a:endParaRPr lang="en-US" sz="5200" dirty="0"/>
          </a:p>
        </p:txBody>
      </p:sp>
      <p:sp>
        <p:nvSpPr>
          <p:cNvPr id="17" name="Text 15"/>
          <p:cNvSpPr/>
          <p:nvPr/>
        </p:nvSpPr>
        <p:spPr>
          <a:xfrm>
            <a:off x="6095848" y="3200400"/>
            <a:ext cx="2339264" cy="54864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cross-zone (walkdowns miss)</a:t>
            </a:r>
            <a:endParaRPr lang="en-US" sz="1200" dirty="0"/>
          </a:p>
        </p:txBody>
      </p:sp>
      <p:sp>
        <p:nvSpPr>
          <p:cNvPr id="18" name="Shape 16"/>
          <p:cNvSpPr/>
          <p:nvPr/>
        </p:nvSpPr>
        <p:spPr>
          <a:xfrm>
            <a:off x="8755151" y="2148840"/>
            <a:ext cx="2384984" cy="0"/>
          </a:xfrm>
          <a:prstGeom prst="line">
            <a:avLst/>
          </a:prstGeom>
          <a:noFill/>
          <a:ln w="12700">
            <a:solidFill>
              <a:srgbClr val="473726"/>
            </a:solidFill>
            <a:prstDash val="solid"/>
          </a:ln>
        </p:spPr>
      </p:sp>
      <p:sp>
        <p:nvSpPr>
          <p:cNvPr id="19" name="Text 17"/>
          <p:cNvSpPr/>
          <p:nvPr/>
        </p:nvSpPr>
        <p:spPr>
          <a:xfrm>
            <a:off x="8755151" y="2286000"/>
            <a:ext cx="2384984" cy="868680"/>
          </a:xfrm>
          <a:prstGeom prst="rect">
            <a:avLst/>
          </a:prstGeom>
          <a:noFill/>
          <a:ln/>
        </p:spPr>
        <p:txBody>
          <a:bodyPr wrap="square" lIns="0" tIns="0" rIns="0" bIns="0" rtlCol="0" anchor="t"/>
          <a:lstStyle/>
          <a:p>
            <a:pPr indent="0" marL="0">
              <a:buNone/>
            </a:pPr>
            <a:r>
              <a:rPr lang="en-US" sz="5200" dirty="0">
                <a:solidFill>
                  <a:srgbClr val="7C8B9A"/>
                </a:solidFill>
                <a:latin typeface="Bahnschrift SemiBold" pitchFamily="34" charset="0"/>
                <a:ea typeface="Bahnschrift SemiBold" pitchFamily="34" charset="-122"/>
                <a:cs typeface="Bahnschrift SemiBold" pitchFamily="34" charset="-120"/>
              </a:rPr>
              <a:t>92</a:t>
            </a:r>
            <a:endParaRPr lang="en-US" sz="5200" dirty="0"/>
          </a:p>
        </p:txBody>
      </p:sp>
      <p:sp>
        <p:nvSpPr>
          <p:cNvPr id="20" name="Text 18"/>
          <p:cNvSpPr/>
          <p:nvPr/>
        </p:nvSpPr>
        <p:spPr>
          <a:xfrm>
            <a:off x="8755151" y="3200400"/>
            <a:ext cx="2339264" cy="54864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correctly cleared</a:t>
            </a:r>
            <a:endParaRPr lang="en-US" sz="1200" dirty="0"/>
          </a:p>
        </p:txBody>
      </p:sp>
      <p:sp>
        <p:nvSpPr>
          <p:cNvPr id="21" name="Shape 19"/>
          <p:cNvSpPr/>
          <p:nvPr/>
        </p:nvSpPr>
        <p:spPr>
          <a:xfrm>
            <a:off x="777240" y="4114800"/>
            <a:ext cx="10637215" cy="1234440"/>
          </a:xfrm>
          <a:prstGeom prst="rect">
            <a:avLst/>
          </a:prstGeom>
          <a:solidFill>
            <a:srgbClr val="120D08"/>
          </a:solidFill>
          <a:ln w="12700">
            <a:solidFill>
              <a:srgbClr val="FF2B4E"/>
            </a:solidFill>
            <a:prstDash val="solid"/>
          </a:ln>
        </p:spPr>
      </p:sp>
      <p:sp>
        <p:nvSpPr>
          <p:cNvPr id="22" name="Shape 20"/>
          <p:cNvSpPr/>
          <p:nvPr/>
        </p:nvSpPr>
        <p:spPr>
          <a:xfrm>
            <a:off x="777240" y="4114800"/>
            <a:ext cx="45720" cy="1234440"/>
          </a:xfrm>
          <a:prstGeom prst="rect">
            <a:avLst/>
          </a:prstGeom>
          <a:solidFill>
            <a:srgbClr val="FF2B4E"/>
          </a:solidFill>
          <a:ln/>
        </p:spPr>
      </p:sp>
      <p:sp>
        <p:nvSpPr>
          <p:cNvPr id="23" name="Text 21"/>
          <p:cNvSpPr/>
          <p:nvPr/>
        </p:nvSpPr>
        <p:spPr>
          <a:xfrm>
            <a:off x="1097280" y="4279392"/>
            <a:ext cx="10058400" cy="274320"/>
          </a:xfrm>
          <a:prstGeom prst="rect">
            <a:avLst/>
          </a:prstGeom>
          <a:noFill/>
          <a:ln/>
        </p:spPr>
        <p:txBody>
          <a:bodyPr wrap="square" lIns="0" tIns="0" rIns="0" bIns="0" rtlCol="0" anchor="t"/>
          <a:lstStyle/>
          <a:p>
            <a:pPr indent="0" marL="0">
              <a:buNone/>
            </a:pPr>
            <a:r>
              <a:rPr lang="en-US" sz="1000" spc="100" kern="0" dirty="0">
                <a:solidFill>
                  <a:srgbClr val="FF2B4E"/>
                </a:solidFill>
                <a:latin typeface="Cascadia Mono" pitchFamily="34" charset="0"/>
                <a:ea typeface="Cascadia Mono" pitchFamily="34" charset="-122"/>
                <a:cs typeface="Cascadia Mono" pitchFamily="34" charset="-120"/>
              </a:rPr>
              <a:t>LARGEST-BLAST-RADIUS DISCOVERY</a:t>
            </a:r>
            <a:endParaRPr lang="en-US" sz="1000" dirty="0"/>
          </a:p>
        </p:txBody>
      </p:sp>
      <p:sp>
        <p:nvSpPr>
          <p:cNvPr id="24" name="Text 22"/>
          <p:cNvSpPr/>
          <p:nvPr/>
        </p:nvSpPr>
        <p:spPr>
          <a:xfrm>
            <a:off x="1097280" y="4590288"/>
            <a:ext cx="9997135" cy="731520"/>
          </a:xfrm>
          <a:prstGeom prst="rect">
            <a:avLst/>
          </a:prstGeom>
          <a:noFill/>
          <a:ln/>
        </p:spPr>
        <p:txBody>
          <a:bodyPr wrap="square" lIns="0" tIns="0" rIns="0" bIns="0" rtlCol="0" anchor="t"/>
          <a:lstStyle/>
          <a:p>
            <a:pPr indent="0" marL="0">
              <a:lnSpc>
                <a:spcPct val="118000"/>
              </a:lnSpc>
              <a:buNone/>
            </a:pPr>
            <a:r>
              <a:rPr lang="en-US" sz="1350" dirty="0">
                <a:solidFill>
                  <a:srgbClr val="FBF6EC"/>
                </a:solidFill>
                <a:latin typeface="Segoe UI" pitchFamily="34" charset="0"/>
                <a:ea typeface="Segoe UI" pitchFamily="34" charset="-122"/>
                <a:cs typeface="Segoe UI" pitchFamily="34" charset="-120"/>
              </a:rPr>
              <a:t>Rising methane in Coke Oven Battery #1, hot work in the bay, and the crew working next door in the Gas Cleaning Plant — compound CRITICAL by T+10. The blast radius spans the gas-cleaning plant, the confined sump and the maintenance bay. No single zone looks dangerous on its own.</a:t>
            </a:r>
            <a:endParaRPr lang="en-US" sz="1350" dirty="0"/>
          </a:p>
        </p:txBody>
      </p:sp>
      <p:sp>
        <p:nvSpPr>
          <p:cNvPr id="25" name="Text 23"/>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The engine runs as an oracle across the plant's blast-radius map — discovering cross-zone compounds a zone-by-zone walkdown rates safe, before they occur.</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09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PREVENTION, NOT DETECTION</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Block the permit before it's issued</a:t>
            </a:r>
            <a:endParaRPr lang="en-US" sz="3100" dirty="0"/>
          </a:p>
        </p:txBody>
      </p:sp>
      <p:sp>
        <p:nvSpPr>
          <p:cNvPr id="9" name="Text 7"/>
          <p:cNvSpPr/>
          <p:nvPr/>
        </p:nvSpPr>
        <p:spPr>
          <a:xfrm>
            <a:off x="777240" y="2240280"/>
            <a:ext cx="5486400" cy="274320"/>
          </a:xfrm>
          <a:prstGeom prst="rect">
            <a:avLst/>
          </a:prstGeom>
          <a:noFill/>
          <a:ln/>
        </p:spPr>
        <p:txBody>
          <a:bodyPr wrap="square" lIns="0" tIns="0" rIns="0" bIns="0" rtlCol="0" anchor="t"/>
          <a:lstStyle/>
          <a:p>
            <a:pPr indent="0" marL="0">
              <a:buNone/>
            </a:pPr>
            <a:r>
              <a:rPr lang="en-US" sz="1000" spc="100" kern="0" dirty="0">
                <a:solidFill>
                  <a:srgbClr val="8A7B68"/>
                </a:solidFill>
                <a:latin typeface="Cascadia Mono" pitchFamily="34" charset="0"/>
                <a:ea typeface="Cascadia Mono" pitchFamily="34" charset="-122"/>
                <a:cs typeface="Cascadia Mono" pitchFamily="34" charset="-120"/>
              </a:rPr>
              <a:t>PERMIT DESK · HOT-WORK REQUEST · COB-1</a:t>
            </a:r>
            <a:endParaRPr lang="en-US" sz="1000" dirty="0"/>
          </a:p>
        </p:txBody>
      </p:sp>
      <p:sp>
        <p:nvSpPr>
          <p:cNvPr id="10" name="Text 8"/>
          <p:cNvSpPr/>
          <p:nvPr/>
        </p:nvSpPr>
        <p:spPr>
          <a:xfrm>
            <a:off x="749808" y="2514600"/>
            <a:ext cx="4937760" cy="1005840"/>
          </a:xfrm>
          <a:prstGeom prst="rect">
            <a:avLst/>
          </a:prstGeom>
          <a:noFill/>
          <a:ln/>
        </p:spPr>
        <p:txBody>
          <a:bodyPr wrap="square" lIns="0" tIns="0" rIns="0" bIns="0" rtlCol="0" anchor="t"/>
          <a:lstStyle/>
          <a:p>
            <a:pPr indent="0" marL="0">
              <a:buNone/>
            </a:pPr>
            <a:r>
              <a:rPr lang="en-US" sz="6600" dirty="0">
                <a:solidFill>
                  <a:srgbClr val="FF2B4E"/>
                </a:solidFill>
                <a:latin typeface="Bahnschrift SemiBold" pitchFamily="34" charset="0"/>
                <a:ea typeface="Bahnschrift SemiBold" pitchFamily="34" charset="-122"/>
                <a:cs typeface="Bahnschrift SemiBold" pitchFamily="34" charset="-120"/>
              </a:rPr>
              <a:t>BLOCKED</a:t>
            </a:r>
            <a:endParaRPr lang="en-US" sz="6600" dirty="0"/>
          </a:p>
        </p:txBody>
      </p:sp>
      <p:sp>
        <p:nvSpPr>
          <p:cNvPr id="11" name="Shape 9"/>
          <p:cNvSpPr/>
          <p:nvPr/>
        </p:nvSpPr>
        <p:spPr>
          <a:xfrm>
            <a:off x="777240" y="3703320"/>
            <a:ext cx="1371600" cy="457200"/>
          </a:xfrm>
          <a:prstGeom prst="rect">
            <a:avLst/>
          </a:prstGeom>
          <a:solidFill>
            <a:srgbClr val="120D08"/>
          </a:solidFill>
          <a:ln w="12700">
            <a:solidFill>
              <a:srgbClr val="F5902B"/>
            </a:solidFill>
            <a:prstDash val="solid"/>
          </a:ln>
        </p:spPr>
      </p:sp>
      <p:sp>
        <p:nvSpPr>
          <p:cNvPr id="12" name="Text 10"/>
          <p:cNvSpPr/>
          <p:nvPr/>
        </p:nvSpPr>
        <p:spPr>
          <a:xfrm>
            <a:off x="777240" y="3703320"/>
            <a:ext cx="1371600" cy="457200"/>
          </a:xfrm>
          <a:prstGeom prst="rect">
            <a:avLst/>
          </a:prstGeom>
          <a:noFill/>
          <a:ln/>
        </p:spPr>
        <p:txBody>
          <a:bodyPr wrap="square" lIns="0" tIns="0" rIns="0" bIns="0" rtlCol="0" anchor="ctr"/>
          <a:lstStyle/>
          <a:p>
            <a:pPr algn="ctr" indent="0" marL="0">
              <a:buNone/>
            </a:pPr>
            <a:r>
              <a:rPr lang="en-US" sz="1200" dirty="0">
                <a:solidFill>
                  <a:srgbClr val="F5902B"/>
                </a:solidFill>
                <a:latin typeface="Cascadia Mono" pitchFamily="34" charset="0"/>
                <a:ea typeface="Cascadia Mono" pitchFamily="34" charset="-122"/>
                <a:cs typeface="Cascadia Mono" pitchFamily="34" charset="-120"/>
              </a:rPr>
              <a:t>HIGH 80</a:t>
            </a:r>
            <a:endParaRPr lang="en-US" sz="1200" dirty="0"/>
          </a:p>
        </p:txBody>
      </p:sp>
      <p:sp>
        <p:nvSpPr>
          <p:cNvPr id="13" name="Text 11"/>
          <p:cNvSpPr/>
          <p:nvPr/>
        </p:nvSpPr>
        <p:spPr>
          <a:xfrm>
            <a:off x="2194560" y="3703320"/>
            <a:ext cx="457200" cy="457200"/>
          </a:xfrm>
          <a:prstGeom prst="rect">
            <a:avLst/>
          </a:prstGeom>
          <a:noFill/>
          <a:ln/>
        </p:spPr>
        <p:txBody>
          <a:bodyPr wrap="square" lIns="0" tIns="0" rIns="0" bIns="0" rtlCol="0" anchor="ctr"/>
          <a:lstStyle/>
          <a:p>
            <a:pPr algn="ctr" indent="0" marL="0">
              <a:buNone/>
            </a:pPr>
            <a:r>
              <a:rPr lang="en-US" sz="1800" dirty="0">
                <a:solidFill>
                  <a:srgbClr val="8A7B68"/>
                </a:solidFill>
                <a:latin typeface="Bahnschrift" pitchFamily="34" charset="0"/>
                <a:ea typeface="Bahnschrift" pitchFamily="34" charset="-122"/>
                <a:cs typeface="Bahnschrift" pitchFamily="34" charset="-120"/>
              </a:rPr>
              <a:t>→</a:t>
            </a:r>
            <a:endParaRPr lang="en-US" sz="1800" dirty="0"/>
          </a:p>
        </p:txBody>
      </p:sp>
      <p:sp>
        <p:nvSpPr>
          <p:cNvPr id="14" name="Shape 12"/>
          <p:cNvSpPr/>
          <p:nvPr/>
        </p:nvSpPr>
        <p:spPr>
          <a:xfrm>
            <a:off x="2651760" y="3703320"/>
            <a:ext cx="2651760" cy="457200"/>
          </a:xfrm>
          <a:prstGeom prst="rect">
            <a:avLst/>
          </a:prstGeom>
          <a:solidFill>
            <a:srgbClr val="120D08"/>
          </a:solidFill>
          <a:ln w="12700">
            <a:solidFill>
              <a:srgbClr val="FF2B4E"/>
            </a:solidFill>
            <a:prstDash val="solid"/>
          </a:ln>
        </p:spPr>
      </p:sp>
      <p:sp>
        <p:nvSpPr>
          <p:cNvPr id="15" name="Text 13"/>
          <p:cNvSpPr/>
          <p:nvPr/>
        </p:nvSpPr>
        <p:spPr>
          <a:xfrm>
            <a:off x="2651760" y="3703320"/>
            <a:ext cx="2651760" cy="457200"/>
          </a:xfrm>
          <a:prstGeom prst="rect">
            <a:avLst/>
          </a:prstGeom>
          <a:noFill/>
          <a:ln/>
        </p:spPr>
        <p:txBody>
          <a:bodyPr wrap="square" lIns="0" tIns="0" rIns="0" bIns="0" rtlCol="0" anchor="ctr"/>
          <a:lstStyle/>
          <a:p>
            <a:pPr algn="ctr" indent="0" marL="0">
              <a:buNone/>
            </a:pPr>
            <a:r>
              <a:rPr lang="en-US" sz="1100" dirty="0">
                <a:solidFill>
                  <a:srgbClr val="FF2B4E"/>
                </a:solidFill>
                <a:latin typeface="Cascadia Mono" pitchFamily="34" charset="0"/>
                <a:ea typeface="Cascadia Mono" pitchFamily="34" charset="-122"/>
                <a:cs typeface="Cascadia Mono" pitchFamily="34" charset="-120"/>
              </a:rPr>
              <a:t>CRITICAL 100 · compound</a:t>
            </a:r>
            <a:endParaRPr lang="en-US" sz="1100" dirty="0"/>
          </a:p>
        </p:txBody>
      </p:sp>
      <p:sp>
        <p:nvSpPr>
          <p:cNvPr id="16" name="Text 14"/>
          <p:cNvSpPr/>
          <p:nvPr/>
        </p:nvSpPr>
        <p:spPr>
          <a:xfrm>
            <a:off x="777240" y="4434840"/>
            <a:ext cx="4754880" cy="1280160"/>
          </a:xfrm>
          <a:prstGeom prst="rect">
            <a:avLst/>
          </a:prstGeom>
          <a:noFill/>
          <a:ln/>
        </p:spPr>
        <p:txBody>
          <a:bodyPr wrap="square" lIns="0" tIns="0" rIns="0" bIns="0" rtlCol="0" anchor="t"/>
          <a:lstStyle/>
          <a:p>
            <a:pPr indent="0" marL="0">
              <a:lnSpc>
                <a:spcPct val="125000"/>
              </a:lnSpc>
              <a:buNone/>
            </a:pPr>
            <a:r>
              <a:rPr lang="en-US" sz="1400" dirty="0">
                <a:solidFill>
                  <a:srgbClr val="FBF6EC"/>
                </a:solidFill>
                <a:latin typeface="Segoe UI" pitchFamily="34" charset="0"/>
                <a:ea typeface="Segoe UI" pitchFamily="34" charset="-122"/>
                <a:cs typeface="Segoe UI" pitchFamily="34" charset="-120"/>
              </a:rPr>
              <a:t>Issuing this hot-work permit completes the lethal compound pattern — flammable gas + ignition + personnel — minutes before any single sensor would alarm.</a:t>
            </a:r>
            <a:endParaRPr lang="en-US" sz="1400" dirty="0"/>
          </a:p>
        </p:txBody>
      </p:sp>
      <p:sp>
        <p:nvSpPr>
          <p:cNvPr id="17" name="Shape 15"/>
          <p:cNvSpPr/>
          <p:nvPr/>
        </p:nvSpPr>
        <p:spPr>
          <a:xfrm>
            <a:off x="5989320" y="2194560"/>
            <a:ext cx="0" cy="3520440"/>
          </a:xfrm>
          <a:prstGeom prst="line">
            <a:avLst/>
          </a:prstGeom>
          <a:noFill/>
          <a:ln w="12700">
            <a:solidFill>
              <a:srgbClr val="2A2118"/>
            </a:solidFill>
            <a:prstDash val="solid"/>
          </a:ln>
        </p:spPr>
      </p:sp>
      <p:sp>
        <p:nvSpPr>
          <p:cNvPr id="18" name="Text 16"/>
          <p:cNvSpPr/>
          <p:nvPr/>
        </p:nvSpPr>
        <p:spPr>
          <a:xfrm>
            <a:off x="6309360" y="2286000"/>
            <a:ext cx="548640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CONDITIONS TO ISSUE SAFELY</a:t>
            </a:r>
            <a:endParaRPr lang="en-US" sz="1000" dirty="0"/>
          </a:p>
        </p:txBody>
      </p:sp>
      <p:sp>
        <p:nvSpPr>
          <p:cNvPr id="19" name="Text 17"/>
          <p:cNvSpPr/>
          <p:nvPr/>
        </p:nvSpPr>
        <p:spPr>
          <a:xfrm>
            <a:off x="6309360" y="2743200"/>
            <a:ext cx="5105095" cy="2377440"/>
          </a:xfrm>
          <a:prstGeom prst="rect">
            <a:avLst/>
          </a:prstGeom>
          <a:noFill/>
          <a:ln/>
        </p:spPr>
        <p:txBody>
          <a:bodyPr wrap="square" lIns="0" tIns="0" rIns="0" bIns="0" rtlCol="0" anchor="t"/>
          <a:lstStyle/>
          <a:p>
            <a:pPr marL="228600" indent="-228600">
              <a:lnSpc>
                <a:spcPct val="140000"/>
              </a:lnSpc>
              <a:buSzPct val="100000"/>
              <a:buChar char="→"/>
            </a:pPr>
            <a:r>
              <a:rPr lang="en-US" sz="1400" dirty="0">
                <a:solidFill>
                  <a:srgbClr val="C6B9A6"/>
                </a:solidFill>
                <a:latin typeface="Segoe UI" pitchFamily="34" charset="0"/>
                <a:ea typeface="Segoe UI" pitchFamily="34" charset="-122"/>
                <a:cs typeface="Segoe UI" pitchFamily="34" charset="-120"/>
              </a:rPr>
              <a:t>Gas-free certificate — flammable gas below alarm and falling (OISD-STD-105)</a:t>
            </a:r>
            <a:endParaRPr lang="en-US" sz="1400" dirty="0"/>
          </a:p>
          <a:p>
            <a:pPr indent="0" marL="0">
              <a:lnSpc>
                <a:spcPct val="140000"/>
              </a:lnSpc>
              <a:buNone/>
            </a:pPr>
            <a:r>
              <a:rPr lang="en-US" sz="1400" dirty="0">
                <a:solidFill>
                  <a:srgbClr val="C6B9A6"/>
                </a:solidFill>
                <a:latin typeface="Segoe UI" pitchFamily="34" charset="0"/>
                <a:ea typeface="Segoe UI" pitchFamily="34" charset="-122"/>
                <a:cs typeface="Segoe UI" pitchFamily="34" charset="-120"/>
              </a:rPr>
              <a:t>Force-ventilate / purge the zone and re-test the atmosphere</a:t>
            </a:r>
            <a:endParaRPr lang="en-US" sz="1400" dirty="0"/>
          </a:p>
          <a:p>
            <a:pPr indent="0" marL="0">
              <a:lnSpc>
                <a:spcPct val="140000"/>
              </a:lnSpc>
              <a:buNone/>
            </a:pPr>
            <a:r>
              <a:rPr lang="en-US" sz="1400" dirty="0">
                <a:solidFill>
                  <a:srgbClr val="C6B9A6"/>
                </a:solidFill>
                <a:latin typeface="Segoe UI" pitchFamily="34" charset="0"/>
                <a:ea typeface="Segoe UI" pitchFamily="34" charset="-122"/>
                <a:cs typeface="Segoe UI" pitchFamily="34" charset="-120"/>
              </a:rPr>
              <a:t>No flammable release developing in this zone or any blast-radius neighbour</a:t>
            </a:r>
            <a:endParaRPr lang="en-US" sz="1400" dirty="0"/>
          </a:p>
          <a:p>
            <a:pPr indent="0" marL="0">
              <a:lnSpc>
                <a:spcPct val="140000"/>
              </a:lnSpc>
              <a:buNone/>
            </a:pPr>
            <a:r>
              <a:rPr lang="en-US" sz="1400" dirty="0">
                <a:solidFill>
                  <a:srgbClr val="C6B9A6"/>
                </a:solidFill>
                <a:latin typeface="Segoe UI" pitchFamily="34" charset="0"/>
                <a:ea typeface="Segoe UI" pitchFamily="34" charset="-122"/>
                <a:cs typeface="Segoe UI" pitchFamily="34" charset="-120"/>
              </a:rPr>
              <a:t>No entry while an ignition source is active in the blast radius (Factory Act §36 / §37)</a:t>
            </a:r>
            <a:endParaRPr lang="en-US" sz="1400" dirty="0"/>
          </a:p>
        </p:txBody>
      </p:sp>
      <p:sp>
        <p:nvSpPr>
          <p:cNvPr id="20" name="Text 18"/>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The inverse of detection: simulate the plant WITH the proposed permit, and refuse it if issuing it would create — or add people to — a compound hazard.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10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AUTONOMOUS RESPONSE</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Detect → draft → alert</a:t>
            </a:r>
            <a:endParaRPr lang="en-US" sz="3300" dirty="0"/>
          </a:p>
        </p:txBody>
      </p:sp>
      <p:sp>
        <p:nvSpPr>
          <p:cNvPr id="9" name="Text 7"/>
          <p:cNvSpPr/>
          <p:nvPr/>
        </p:nvSpPr>
        <p:spPr>
          <a:xfrm>
            <a:off x="777240" y="2286000"/>
            <a:ext cx="548640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AUTO-DRAFTED INCIDENT REPORT</a:t>
            </a:r>
            <a:endParaRPr lang="en-US" sz="1000" dirty="0"/>
          </a:p>
        </p:txBody>
      </p:sp>
      <p:sp>
        <p:nvSpPr>
          <p:cNvPr id="10" name="Text 8"/>
          <p:cNvSpPr/>
          <p:nvPr/>
        </p:nvSpPr>
        <p:spPr>
          <a:xfrm>
            <a:off x="777240" y="2697480"/>
            <a:ext cx="5120640" cy="3108960"/>
          </a:xfrm>
          <a:prstGeom prst="rect">
            <a:avLst/>
          </a:prstGeom>
          <a:noFill/>
          <a:ln/>
        </p:spPr>
        <p:txBody>
          <a:bodyPr wrap="square" lIns="0" tIns="0" rIns="0" bIns="0" rtlCol="0" anchor="t"/>
          <a:lstStyle/>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1   Summary</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2   Conditions Detected</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3   Compound Risk Assessment</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4   Immediate Actions</a:t>
            </a:r>
            <a:endParaRPr lang="en-US" sz="1550" dirty="0"/>
          </a:p>
          <a:p>
            <a:pPr indent="0" marL="0">
              <a:lnSpc>
                <a:spcPct val="142000"/>
              </a:lnSpc>
              <a:buNone/>
            </a:pPr>
            <a:r>
              <a:rPr lang="en-US" sz="1550" b="1" dirty="0">
                <a:solidFill>
                  <a:srgbClr val="FBF6EC"/>
                </a:solidFill>
                <a:latin typeface="Bahnschrift" pitchFamily="34" charset="0"/>
                <a:ea typeface="Bahnschrift" pitchFamily="34" charset="-122"/>
                <a:cs typeface="Bahnschrift" pitchFamily="34" charset="-120"/>
              </a:rPr>
              <a:t>5   Regulatory References</a:t>
            </a:r>
            <a:endParaRPr lang="en-US" sz="1550" dirty="0"/>
          </a:p>
          <a:p>
            <a:pPr indent="0" marL="0">
              <a:lnSpc>
                <a:spcPct val="142000"/>
              </a:lnSpc>
              <a:buNone/>
            </a:pPr>
            <a:r>
              <a:rPr lang="en-US" sz="1200" dirty="0">
                <a:solidFill>
                  <a:srgbClr val="FF6A1A"/>
                </a:solidFill>
                <a:latin typeface="Cascadia Mono" pitchFamily="34" charset="0"/>
                <a:ea typeface="Cascadia Mono" pitchFamily="34" charset="-122"/>
                <a:cs typeface="Cascadia Mono" pitchFamily="34" charset="-120"/>
              </a:rPr>
              <a:t>      Factory Act 1948 §36 / §37 / §38</a:t>
            </a:r>
            <a:endParaRPr lang="en-US" sz="1550" dirty="0"/>
          </a:p>
          <a:p>
            <a:pPr indent="0" marL="0">
              <a:lnSpc>
                <a:spcPct val="142000"/>
              </a:lnSpc>
              <a:buNone/>
            </a:pPr>
            <a:r>
              <a:rPr lang="en-US" sz="1200" dirty="0">
                <a:solidFill>
                  <a:srgbClr val="FF6A1A"/>
                </a:solidFill>
                <a:latin typeface="Cascadia Mono" pitchFamily="34" charset="0"/>
                <a:ea typeface="Cascadia Mono" pitchFamily="34" charset="-122"/>
                <a:cs typeface="Cascadia Mono" pitchFamily="34" charset="-120"/>
              </a:rPr>
              <a:t>      OISD-STD-105 (Work Permit System)</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6   Corrective Actions</a:t>
            </a:r>
            <a:endParaRPr lang="en-US" sz="1550" dirty="0"/>
          </a:p>
        </p:txBody>
      </p:sp>
      <p:sp>
        <p:nvSpPr>
          <p:cNvPr id="11" name="Shape 9"/>
          <p:cNvSpPr/>
          <p:nvPr/>
        </p:nvSpPr>
        <p:spPr>
          <a:xfrm>
            <a:off x="6309360" y="2194560"/>
            <a:ext cx="0" cy="3611880"/>
          </a:xfrm>
          <a:prstGeom prst="line">
            <a:avLst/>
          </a:prstGeom>
          <a:noFill/>
          <a:ln w="12700">
            <a:solidFill>
              <a:srgbClr val="2A2118"/>
            </a:solidFill>
            <a:prstDash val="solid"/>
          </a:ln>
        </p:spPr>
      </p:sp>
      <p:sp>
        <p:nvSpPr>
          <p:cNvPr id="12" name="Text 10"/>
          <p:cNvSpPr/>
          <p:nvPr/>
        </p:nvSpPr>
        <p:spPr>
          <a:xfrm>
            <a:off x="6629400" y="2286000"/>
            <a:ext cx="4572000" cy="274320"/>
          </a:xfrm>
          <a:prstGeom prst="rect">
            <a:avLst/>
          </a:prstGeom>
          <a:noFill/>
          <a:ln/>
        </p:spPr>
        <p:txBody>
          <a:bodyPr wrap="square" lIns="0" tIns="0" rIns="0" bIns="0" rtlCol="0" anchor="t"/>
          <a:lstStyle/>
          <a:p>
            <a:pPr indent="0" marL="0">
              <a:buNone/>
            </a:pPr>
            <a:r>
              <a:rPr lang="en-US" sz="1000" spc="100" kern="0" dirty="0">
                <a:solidFill>
                  <a:srgbClr val="F5902B"/>
                </a:solidFill>
                <a:latin typeface="Cascadia Mono" pitchFamily="34" charset="0"/>
                <a:ea typeface="Cascadia Mono" pitchFamily="34" charset="-122"/>
                <a:cs typeface="Cascadia Mono" pitchFamily="34" charset="-120"/>
              </a:rPr>
              <a:t>EVACUATION ALERT</a:t>
            </a:r>
            <a:endParaRPr lang="en-US" sz="1000" dirty="0"/>
          </a:p>
        </p:txBody>
      </p:sp>
      <p:sp>
        <p:nvSpPr>
          <p:cNvPr id="13" name="Text 11"/>
          <p:cNvSpPr/>
          <p:nvPr/>
        </p:nvSpPr>
        <p:spPr>
          <a:xfrm>
            <a:off x="6629400" y="2606040"/>
            <a:ext cx="4785055" cy="731520"/>
          </a:xfrm>
          <a:prstGeom prst="rect">
            <a:avLst/>
          </a:prstGeom>
          <a:noFill/>
          <a:ln/>
        </p:spPr>
        <p:txBody>
          <a:bodyPr wrap="square" lIns="0" tIns="0" rIns="0" bIns="0" rtlCol="0" anchor="t"/>
          <a:lstStyle/>
          <a:p>
            <a:pPr indent="0" marL="0">
              <a:lnSpc>
                <a:spcPct val="120000"/>
              </a:lnSpc>
              <a:buNone/>
            </a:pPr>
            <a:r>
              <a:rPr lang="en-US" sz="1400" dirty="0">
                <a:solidFill>
                  <a:srgbClr val="FBF6EC"/>
                </a:solidFill>
                <a:latin typeface="Segoe UI" pitchFamily="34" charset="0"/>
                <a:ea typeface="Segoe UI" pitchFamily="34" charset="-122"/>
                <a:cs typeface="Segoe UI" pitchFamily="34" charset="-120"/>
              </a:rPr>
              <a:t>Compound hazard in COB-1. Evacuate now. Do not operate hot-work or electrical equipment.</a:t>
            </a:r>
            <a:endParaRPr lang="en-US" sz="1400" dirty="0"/>
          </a:p>
        </p:txBody>
      </p:sp>
      <p:sp>
        <p:nvSpPr>
          <p:cNvPr id="14" name="Shape 12"/>
          <p:cNvSpPr/>
          <p:nvPr/>
        </p:nvSpPr>
        <p:spPr>
          <a:xfrm>
            <a:off x="6629400" y="3429000"/>
            <a:ext cx="1280160" cy="384048"/>
          </a:xfrm>
          <a:prstGeom prst="rect">
            <a:avLst/>
          </a:prstGeom>
          <a:solidFill>
            <a:srgbClr val="120D08"/>
          </a:solidFill>
          <a:ln w="12700">
            <a:solidFill>
              <a:srgbClr val="F5902B"/>
            </a:solidFill>
            <a:prstDash val="solid"/>
          </a:ln>
        </p:spPr>
      </p:sp>
      <p:sp>
        <p:nvSpPr>
          <p:cNvPr id="15" name="Text 13"/>
          <p:cNvSpPr/>
          <p:nvPr/>
        </p:nvSpPr>
        <p:spPr>
          <a:xfrm>
            <a:off x="6629400" y="3429000"/>
            <a:ext cx="1280160" cy="384048"/>
          </a:xfrm>
          <a:prstGeom prst="rect">
            <a:avLst/>
          </a:prstGeom>
          <a:noFill/>
          <a:ln/>
        </p:spPr>
        <p:txBody>
          <a:bodyPr wrap="square" lIns="0" tIns="0" rIns="0" bIns="0" rtlCol="0" anchor="ctr"/>
          <a:lstStyle/>
          <a:p>
            <a:pPr algn="ctr" indent="0" marL="0">
              <a:buNone/>
            </a:pPr>
            <a:r>
              <a:rPr lang="en-US" sz="1000" spc="100" kern="0" dirty="0">
                <a:solidFill>
                  <a:srgbClr val="F5902B"/>
                </a:solidFill>
                <a:latin typeface="Cascadia Mono" pitchFamily="34" charset="0"/>
                <a:ea typeface="Cascadia Mono" pitchFamily="34" charset="-122"/>
                <a:cs typeface="Cascadia Mono" pitchFamily="34" charset="-120"/>
              </a:rPr>
              <a:t>ENGLISH</a:t>
            </a:r>
            <a:endParaRPr lang="en-US" sz="1000" dirty="0"/>
          </a:p>
        </p:txBody>
      </p:sp>
      <p:sp>
        <p:nvSpPr>
          <p:cNvPr id="16" name="Shape 14"/>
          <p:cNvSpPr/>
          <p:nvPr/>
        </p:nvSpPr>
        <p:spPr>
          <a:xfrm>
            <a:off x="8046720" y="3429000"/>
            <a:ext cx="1280160" cy="384048"/>
          </a:xfrm>
          <a:prstGeom prst="rect">
            <a:avLst/>
          </a:prstGeom>
          <a:solidFill>
            <a:srgbClr val="120D08"/>
          </a:solidFill>
          <a:ln w="12700">
            <a:solidFill>
              <a:srgbClr val="F5902B"/>
            </a:solidFill>
            <a:prstDash val="solid"/>
          </a:ln>
        </p:spPr>
      </p:sp>
      <p:sp>
        <p:nvSpPr>
          <p:cNvPr id="17" name="Text 15"/>
          <p:cNvSpPr/>
          <p:nvPr/>
        </p:nvSpPr>
        <p:spPr>
          <a:xfrm>
            <a:off x="8046720" y="3429000"/>
            <a:ext cx="1280160" cy="384048"/>
          </a:xfrm>
          <a:prstGeom prst="rect">
            <a:avLst/>
          </a:prstGeom>
          <a:noFill/>
          <a:ln/>
        </p:spPr>
        <p:txBody>
          <a:bodyPr wrap="square" lIns="0" tIns="0" rIns="0" bIns="0" rtlCol="0" anchor="ctr"/>
          <a:lstStyle/>
          <a:p>
            <a:pPr algn="ctr" indent="0" marL="0">
              <a:buNone/>
            </a:pPr>
            <a:r>
              <a:rPr lang="en-US" sz="1000" spc="100" kern="0" dirty="0">
                <a:solidFill>
                  <a:srgbClr val="F5902B"/>
                </a:solidFill>
                <a:latin typeface="Cascadia Mono" pitchFamily="34" charset="0"/>
                <a:ea typeface="Cascadia Mono" pitchFamily="34" charset="-122"/>
                <a:cs typeface="Cascadia Mono" pitchFamily="34" charset="-120"/>
              </a:rPr>
              <a:t>TELUGU</a:t>
            </a:r>
            <a:endParaRPr lang="en-US" sz="1000" dirty="0"/>
          </a:p>
        </p:txBody>
      </p:sp>
      <p:sp>
        <p:nvSpPr>
          <p:cNvPr id="18" name="Shape 16"/>
          <p:cNvSpPr/>
          <p:nvPr/>
        </p:nvSpPr>
        <p:spPr>
          <a:xfrm>
            <a:off x="9464040" y="3429000"/>
            <a:ext cx="1280160" cy="384048"/>
          </a:xfrm>
          <a:prstGeom prst="rect">
            <a:avLst/>
          </a:prstGeom>
          <a:solidFill>
            <a:srgbClr val="120D08"/>
          </a:solidFill>
          <a:ln w="12700">
            <a:solidFill>
              <a:srgbClr val="F5902B"/>
            </a:solidFill>
            <a:prstDash val="solid"/>
          </a:ln>
        </p:spPr>
      </p:sp>
      <p:sp>
        <p:nvSpPr>
          <p:cNvPr id="19" name="Text 17"/>
          <p:cNvSpPr/>
          <p:nvPr/>
        </p:nvSpPr>
        <p:spPr>
          <a:xfrm>
            <a:off x="9464040" y="3429000"/>
            <a:ext cx="1280160" cy="384048"/>
          </a:xfrm>
          <a:prstGeom prst="rect">
            <a:avLst/>
          </a:prstGeom>
          <a:noFill/>
          <a:ln/>
        </p:spPr>
        <p:txBody>
          <a:bodyPr wrap="square" lIns="0" tIns="0" rIns="0" bIns="0" rtlCol="0" anchor="ctr"/>
          <a:lstStyle/>
          <a:p>
            <a:pPr algn="ctr" indent="0" marL="0">
              <a:buNone/>
            </a:pPr>
            <a:r>
              <a:rPr lang="en-US" sz="1000" spc="100" kern="0" dirty="0">
                <a:solidFill>
                  <a:srgbClr val="F5902B"/>
                </a:solidFill>
                <a:latin typeface="Cascadia Mono" pitchFamily="34" charset="0"/>
                <a:ea typeface="Cascadia Mono" pitchFamily="34" charset="-122"/>
                <a:cs typeface="Cascadia Mono" pitchFamily="34" charset="-120"/>
              </a:rPr>
              <a:t>HINDI</a:t>
            </a:r>
            <a:endParaRPr lang="en-US" sz="1000" dirty="0"/>
          </a:p>
        </p:txBody>
      </p:sp>
      <p:sp>
        <p:nvSpPr>
          <p:cNvPr id="20" name="Text 18"/>
          <p:cNvSpPr/>
          <p:nvPr/>
        </p:nvSpPr>
        <p:spPr>
          <a:xfrm>
            <a:off x="6629400" y="4160520"/>
            <a:ext cx="4572000" cy="274320"/>
          </a:xfrm>
          <a:prstGeom prst="rect">
            <a:avLst/>
          </a:prstGeom>
          <a:noFill/>
          <a:ln/>
        </p:spPr>
        <p:txBody>
          <a:bodyPr wrap="square" lIns="0" tIns="0" rIns="0" bIns="0" rtlCol="0" anchor="t"/>
          <a:lstStyle/>
          <a:p>
            <a:pPr indent="0" marL="0">
              <a:buNone/>
            </a:pPr>
            <a:r>
              <a:rPr lang="en-US" sz="1000" spc="100" kern="0" dirty="0">
                <a:solidFill>
                  <a:srgbClr val="8A7B68"/>
                </a:solidFill>
                <a:latin typeface="Cascadia Mono" pitchFamily="34" charset="0"/>
                <a:ea typeface="Cascadia Mono" pitchFamily="34" charset="-122"/>
                <a:cs typeface="Cascadia Mono" pitchFamily="34" charset="-120"/>
              </a:rPr>
              <a:t>RESPONSE ACTIONS — PREPARED</a:t>
            </a:r>
            <a:endParaRPr lang="en-US" sz="1000" dirty="0"/>
          </a:p>
        </p:txBody>
      </p:sp>
      <p:sp>
        <p:nvSpPr>
          <p:cNvPr id="21" name="Text 19"/>
          <p:cNvSpPr/>
          <p:nvPr/>
        </p:nvSpPr>
        <p:spPr>
          <a:xfrm>
            <a:off x="6629400" y="4526280"/>
            <a:ext cx="4785055" cy="1188720"/>
          </a:xfrm>
          <a:prstGeom prst="rect">
            <a:avLst/>
          </a:prstGeom>
          <a:noFill/>
          <a:ln/>
        </p:spPr>
        <p:txBody>
          <a:bodyPr wrap="square" lIns="0" tIns="0" rIns="0" bIns="0" rtlCol="0" anchor="t"/>
          <a:lstStyle/>
          <a:p>
            <a:pPr marL="203200" indent="-203200">
              <a:lnSpc>
                <a:spcPct val="130000"/>
              </a:lnSpc>
              <a:buSzPct val="100000"/>
              <a:buChar char="✓"/>
            </a:pPr>
            <a:r>
              <a:rPr lang="en-US" sz="1350" dirty="0">
                <a:solidFill>
                  <a:srgbClr val="C6B9A6"/>
                </a:solidFill>
                <a:latin typeface="Segoe UI" pitchFamily="34" charset="0"/>
                <a:ea typeface="Segoe UI" pitchFamily="34" charset="-122"/>
                <a:cs typeface="Segoe UI" pitchFamily="34" charset="-120"/>
              </a:rPr>
              <a:t>Suspend hot-work permit PTW-7741</a:t>
            </a:r>
            <a:endParaRPr lang="en-US" sz="1350" dirty="0"/>
          </a:p>
          <a:p>
            <a:pPr indent="0" marL="0">
              <a:lnSpc>
                <a:spcPct val="130000"/>
              </a:lnSpc>
              <a:buNone/>
            </a:pPr>
            <a:r>
              <a:rPr lang="en-US" sz="1350" dirty="0">
                <a:solidFill>
                  <a:srgbClr val="C6B9A6"/>
                </a:solidFill>
                <a:latin typeface="Segoe UI" pitchFamily="34" charset="0"/>
                <a:ea typeface="Segoe UI" pitchFamily="34" charset="-122"/>
                <a:cs typeface="Segoe UI" pitchFamily="34" charset="-120"/>
              </a:rPr>
              <a:t>Evacuate &amp; page response team</a:t>
            </a:r>
            <a:endParaRPr lang="en-US" sz="1350" dirty="0"/>
          </a:p>
          <a:p>
            <a:pPr indent="0" marL="0">
              <a:lnSpc>
                <a:spcPct val="130000"/>
              </a:lnSpc>
              <a:buNone/>
            </a:pPr>
            <a:r>
              <a:rPr lang="en-US" sz="1350" dirty="0">
                <a:solidFill>
                  <a:srgbClr val="C6B9A6"/>
                </a:solidFill>
                <a:latin typeface="Segoe UI" pitchFamily="34" charset="0"/>
                <a:ea typeface="Segoe UI" pitchFamily="34" charset="-122"/>
                <a:cs typeface="Segoe UI" pitchFamily="34" charset="-120"/>
              </a:rPr>
              <a:t>Freeze sensor + CCTV evidence</a:t>
            </a:r>
            <a:endParaRPr lang="en-US" sz="1350" dirty="0"/>
          </a:p>
          <a:p>
            <a:pPr indent="0" marL="0">
              <a:lnSpc>
                <a:spcPct val="130000"/>
              </a:lnSpc>
              <a:buNone/>
            </a:pPr>
            <a:r>
              <a:rPr lang="en-US" sz="1350" dirty="0">
                <a:solidFill>
                  <a:srgbClr val="C6B9A6"/>
                </a:solidFill>
                <a:latin typeface="Segoe UI" pitchFamily="34" charset="0"/>
                <a:ea typeface="Segoe UI" pitchFamily="34" charset="-122"/>
                <a:cs typeface="Segoe UI" pitchFamily="34" charset="-120"/>
              </a:rPr>
              <a:t>File preliminary incident report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11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PROOF</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Measured, not claimed</a:t>
            </a:r>
            <a:endParaRPr lang="en-US" sz="3300" dirty="0"/>
          </a:p>
        </p:txBody>
      </p:sp>
      <p:sp>
        <p:nvSpPr>
          <p:cNvPr id="9" name="Text 7"/>
          <p:cNvSpPr/>
          <p:nvPr/>
        </p:nvSpPr>
        <p:spPr>
          <a:xfrm>
            <a:off x="777240" y="2148840"/>
            <a:ext cx="3271418" cy="1051560"/>
          </a:xfrm>
          <a:prstGeom prst="rect">
            <a:avLst/>
          </a:prstGeom>
          <a:noFill/>
          <a:ln/>
        </p:spPr>
        <p:txBody>
          <a:bodyPr wrap="square" lIns="0" tIns="0" rIns="0" bIns="0" rtlCol="0" anchor="t"/>
          <a:lstStyle/>
          <a:p>
            <a:pPr indent="0" marL="0">
              <a:buNone/>
            </a:pPr>
            <a:r>
              <a:rPr lang="en-US" sz="7000" dirty="0">
                <a:solidFill>
                  <a:srgbClr val="FF6A1A"/>
                </a:solidFill>
                <a:latin typeface="Bahnschrift SemiBold" pitchFamily="34" charset="0"/>
                <a:ea typeface="Bahnschrift SemiBold" pitchFamily="34" charset="-122"/>
                <a:cs typeface="Bahnschrift SemiBold" pitchFamily="34" charset="-120"/>
              </a:rPr>
              <a:t>100%</a:t>
            </a:r>
            <a:endParaRPr lang="en-US" sz="7000" dirty="0"/>
          </a:p>
        </p:txBody>
      </p:sp>
      <p:sp>
        <p:nvSpPr>
          <p:cNvPr id="10" name="Text 8"/>
          <p:cNvSpPr/>
          <p:nvPr/>
        </p:nvSpPr>
        <p:spPr>
          <a:xfrm>
            <a:off x="777240" y="3310128"/>
            <a:ext cx="3271418"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compound recall</a:t>
            </a:r>
            <a:endParaRPr lang="en-US" sz="1600" dirty="0"/>
          </a:p>
        </p:txBody>
      </p:sp>
      <p:sp>
        <p:nvSpPr>
          <p:cNvPr id="11" name="Text 9"/>
          <p:cNvSpPr/>
          <p:nvPr/>
        </p:nvSpPr>
        <p:spPr>
          <a:xfrm>
            <a:off x="777240" y="3675888"/>
            <a:ext cx="3271418" cy="36576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14 / 14 hazards caught</a:t>
            </a:r>
            <a:endParaRPr lang="en-US" sz="1000" dirty="0"/>
          </a:p>
        </p:txBody>
      </p:sp>
      <p:sp>
        <p:nvSpPr>
          <p:cNvPr id="12" name="Text 10"/>
          <p:cNvSpPr/>
          <p:nvPr/>
        </p:nvSpPr>
        <p:spPr>
          <a:xfrm>
            <a:off x="4322978" y="2148840"/>
            <a:ext cx="3271418" cy="1051560"/>
          </a:xfrm>
          <a:prstGeom prst="rect">
            <a:avLst/>
          </a:prstGeom>
          <a:noFill/>
          <a:ln/>
        </p:spPr>
        <p:txBody>
          <a:bodyPr wrap="square" lIns="0" tIns="0" rIns="0" bIns="0" rtlCol="0" anchor="t"/>
          <a:lstStyle/>
          <a:p>
            <a:pPr indent="0" marL="0">
              <a:buNone/>
            </a:pPr>
            <a:r>
              <a:rPr lang="en-US" sz="7000" dirty="0">
                <a:solidFill>
                  <a:srgbClr val="FF6A1A"/>
                </a:solidFill>
                <a:latin typeface="Bahnschrift SemiBold" pitchFamily="34" charset="0"/>
                <a:ea typeface="Bahnschrift SemiBold" pitchFamily="34" charset="-122"/>
                <a:cs typeface="Bahnschrift SemiBold" pitchFamily="34" charset="-120"/>
              </a:rPr>
              <a:t>0%</a:t>
            </a:r>
            <a:endParaRPr lang="en-US" sz="7000" dirty="0"/>
          </a:p>
        </p:txBody>
      </p:sp>
      <p:sp>
        <p:nvSpPr>
          <p:cNvPr id="13" name="Text 11"/>
          <p:cNvSpPr/>
          <p:nvPr/>
        </p:nvSpPr>
        <p:spPr>
          <a:xfrm>
            <a:off x="4322978" y="3310128"/>
            <a:ext cx="3271418"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false-positive</a:t>
            </a:r>
            <a:endParaRPr lang="en-US" sz="1600" dirty="0"/>
          </a:p>
        </p:txBody>
      </p:sp>
      <p:sp>
        <p:nvSpPr>
          <p:cNvPr id="14" name="Text 12"/>
          <p:cNvSpPr/>
          <p:nvPr/>
        </p:nvSpPr>
        <p:spPr>
          <a:xfrm>
            <a:off x="4322978" y="3675888"/>
            <a:ext cx="3271418" cy="36576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0 / 15 incl. inerted + O2 decoys</a:t>
            </a:r>
            <a:endParaRPr lang="en-US" sz="1000" dirty="0"/>
          </a:p>
        </p:txBody>
      </p:sp>
      <p:sp>
        <p:nvSpPr>
          <p:cNvPr id="15" name="Text 13"/>
          <p:cNvSpPr/>
          <p:nvPr/>
        </p:nvSpPr>
        <p:spPr>
          <a:xfrm>
            <a:off x="7868717" y="2148840"/>
            <a:ext cx="3271418" cy="1051560"/>
          </a:xfrm>
          <a:prstGeom prst="rect">
            <a:avLst/>
          </a:prstGeom>
          <a:noFill/>
          <a:ln/>
        </p:spPr>
        <p:txBody>
          <a:bodyPr wrap="square" lIns="0" tIns="0" rIns="0" bIns="0" rtlCol="0" anchor="t"/>
          <a:lstStyle/>
          <a:p>
            <a:pPr indent="0" marL="0">
              <a:buNone/>
            </a:pPr>
            <a:r>
              <a:rPr lang="en-US" sz="7000" dirty="0">
                <a:solidFill>
                  <a:srgbClr val="F5902B"/>
                </a:solidFill>
                <a:latin typeface="Bahnschrift SemiBold" pitchFamily="34" charset="0"/>
                <a:ea typeface="Bahnschrift SemiBold" pitchFamily="34" charset="-122"/>
                <a:cs typeface="Bahnschrift SemiBold" pitchFamily="34" charset="-120"/>
              </a:rPr>
              <a:t>7.4</a:t>
            </a:r>
            <a:endParaRPr lang="en-US" sz="7000" dirty="0"/>
          </a:p>
        </p:txBody>
      </p:sp>
      <p:sp>
        <p:nvSpPr>
          <p:cNvPr id="16" name="Text 14"/>
          <p:cNvSpPr/>
          <p:nvPr/>
        </p:nvSpPr>
        <p:spPr>
          <a:xfrm>
            <a:off x="7868717" y="3310128"/>
            <a:ext cx="3271418"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min mean lead</a:t>
            </a:r>
            <a:endParaRPr lang="en-US" sz="1600" dirty="0"/>
          </a:p>
        </p:txBody>
      </p:sp>
      <p:sp>
        <p:nvSpPr>
          <p:cNvPr id="17" name="Text 15"/>
          <p:cNvSpPr/>
          <p:nvPr/>
        </p:nvSpPr>
        <p:spPr>
          <a:xfrm>
            <a:off x="7868717" y="3675888"/>
            <a:ext cx="3271418" cy="36576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median 6 · max 12 · vs baseline</a:t>
            </a:r>
            <a:endParaRPr lang="en-US" sz="1000" dirty="0"/>
          </a:p>
        </p:txBody>
      </p:sp>
      <p:sp>
        <p:nvSpPr>
          <p:cNvPr id="18" name="Shape 16"/>
          <p:cNvSpPr/>
          <p:nvPr/>
        </p:nvSpPr>
        <p:spPr>
          <a:xfrm>
            <a:off x="777240" y="4754880"/>
            <a:ext cx="10637215" cy="0"/>
          </a:xfrm>
          <a:prstGeom prst="line">
            <a:avLst/>
          </a:prstGeom>
          <a:noFill/>
          <a:ln w="12700">
            <a:solidFill>
              <a:srgbClr val="473726"/>
            </a:solidFill>
            <a:prstDash val="solid"/>
          </a:ln>
        </p:spPr>
      </p:sp>
      <p:sp>
        <p:nvSpPr>
          <p:cNvPr id="19" name="Text 17"/>
          <p:cNvSpPr/>
          <p:nvPr/>
        </p:nvSpPr>
        <p:spPr>
          <a:xfrm>
            <a:off x="777240" y="4297680"/>
            <a:ext cx="4572000" cy="274320"/>
          </a:xfrm>
          <a:prstGeom prst="rect">
            <a:avLst/>
          </a:prstGeom>
          <a:noFill/>
          <a:ln/>
        </p:spPr>
        <p:txBody>
          <a:bodyPr wrap="square" lIns="0" tIns="0" rIns="0" bIns="0" rtlCol="0" anchor="t"/>
          <a:lstStyle/>
          <a:p>
            <a:pPr indent="0" marL="0">
              <a:buNone/>
            </a:pPr>
            <a:r>
              <a:rPr lang="en-US" sz="1000" spc="200" kern="0" dirty="0">
                <a:solidFill>
                  <a:srgbClr val="8A7B68"/>
                </a:solidFill>
                <a:latin typeface="Cascadia Mono" pitchFamily="34" charset="0"/>
                <a:ea typeface="Cascadia Mono" pitchFamily="34" charset="-122"/>
                <a:cs typeface="Cascadia Mono" pitchFamily="34" charset="-120"/>
              </a:rPr>
              <a:t>VIZAG RECONSTRUCTION</a:t>
            </a:r>
            <a:endParaRPr lang="en-US" sz="1000" dirty="0"/>
          </a:p>
        </p:txBody>
      </p:sp>
      <p:sp>
        <p:nvSpPr>
          <p:cNvPr id="20" name="Shape 18"/>
          <p:cNvSpPr/>
          <p:nvPr/>
        </p:nvSpPr>
        <p:spPr>
          <a:xfrm>
            <a:off x="800100" y="4686300"/>
            <a:ext cx="137160" cy="137160"/>
          </a:xfrm>
          <a:prstGeom prst="ellipse">
            <a:avLst/>
          </a:prstGeom>
          <a:solidFill>
            <a:srgbClr val="7C8B9A"/>
          </a:solidFill>
          <a:ln/>
        </p:spPr>
      </p:sp>
      <p:sp>
        <p:nvSpPr>
          <p:cNvPr id="21" name="Text 19"/>
          <p:cNvSpPr/>
          <p:nvPr/>
        </p:nvSpPr>
        <p:spPr>
          <a:xfrm>
            <a:off x="502920" y="4882896"/>
            <a:ext cx="1280160" cy="274320"/>
          </a:xfrm>
          <a:prstGeom prst="rect">
            <a:avLst/>
          </a:prstGeom>
          <a:noFill/>
          <a:ln/>
        </p:spPr>
        <p:txBody>
          <a:bodyPr wrap="square" lIns="0" tIns="0" rIns="0" bIns="0" rtlCol="0" anchor="t"/>
          <a:lstStyle/>
          <a:p>
            <a:pPr indent="0" marL="0">
              <a:buNone/>
            </a:pPr>
            <a:r>
              <a:rPr lang="en-US" sz="1200" b="1" dirty="0">
                <a:solidFill>
                  <a:srgbClr val="7C8B9A"/>
                </a:solidFill>
                <a:latin typeface="Cascadia Mono" pitchFamily="34" charset="0"/>
                <a:ea typeface="Cascadia Mono" pitchFamily="34" charset="-122"/>
                <a:cs typeface="Cascadia Mono" pitchFamily="34" charset="-120"/>
              </a:rPr>
              <a:t>t0</a:t>
            </a:r>
            <a:endParaRPr lang="en-US" sz="1200" dirty="0"/>
          </a:p>
        </p:txBody>
      </p:sp>
      <p:sp>
        <p:nvSpPr>
          <p:cNvPr id="22" name="Text 20"/>
          <p:cNvSpPr/>
          <p:nvPr/>
        </p:nvSpPr>
        <p:spPr>
          <a:xfrm>
            <a:off x="502920" y="5138928"/>
            <a:ext cx="2743200" cy="274320"/>
          </a:xfrm>
          <a:prstGeom prst="rect">
            <a:avLst/>
          </a:prstGeom>
          <a:noFill/>
          <a:ln/>
        </p:spPr>
        <p:txBody>
          <a:bodyPr wrap="square" lIns="0" tIns="0" rIns="0" bIns="0" rtlCol="0" anchor="t"/>
          <a:lstStyle/>
          <a:p>
            <a:pPr indent="0" marL="0">
              <a:buNone/>
            </a:pPr>
            <a:r>
              <a:rPr lang="en-US" sz="1150" dirty="0">
                <a:solidFill>
                  <a:srgbClr val="C6B9A6"/>
                </a:solidFill>
                <a:latin typeface="Segoe UI" pitchFamily="34" charset="0"/>
                <a:ea typeface="Segoe UI" pitchFamily="34" charset="-122"/>
                <a:cs typeface="Segoe UI" pitchFamily="34" charset="-120"/>
              </a:rPr>
              <a:t>normal</a:t>
            </a:r>
            <a:endParaRPr lang="en-US" sz="1150" dirty="0"/>
          </a:p>
        </p:txBody>
      </p:sp>
      <p:sp>
        <p:nvSpPr>
          <p:cNvPr id="23" name="Shape 21"/>
          <p:cNvSpPr/>
          <p:nvPr/>
        </p:nvSpPr>
        <p:spPr>
          <a:xfrm>
            <a:off x="4000500" y="4686300"/>
            <a:ext cx="137160" cy="137160"/>
          </a:xfrm>
          <a:prstGeom prst="ellipse">
            <a:avLst/>
          </a:prstGeom>
          <a:solidFill>
            <a:srgbClr val="FF6A1A"/>
          </a:solidFill>
          <a:ln/>
        </p:spPr>
      </p:sp>
      <p:sp>
        <p:nvSpPr>
          <p:cNvPr id="24" name="Text 22"/>
          <p:cNvSpPr/>
          <p:nvPr/>
        </p:nvSpPr>
        <p:spPr>
          <a:xfrm>
            <a:off x="3703320" y="4882896"/>
            <a:ext cx="1280160" cy="274320"/>
          </a:xfrm>
          <a:prstGeom prst="rect">
            <a:avLst/>
          </a:prstGeom>
          <a:noFill/>
          <a:ln/>
        </p:spPr>
        <p:txBody>
          <a:bodyPr wrap="square" lIns="0" tIns="0" rIns="0" bIns="0" rtlCol="0" anchor="t"/>
          <a:lstStyle/>
          <a:p>
            <a:pPr indent="0" marL="0">
              <a:buNone/>
            </a:pPr>
            <a:r>
              <a:rPr lang="en-US" sz="1200" b="1" dirty="0">
                <a:solidFill>
                  <a:srgbClr val="FF6A1A"/>
                </a:solidFill>
                <a:latin typeface="Cascadia Mono" pitchFamily="34" charset="0"/>
                <a:ea typeface="Cascadia Mono" pitchFamily="34" charset="-122"/>
                <a:cs typeface="Cascadia Mono" pitchFamily="34" charset="-120"/>
              </a:rPr>
              <a:t>t8</a:t>
            </a:r>
            <a:endParaRPr lang="en-US" sz="1200" dirty="0"/>
          </a:p>
        </p:txBody>
      </p:sp>
      <p:sp>
        <p:nvSpPr>
          <p:cNvPr id="25" name="Text 23"/>
          <p:cNvSpPr/>
          <p:nvPr/>
        </p:nvSpPr>
        <p:spPr>
          <a:xfrm>
            <a:off x="3703320" y="5138928"/>
            <a:ext cx="2743200" cy="274320"/>
          </a:xfrm>
          <a:prstGeom prst="rect">
            <a:avLst/>
          </a:prstGeom>
          <a:noFill/>
          <a:ln/>
        </p:spPr>
        <p:txBody>
          <a:bodyPr wrap="square" lIns="0" tIns="0" rIns="0" bIns="0" rtlCol="0" anchor="t"/>
          <a:lstStyle/>
          <a:p>
            <a:pPr indent="0" marL="0">
              <a:buNone/>
            </a:pPr>
            <a:r>
              <a:rPr lang="en-US" sz="1150" dirty="0">
                <a:solidFill>
                  <a:srgbClr val="C6B9A6"/>
                </a:solidFill>
                <a:latin typeface="Segoe UI" pitchFamily="34" charset="0"/>
                <a:ea typeface="Segoe UI" pitchFamily="34" charset="-122"/>
                <a:cs typeface="Segoe UI" pitchFamily="34" charset="-120"/>
              </a:rPr>
              <a:t>TRINETRA: COMPOUND</a:t>
            </a:r>
            <a:endParaRPr lang="en-US" sz="1150" dirty="0"/>
          </a:p>
        </p:txBody>
      </p:sp>
      <p:sp>
        <p:nvSpPr>
          <p:cNvPr id="26" name="Shape 24"/>
          <p:cNvSpPr/>
          <p:nvPr/>
        </p:nvSpPr>
        <p:spPr>
          <a:xfrm>
            <a:off x="8481060" y="4686300"/>
            <a:ext cx="137160" cy="137160"/>
          </a:xfrm>
          <a:prstGeom prst="ellipse">
            <a:avLst/>
          </a:prstGeom>
          <a:solidFill>
            <a:srgbClr val="FF2B4E"/>
          </a:solidFill>
          <a:ln/>
        </p:spPr>
      </p:sp>
      <p:sp>
        <p:nvSpPr>
          <p:cNvPr id="27" name="Text 25"/>
          <p:cNvSpPr/>
          <p:nvPr/>
        </p:nvSpPr>
        <p:spPr>
          <a:xfrm>
            <a:off x="8183880" y="4882896"/>
            <a:ext cx="1280160" cy="274320"/>
          </a:xfrm>
          <a:prstGeom prst="rect">
            <a:avLst/>
          </a:prstGeom>
          <a:noFill/>
          <a:ln/>
        </p:spPr>
        <p:txBody>
          <a:bodyPr wrap="square" lIns="0" tIns="0" rIns="0" bIns="0" rtlCol="0" anchor="t"/>
          <a:lstStyle/>
          <a:p>
            <a:pPr indent="0" marL="0">
              <a:buNone/>
            </a:pPr>
            <a:r>
              <a:rPr lang="en-US" sz="1200" b="1" dirty="0">
                <a:solidFill>
                  <a:srgbClr val="FF2B4E"/>
                </a:solidFill>
                <a:latin typeface="Cascadia Mono" pitchFamily="34" charset="0"/>
                <a:ea typeface="Cascadia Mono" pitchFamily="34" charset="-122"/>
                <a:cs typeface="Cascadia Mono" pitchFamily="34" charset="-120"/>
              </a:rPr>
              <a:t>t14</a:t>
            </a:r>
            <a:endParaRPr lang="en-US" sz="1200" dirty="0"/>
          </a:p>
        </p:txBody>
      </p:sp>
      <p:sp>
        <p:nvSpPr>
          <p:cNvPr id="28" name="Text 26"/>
          <p:cNvSpPr/>
          <p:nvPr/>
        </p:nvSpPr>
        <p:spPr>
          <a:xfrm>
            <a:off x="8183880" y="5138928"/>
            <a:ext cx="2743200" cy="274320"/>
          </a:xfrm>
          <a:prstGeom prst="rect">
            <a:avLst/>
          </a:prstGeom>
          <a:noFill/>
          <a:ln/>
        </p:spPr>
        <p:txBody>
          <a:bodyPr wrap="square" lIns="0" tIns="0" rIns="0" bIns="0" rtlCol="0" anchor="t"/>
          <a:lstStyle/>
          <a:p>
            <a:pPr indent="0" marL="0">
              <a:buNone/>
            </a:pPr>
            <a:r>
              <a:rPr lang="en-US" sz="1150" dirty="0">
                <a:solidFill>
                  <a:srgbClr val="C6B9A6"/>
                </a:solidFill>
                <a:latin typeface="Segoe UI" pitchFamily="34" charset="0"/>
                <a:ea typeface="Segoe UI" pitchFamily="34" charset="-122"/>
                <a:cs typeface="Segoe UI" pitchFamily="34" charset="-120"/>
              </a:rPr>
              <a:t>LEGACY: gas alarm</a:t>
            </a:r>
            <a:endParaRPr lang="en-US" sz="1150" dirty="0"/>
          </a:p>
        </p:txBody>
      </p:sp>
      <p:sp>
        <p:nvSpPr>
          <p:cNvPr id="29" name="Text 27"/>
          <p:cNvSpPr/>
          <p:nvPr/>
        </p:nvSpPr>
        <p:spPr>
          <a:xfrm>
            <a:off x="4800600" y="4370832"/>
            <a:ext cx="3291840" cy="320040"/>
          </a:xfrm>
          <a:prstGeom prst="rect">
            <a:avLst/>
          </a:prstGeom>
          <a:noFill/>
          <a:ln/>
        </p:spPr>
        <p:txBody>
          <a:bodyPr wrap="square" lIns="0" tIns="0" rIns="0" bIns="0" rtlCol="0" anchor="t"/>
          <a:lstStyle/>
          <a:p>
            <a:pPr indent="0" marL="0">
              <a:buNone/>
            </a:pPr>
            <a:r>
              <a:rPr lang="en-US" sz="1600" spc="100" kern="0" dirty="0">
                <a:solidFill>
                  <a:srgbClr val="FF6A1A"/>
                </a:solidFill>
                <a:latin typeface="Bahnschrift SemiBold" pitchFamily="34" charset="0"/>
                <a:ea typeface="Bahnschrift SemiBold" pitchFamily="34" charset="-122"/>
                <a:cs typeface="Bahnschrift SemiBold" pitchFamily="34" charset="-120"/>
              </a:rPr>
              <a:t>+6 MIN LEAD</a:t>
            </a:r>
            <a:endParaRPr lang="en-US" sz="1600" dirty="0"/>
          </a:p>
        </p:txBody>
      </p:sp>
      <p:sp>
        <p:nvSpPr>
          <p:cNvPr id="30" name="Text 28"/>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Deterministic (seed=42) · held-out: 100% recall / 3.3% FP over 240 unseen-seed scenarios · property-tested.</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12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REPLAYED FROM TWO REAL INQUIRIES</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Would it catch a real one? Twice.</a:t>
            </a:r>
            <a:endParaRPr lang="en-US" sz="3100" dirty="0"/>
          </a:p>
        </p:txBody>
      </p:sp>
      <p:sp>
        <p:nvSpPr>
          <p:cNvPr id="9" name="Shape 7"/>
          <p:cNvSpPr/>
          <p:nvPr/>
        </p:nvSpPr>
        <p:spPr>
          <a:xfrm>
            <a:off x="777240" y="2148840"/>
            <a:ext cx="5044288" cy="0"/>
          </a:xfrm>
          <a:prstGeom prst="line">
            <a:avLst/>
          </a:prstGeom>
          <a:noFill/>
          <a:ln w="12700">
            <a:solidFill>
              <a:srgbClr val="473726"/>
            </a:solidFill>
            <a:prstDash val="solid"/>
          </a:ln>
        </p:spPr>
      </p:sp>
      <p:sp>
        <p:nvSpPr>
          <p:cNvPr id="10" name="Text 8"/>
          <p:cNvSpPr/>
          <p:nvPr/>
        </p:nvSpPr>
        <p:spPr>
          <a:xfrm>
            <a:off x="777240" y="2286000"/>
            <a:ext cx="5044288"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U.S. CSB · 2005 · Report 2005-04-I-TX</a:t>
            </a:r>
            <a:endParaRPr lang="en-US" sz="1000" dirty="0"/>
          </a:p>
        </p:txBody>
      </p:sp>
      <p:sp>
        <p:nvSpPr>
          <p:cNvPr id="11" name="Text 9"/>
          <p:cNvSpPr/>
          <p:nvPr/>
        </p:nvSpPr>
        <p:spPr>
          <a:xfrm>
            <a:off x="777240" y="2578608"/>
            <a:ext cx="5044288" cy="457200"/>
          </a:xfrm>
          <a:prstGeom prst="rect">
            <a:avLst/>
          </a:prstGeom>
          <a:noFill/>
          <a:ln/>
        </p:spPr>
        <p:txBody>
          <a:bodyPr wrap="square" lIns="0" tIns="0" rIns="0" bIns="0" rtlCol="0" anchor="t"/>
          <a:lstStyle/>
          <a:p>
            <a:pPr indent="0" marL="0">
              <a:buNone/>
            </a:pPr>
            <a:r>
              <a:rPr lang="en-US" sz="1900" dirty="0">
                <a:solidFill>
                  <a:srgbClr val="FBF6EC"/>
                </a:solidFill>
                <a:latin typeface="Bahnschrift" pitchFamily="34" charset="0"/>
                <a:ea typeface="Bahnschrift" pitchFamily="34" charset="-122"/>
                <a:cs typeface="Bahnschrift" pitchFamily="34" charset="-120"/>
              </a:rPr>
              <a:t>BP TEXAS CITY REFINERY</a:t>
            </a:r>
            <a:endParaRPr lang="en-US" sz="1900" dirty="0"/>
          </a:p>
        </p:txBody>
      </p:sp>
      <p:sp>
        <p:nvSpPr>
          <p:cNvPr id="12" name="Text 10"/>
          <p:cNvSpPr/>
          <p:nvPr/>
        </p:nvSpPr>
        <p:spPr>
          <a:xfrm>
            <a:off x="777240" y="3154680"/>
            <a:ext cx="5044288" cy="1005840"/>
          </a:xfrm>
          <a:prstGeom prst="rect">
            <a:avLst/>
          </a:prstGeom>
          <a:noFill/>
          <a:ln/>
        </p:spPr>
        <p:txBody>
          <a:bodyPr wrap="square" lIns="0" tIns="0" rIns="0" bIns="0" rtlCol="0" anchor="b"/>
          <a:lstStyle/>
          <a:p>
            <a:pPr indent="0" marL="0">
              <a:buNone/>
            </a:pPr>
            <a:r>
              <a:rPr lang="en-US" sz="7200" dirty="0">
                <a:solidFill>
                  <a:srgbClr val="FF2B4E"/>
                </a:solidFill>
                <a:latin typeface="Bahnschrift SemiBold" pitchFamily="34" charset="0"/>
                <a:ea typeface="Bahnschrift SemiBold" pitchFamily="34" charset="-122"/>
                <a:cs typeface="Bahnschrift SemiBold" pitchFamily="34" charset="-120"/>
              </a:rPr>
              <a:t>+10</a:t>
            </a:r>
            <a:pPr indent="0" marL="0">
              <a:buNone/>
            </a:pPr>
            <a:r>
              <a:rPr lang="en-US" sz="1300" dirty="0">
                <a:solidFill>
                  <a:srgbClr val="FF6A1A"/>
                </a:solidFill>
                <a:latin typeface="Cascadia Mono" pitchFamily="34" charset="0"/>
                <a:ea typeface="Cascadia Mono" pitchFamily="34" charset="-122"/>
                <a:cs typeface="Cascadia Mono" pitchFamily="34" charset="-120"/>
              </a:rPr>
              <a:t>  earlier</a:t>
            </a:r>
            <a:endParaRPr lang="en-US" sz="7200" dirty="0"/>
          </a:p>
        </p:txBody>
      </p:sp>
      <p:sp>
        <p:nvSpPr>
          <p:cNvPr id="13" name="Text 11"/>
          <p:cNvSpPr/>
          <p:nvPr/>
        </p:nvSpPr>
        <p:spPr>
          <a:xfrm>
            <a:off x="777240" y="4297680"/>
            <a:ext cx="4861408" cy="822960"/>
          </a:xfrm>
          <a:prstGeom prst="rect">
            <a:avLst/>
          </a:prstGeom>
          <a:noFill/>
          <a:ln/>
        </p:spPr>
        <p:txBody>
          <a:bodyPr wrap="square" lIns="0" tIns="0" rIns="0" bIns="0" rtlCol="0" anchor="t"/>
          <a:lstStyle/>
          <a:p>
            <a:pPr indent="0" marL="0">
              <a:lnSpc>
                <a:spcPct val="120000"/>
              </a:lnSpc>
              <a:buNone/>
            </a:pPr>
            <a:r>
              <a:rPr lang="en-US" sz="1300" dirty="0">
                <a:solidFill>
                  <a:srgbClr val="C6B9A6"/>
                </a:solidFill>
                <a:latin typeface="Segoe UI" pitchFamily="34" charset="0"/>
                <a:ea typeface="Segoe UI" pitchFamily="34" charset="-122"/>
                <a:cs typeface="Segoe UI" pitchFamily="34" charset="-120"/>
              </a:rPr>
              <a:t>min before the documented vapour-cloud ignition (T+20). 15 killed.</a:t>
            </a:r>
            <a:endParaRPr lang="en-US" sz="1300" dirty="0"/>
          </a:p>
        </p:txBody>
      </p:sp>
      <p:sp>
        <p:nvSpPr>
          <p:cNvPr id="14" name="Shape 12"/>
          <p:cNvSpPr/>
          <p:nvPr/>
        </p:nvSpPr>
        <p:spPr>
          <a:xfrm>
            <a:off x="6370168" y="2148840"/>
            <a:ext cx="5044288" cy="0"/>
          </a:xfrm>
          <a:prstGeom prst="line">
            <a:avLst/>
          </a:prstGeom>
          <a:noFill/>
          <a:ln w="12700">
            <a:solidFill>
              <a:srgbClr val="473726"/>
            </a:solidFill>
            <a:prstDash val="solid"/>
          </a:ln>
        </p:spPr>
      </p:sp>
      <p:sp>
        <p:nvSpPr>
          <p:cNvPr id="15" name="Text 13"/>
          <p:cNvSpPr/>
          <p:nvPr/>
        </p:nvSpPr>
        <p:spPr>
          <a:xfrm>
            <a:off x="6370168" y="2286000"/>
            <a:ext cx="5044288"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MB Lal Committee · 2009</a:t>
            </a:r>
            <a:endParaRPr lang="en-US" sz="1000" dirty="0"/>
          </a:p>
        </p:txBody>
      </p:sp>
      <p:sp>
        <p:nvSpPr>
          <p:cNvPr id="16" name="Text 14"/>
          <p:cNvSpPr/>
          <p:nvPr/>
        </p:nvSpPr>
        <p:spPr>
          <a:xfrm>
            <a:off x="6370168" y="2578608"/>
            <a:ext cx="5044288" cy="457200"/>
          </a:xfrm>
          <a:prstGeom prst="rect">
            <a:avLst/>
          </a:prstGeom>
          <a:noFill/>
          <a:ln/>
        </p:spPr>
        <p:txBody>
          <a:bodyPr wrap="square" lIns="0" tIns="0" rIns="0" bIns="0" rtlCol="0" anchor="t"/>
          <a:lstStyle/>
          <a:p>
            <a:pPr indent="0" marL="0">
              <a:buNone/>
            </a:pPr>
            <a:r>
              <a:rPr lang="en-US" sz="1900" dirty="0">
                <a:solidFill>
                  <a:srgbClr val="FBF6EC"/>
                </a:solidFill>
                <a:latin typeface="Bahnschrift" pitchFamily="34" charset="0"/>
                <a:ea typeface="Bahnschrift" pitchFamily="34" charset="-122"/>
                <a:cs typeface="Bahnschrift" pitchFamily="34" charset="-120"/>
              </a:rPr>
              <a:t>INDIAN OIL JAIPUR DEPOT</a:t>
            </a:r>
            <a:endParaRPr lang="en-US" sz="1900" dirty="0"/>
          </a:p>
        </p:txBody>
      </p:sp>
      <p:sp>
        <p:nvSpPr>
          <p:cNvPr id="17" name="Text 15"/>
          <p:cNvSpPr/>
          <p:nvPr/>
        </p:nvSpPr>
        <p:spPr>
          <a:xfrm>
            <a:off x="6370168" y="3154680"/>
            <a:ext cx="5044288" cy="1005840"/>
          </a:xfrm>
          <a:prstGeom prst="rect">
            <a:avLst/>
          </a:prstGeom>
          <a:noFill/>
          <a:ln/>
        </p:spPr>
        <p:txBody>
          <a:bodyPr wrap="square" lIns="0" tIns="0" rIns="0" bIns="0" rtlCol="0" anchor="b"/>
          <a:lstStyle/>
          <a:p>
            <a:pPr indent="0" marL="0">
              <a:buNone/>
            </a:pPr>
            <a:r>
              <a:rPr lang="en-US" sz="7200" dirty="0">
                <a:solidFill>
                  <a:srgbClr val="FF2B4E"/>
                </a:solidFill>
                <a:latin typeface="Bahnschrift SemiBold" pitchFamily="34" charset="0"/>
                <a:ea typeface="Bahnschrift SemiBold" pitchFamily="34" charset="-122"/>
                <a:cs typeface="Bahnschrift SemiBold" pitchFamily="34" charset="-120"/>
              </a:rPr>
              <a:t>+36</a:t>
            </a:r>
            <a:pPr indent="0" marL="0">
              <a:buNone/>
            </a:pPr>
            <a:r>
              <a:rPr lang="en-US" sz="1300" dirty="0">
                <a:solidFill>
                  <a:srgbClr val="FF6A1A"/>
                </a:solidFill>
                <a:latin typeface="Cascadia Mono" pitchFamily="34" charset="0"/>
                <a:ea typeface="Cascadia Mono" pitchFamily="34" charset="-122"/>
                <a:cs typeface="Cascadia Mono" pitchFamily="34" charset="-120"/>
              </a:rPr>
              <a:t>  earlier</a:t>
            </a:r>
            <a:endParaRPr lang="en-US" sz="7200" dirty="0"/>
          </a:p>
        </p:txBody>
      </p:sp>
      <p:sp>
        <p:nvSpPr>
          <p:cNvPr id="18" name="Text 16"/>
          <p:cNvSpPr/>
          <p:nvPr/>
        </p:nvSpPr>
        <p:spPr>
          <a:xfrm>
            <a:off x="6370168" y="4297680"/>
            <a:ext cx="4861408" cy="822960"/>
          </a:xfrm>
          <a:prstGeom prst="rect">
            <a:avLst/>
          </a:prstGeom>
          <a:noFill/>
          <a:ln/>
        </p:spPr>
        <p:txBody>
          <a:bodyPr wrap="square" lIns="0" tIns="0" rIns="0" bIns="0" rtlCol="0" anchor="t"/>
          <a:lstStyle/>
          <a:p>
            <a:pPr indent="0" marL="0">
              <a:lnSpc>
                <a:spcPct val="120000"/>
              </a:lnSpc>
              <a:buNone/>
            </a:pPr>
            <a:r>
              <a:rPr lang="en-US" sz="1300" dirty="0">
                <a:solidFill>
                  <a:srgbClr val="C6B9A6"/>
                </a:solidFill>
                <a:latin typeface="Segoe UI" pitchFamily="34" charset="0"/>
                <a:ea typeface="Segoe UI" pitchFamily="34" charset="-122"/>
                <a:cs typeface="Segoe UI" pitchFamily="34" charset="-120"/>
              </a:rPr>
              <a:t>min before the documented ignition (T+48) of a long, undetected vapour build-up. 12 killed.</a:t>
            </a:r>
            <a:endParaRPr lang="en-US" sz="1300" dirty="0"/>
          </a:p>
        </p:txBody>
      </p:sp>
      <p:sp>
        <p:nvSpPr>
          <p:cNvPr id="19" name="Shape 17"/>
          <p:cNvSpPr/>
          <p:nvPr/>
        </p:nvSpPr>
        <p:spPr>
          <a:xfrm>
            <a:off x="777240" y="5440680"/>
            <a:ext cx="10637215" cy="594360"/>
          </a:xfrm>
          <a:prstGeom prst="rect">
            <a:avLst/>
          </a:prstGeom>
          <a:solidFill>
            <a:srgbClr val="151009"/>
          </a:solidFill>
          <a:ln w="12700">
            <a:solidFill>
              <a:srgbClr val="2A2118"/>
            </a:solidFill>
            <a:prstDash val="solid"/>
          </a:ln>
        </p:spPr>
      </p:sp>
      <p:sp>
        <p:nvSpPr>
          <p:cNvPr id="20" name="Text 18"/>
          <p:cNvSpPr/>
          <p:nvPr/>
        </p:nvSpPr>
        <p:spPr>
          <a:xfrm>
            <a:off x="1097280" y="5440680"/>
            <a:ext cx="9997135" cy="594360"/>
          </a:xfrm>
          <a:prstGeom prst="rect">
            <a:avLst/>
          </a:prstGeom>
          <a:noFill/>
          <a:ln/>
        </p:spPr>
        <p:txBody>
          <a:bodyPr wrap="square" lIns="0" tIns="0" rIns="0" bIns="0" rtlCol="0" anchor="ctr"/>
          <a:lstStyle/>
          <a:p>
            <a:pPr indent="0" marL="0">
              <a:lnSpc>
                <a:spcPct val="112000"/>
              </a:lnSpc>
              <a:buNone/>
            </a:pPr>
            <a:r>
              <a:rPr lang="en-US" sz="1100" b="1" dirty="0">
                <a:solidFill>
                  <a:srgbClr val="FF6A1A"/>
                </a:solidFill>
                <a:latin typeface="Bahnschrift" pitchFamily="34" charset="0"/>
                <a:ea typeface="Bahnschrift" pitchFamily="34" charset="-122"/>
                <a:cs typeface="Bahnschrift" pitchFamily="34" charset="-120"/>
              </a:rPr>
              <a:t>Same engine, reconstructed inputs.  </a:t>
            </a:r>
            <a:pPr indent="0" marL="0">
              <a:lnSpc>
                <a:spcPct val="112000"/>
              </a:lnSpc>
              <a:buNone/>
            </a:pPr>
            <a:r>
              <a:rPr lang="en-US" sz="1100" dirty="0">
                <a:solidFill>
                  <a:srgbClr val="C6B9A6"/>
                </a:solidFill>
                <a:latin typeface="Segoe UI" pitchFamily="34" charset="0"/>
                <a:ea typeface="Segoe UI" pitchFamily="34" charset="-122"/>
                <a:cs typeface="Segoe UI" pitchFamily="34" charset="-120"/>
              </a:rPr>
              <a:t>Each inquiry's documented escalation is replayed through the live engine; where a site had no gas detector (a finding in both), the vapour build-up maps to the flammable channel — ignition and personnel are the inquiry's.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13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BUSINESS IMPACT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The math a buyer underwrites</a:t>
            </a:r>
            <a:endParaRPr lang="en-US" sz="3100" dirty="0"/>
          </a:p>
        </p:txBody>
      </p:sp>
      <p:sp>
        <p:nvSpPr>
          <p:cNvPr id="9" name="Text 7"/>
          <p:cNvSpPr/>
          <p:nvPr/>
        </p:nvSpPr>
        <p:spPr>
          <a:xfrm>
            <a:off x="777240" y="2240280"/>
            <a:ext cx="4572000" cy="274320"/>
          </a:xfrm>
          <a:prstGeom prst="rect">
            <a:avLst/>
          </a:prstGeom>
          <a:noFill/>
          <a:ln/>
        </p:spPr>
        <p:txBody>
          <a:bodyPr wrap="square" lIns="0" tIns="0" rIns="0" bIns="0" rtlCol="0" anchor="t"/>
          <a:lstStyle/>
          <a:p>
            <a:pPr indent="0" marL="0">
              <a:buNone/>
            </a:pPr>
            <a:r>
              <a:rPr lang="en-US" sz="1000" spc="100" kern="0" dirty="0">
                <a:solidFill>
                  <a:srgbClr val="8A7B68"/>
                </a:solidFill>
                <a:latin typeface="Cascadia Mono" pitchFamily="34" charset="0"/>
                <a:ea typeface="Cascadia Mono" pitchFamily="34" charset="-122"/>
                <a:cs typeface="Cascadia Mono" pitchFamily="34" charset="-120"/>
              </a:rPr>
              <a:t>PER PREVENTED INCIDENT</a:t>
            </a:r>
            <a:endParaRPr lang="en-US" sz="1000" dirty="0"/>
          </a:p>
        </p:txBody>
      </p:sp>
      <p:sp>
        <p:nvSpPr>
          <p:cNvPr id="10" name="Text 8"/>
          <p:cNvSpPr/>
          <p:nvPr/>
        </p:nvSpPr>
        <p:spPr>
          <a:xfrm>
            <a:off x="749808" y="2514600"/>
            <a:ext cx="5486400" cy="1051560"/>
          </a:xfrm>
          <a:prstGeom prst="rect">
            <a:avLst/>
          </a:prstGeom>
          <a:noFill/>
          <a:ln/>
        </p:spPr>
        <p:txBody>
          <a:bodyPr wrap="square" lIns="0" tIns="0" rIns="0" bIns="0" rtlCol="0" anchor="t"/>
          <a:lstStyle/>
          <a:p>
            <a:pPr indent="0" marL="0">
              <a:buNone/>
            </a:pPr>
            <a:r>
              <a:rPr lang="en-US" sz="6200" dirty="0">
                <a:solidFill>
                  <a:srgbClr val="FBF6EC"/>
                </a:solidFill>
                <a:latin typeface="Bahnschrift SemiBold" pitchFamily="34" charset="0"/>
                <a:ea typeface="Bahnschrift SemiBold" pitchFamily="34" charset="-122"/>
                <a:cs typeface="Bahnschrift SemiBold" pitchFamily="34" charset="-120"/>
              </a:rPr>
              <a:t>₹115.5 Cr</a:t>
            </a:r>
            <a:endParaRPr lang="en-US" sz="6200" dirty="0"/>
          </a:p>
        </p:txBody>
      </p:sp>
      <p:sp>
        <p:nvSpPr>
          <p:cNvPr id="11" name="Text 9"/>
          <p:cNvSpPr/>
          <p:nvPr/>
        </p:nvSpPr>
        <p:spPr>
          <a:xfrm>
            <a:off x="777240" y="3584448"/>
            <a:ext cx="5029200" cy="274320"/>
          </a:xfrm>
          <a:prstGeom prst="rect">
            <a:avLst/>
          </a:prstGeom>
          <a:noFill/>
          <a:ln/>
        </p:spPr>
        <p:txBody>
          <a:bodyPr wrap="square" lIns="0" tIns="0" rIns="0" bIns="0" rtlCol="0" anchor="t"/>
          <a:lstStyle/>
          <a:p>
            <a:pPr indent="0" marL="0">
              <a:buNone/>
            </a:pPr>
            <a:r>
              <a:rPr lang="en-US" sz="1300" dirty="0">
                <a:solidFill>
                  <a:srgbClr val="C6B9A6"/>
                </a:solidFill>
                <a:latin typeface="Segoe UI" pitchFamily="34" charset="0"/>
                <a:ea typeface="Segoe UI" pitchFamily="34" charset="-122"/>
                <a:cs typeface="Segoe UI" pitchFamily="34" charset="-120"/>
              </a:rPr>
              <a:t>avoided loss — a Vizag-class event</a:t>
            </a:r>
            <a:endParaRPr lang="en-US" sz="1300" dirty="0"/>
          </a:p>
        </p:txBody>
      </p:sp>
      <p:sp>
        <p:nvSpPr>
          <p:cNvPr id="12" name="Text 10"/>
          <p:cNvSpPr/>
          <p:nvPr/>
        </p:nvSpPr>
        <p:spPr>
          <a:xfrm>
            <a:off x="777240" y="4160520"/>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Lives protected</a:t>
            </a:r>
            <a:endParaRPr lang="en-US" sz="1300" dirty="0"/>
          </a:p>
        </p:txBody>
      </p:sp>
      <p:sp>
        <p:nvSpPr>
          <p:cNvPr id="13" name="Text 11"/>
          <p:cNvSpPr/>
          <p:nvPr/>
        </p:nvSpPr>
        <p:spPr>
          <a:xfrm>
            <a:off x="3886200" y="4160520"/>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₹7.5 Cr</a:t>
            </a:r>
            <a:endParaRPr lang="en-US" sz="1300" dirty="0"/>
          </a:p>
        </p:txBody>
      </p:sp>
      <p:sp>
        <p:nvSpPr>
          <p:cNvPr id="14" name="Text 12"/>
          <p:cNvSpPr/>
          <p:nvPr/>
        </p:nvSpPr>
        <p:spPr>
          <a:xfrm>
            <a:off x="777240" y="4562856"/>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Asset damage</a:t>
            </a:r>
            <a:endParaRPr lang="en-US" sz="1300" dirty="0"/>
          </a:p>
        </p:txBody>
      </p:sp>
      <p:sp>
        <p:nvSpPr>
          <p:cNvPr id="15" name="Text 13"/>
          <p:cNvSpPr/>
          <p:nvPr/>
        </p:nvSpPr>
        <p:spPr>
          <a:xfrm>
            <a:off x="3886200" y="4562856"/>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₹40 Cr</a:t>
            </a:r>
            <a:endParaRPr lang="en-US" sz="1300" dirty="0"/>
          </a:p>
        </p:txBody>
      </p:sp>
      <p:sp>
        <p:nvSpPr>
          <p:cNvPr id="16" name="Text 14"/>
          <p:cNvSpPr/>
          <p:nvPr/>
        </p:nvSpPr>
        <p:spPr>
          <a:xfrm>
            <a:off x="777240" y="4965192"/>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Downtime (21 d)</a:t>
            </a:r>
            <a:endParaRPr lang="en-US" sz="1300" dirty="0"/>
          </a:p>
        </p:txBody>
      </p:sp>
      <p:sp>
        <p:nvSpPr>
          <p:cNvPr id="17" name="Text 15"/>
          <p:cNvSpPr/>
          <p:nvPr/>
        </p:nvSpPr>
        <p:spPr>
          <a:xfrm>
            <a:off x="3886200" y="4965192"/>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₹63 Cr</a:t>
            </a:r>
            <a:endParaRPr lang="en-US" sz="1300" dirty="0"/>
          </a:p>
        </p:txBody>
      </p:sp>
      <p:sp>
        <p:nvSpPr>
          <p:cNvPr id="18" name="Text 16"/>
          <p:cNvSpPr/>
          <p:nvPr/>
        </p:nvSpPr>
        <p:spPr>
          <a:xfrm>
            <a:off x="777240" y="5367528"/>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Regulatory penalty</a:t>
            </a:r>
            <a:endParaRPr lang="en-US" sz="1300" dirty="0"/>
          </a:p>
        </p:txBody>
      </p:sp>
      <p:sp>
        <p:nvSpPr>
          <p:cNvPr id="19" name="Text 17"/>
          <p:cNvSpPr/>
          <p:nvPr/>
        </p:nvSpPr>
        <p:spPr>
          <a:xfrm>
            <a:off x="3886200" y="5367528"/>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₹5 Cr</a:t>
            </a:r>
            <a:endParaRPr lang="en-US" sz="1300" dirty="0"/>
          </a:p>
        </p:txBody>
      </p:sp>
      <p:sp>
        <p:nvSpPr>
          <p:cNvPr id="20" name="Shape 18"/>
          <p:cNvSpPr/>
          <p:nvPr/>
        </p:nvSpPr>
        <p:spPr>
          <a:xfrm>
            <a:off x="6400800" y="2194560"/>
            <a:ext cx="0" cy="3611880"/>
          </a:xfrm>
          <a:prstGeom prst="line">
            <a:avLst/>
          </a:prstGeom>
          <a:noFill/>
          <a:ln w="12700">
            <a:solidFill>
              <a:srgbClr val="2A2118"/>
            </a:solidFill>
            <a:prstDash val="solid"/>
          </a:ln>
        </p:spPr>
      </p:sp>
      <p:sp>
        <p:nvSpPr>
          <p:cNvPr id="21" name="Text 19"/>
          <p:cNvSpPr/>
          <p:nvPr/>
        </p:nvSpPr>
        <p:spPr>
          <a:xfrm>
            <a:off x="6720840" y="2286000"/>
            <a:ext cx="512064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EXPECTED ANNUAL RETURN</a:t>
            </a:r>
            <a:endParaRPr lang="en-US" sz="1000" dirty="0"/>
          </a:p>
        </p:txBody>
      </p:sp>
      <p:sp>
        <p:nvSpPr>
          <p:cNvPr id="22" name="Text 20"/>
          <p:cNvSpPr/>
          <p:nvPr/>
        </p:nvSpPr>
        <p:spPr>
          <a:xfrm>
            <a:off x="6693408" y="2542032"/>
            <a:ext cx="4572000" cy="914400"/>
          </a:xfrm>
          <a:prstGeom prst="rect">
            <a:avLst/>
          </a:prstGeom>
          <a:noFill/>
          <a:ln/>
        </p:spPr>
        <p:txBody>
          <a:bodyPr wrap="square" lIns="0" tIns="0" rIns="0" bIns="0" rtlCol="0" anchor="t"/>
          <a:lstStyle/>
          <a:p>
            <a:pPr indent="0" marL="0">
              <a:buNone/>
            </a:pPr>
            <a:r>
              <a:rPr lang="en-US" sz="5200" dirty="0">
                <a:solidFill>
                  <a:srgbClr val="FBF6EC"/>
                </a:solidFill>
                <a:latin typeface="Bahnschrift SemiBold" pitchFamily="34" charset="0"/>
                <a:ea typeface="Bahnschrift SemiBold" pitchFamily="34" charset="-122"/>
                <a:cs typeface="Bahnschrift SemiBold" pitchFamily="34" charset="-120"/>
              </a:rPr>
              <a:t>≈ 7.7×</a:t>
            </a:r>
            <a:endParaRPr lang="en-US" sz="5200" dirty="0"/>
          </a:p>
        </p:txBody>
      </p:sp>
      <p:sp>
        <p:nvSpPr>
          <p:cNvPr id="23" name="Text 21"/>
          <p:cNvSpPr/>
          <p:nvPr/>
        </p:nvSpPr>
        <p:spPr>
          <a:xfrm>
            <a:off x="6720840" y="3520440"/>
            <a:ext cx="4693615" cy="457200"/>
          </a:xfrm>
          <a:prstGeom prst="rect">
            <a:avLst/>
          </a:prstGeom>
          <a:noFill/>
          <a:ln/>
        </p:spPr>
        <p:txBody>
          <a:bodyPr wrap="square" lIns="0" tIns="0" rIns="0" bIns="0" rtlCol="0" anchor="t"/>
          <a:lstStyle/>
          <a:p>
            <a:pPr indent="0" marL="0">
              <a:lnSpc>
                <a:spcPct val="115000"/>
              </a:lnSpc>
              <a:buNone/>
            </a:pPr>
            <a:r>
              <a:rPr lang="en-US" sz="1250" dirty="0">
                <a:solidFill>
                  <a:srgbClr val="C6B9A6"/>
                </a:solidFill>
                <a:latin typeface="Segoe UI" pitchFamily="34" charset="0"/>
                <a:ea typeface="Segoe UI" pitchFamily="34" charset="-122"/>
                <a:cs typeface="Segoe UI" pitchFamily="34" charset="-120"/>
              </a:rPr>
              <a:t>on the ₹1 Cr / plant / yr platform — even at a conservative 1-in-15-year event</a:t>
            </a:r>
            <a:endParaRPr lang="en-US" sz="1250" dirty="0"/>
          </a:p>
        </p:txBody>
      </p:sp>
      <p:sp>
        <p:nvSpPr>
          <p:cNvPr id="24" name="Text 22"/>
          <p:cNvSpPr/>
          <p:nvPr/>
        </p:nvSpPr>
        <p:spPr>
          <a:xfrm>
            <a:off x="6720840" y="4160520"/>
            <a:ext cx="1554480" cy="457200"/>
          </a:xfrm>
          <a:prstGeom prst="rect">
            <a:avLst/>
          </a:prstGeom>
          <a:noFill/>
          <a:ln/>
        </p:spPr>
        <p:txBody>
          <a:bodyPr wrap="square" lIns="0" tIns="0" rIns="0" bIns="0" rtlCol="0" anchor="t"/>
          <a:lstStyle/>
          <a:p>
            <a:pPr indent="0" marL="0">
              <a:buNone/>
            </a:pPr>
            <a:r>
              <a:rPr lang="en-US" sz="2200" dirty="0">
                <a:solidFill>
                  <a:srgbClr val="FF6A1A"/>
                </a:solidFill>
                <a:latin typeface="Bahnschrift SemiBold" pitchFamily="34" charset="0"/>
                <a:ea typeface="Bahnschrift SemiBold" pitchFamily="34" charset="-122"/>
                <a:cs typeface="Bahnschrift SemiBold" pitchFamily="34" charset="-120"/>
              </a:rPr>
              <a:t>3.9×</a:t>
            </a:r>
            <a:endParaRPr lang="en-US" sz="2200" dirty="0"/>
          </a:p>
        </p:txBody>
      </p:sp>
      <p:sp>
        <p:nvSpPr>
          <p:cNvPr id="25" name="Text 23"/>
          <p:cNvSpPr/>
          <p:nvPr/>
        </p:nvSpPr>
        <p:spPr>
          <a:xfrm>
            <a:off x="6720840" y="4645152"/>
            <a:ext cx="15544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1-in-30 yr</a:t>
            </a:r>
            <a:endParaRPr lang="en-US" sz="950" dirty="0"/>
          </a:p>
        </p:txBody>
      </p:sp>
      <p:sp>
        <p:nvSpPr>
          <p:cNvPr id="26" name="Text 24"/>
          <p:cNvSpPr/>
          <p:nvPr/>
        </p:nvSpPr>
        <p:spPr>
          <a:xfrm>
            <a:off x="8412480" y="4160520"/>
            <a:ext cx="1554480" cy="457200"/>
          </a:xfrm>
          <a:prstGeom prst="rect">
            <a:avLst/>
          </a:prstGeom>
          <a:noFill/>
          <a:ln/>
        </p:spPr>
        <p:txBody>
          <a:bodyPr wrap="square" lIns="0" tIns="0" rIns="0" bIns="0" rtlCol="0" anchor="t"/>
          <a:lstStyle/>
          <a:p>
            <a:pPr indent="0" marL="0">
              <a:buNone/>
            </a:pPr>
            <a:r>
              <a:rPr lang="en-US" sz="2200" dirty="0">
                <a:solidFill>
                  <a:srgbClr val="FF6A1A"/>
                </a:solidFill>
                <a:latin typeface="Bahnschrift SemiBold" pitchFamily="34" charset="0"/>
                <a:ea typeface="Bahnschrift SemiBold" pitchFamily="34" charset="-122"/>
                <a:cs typeface="Bahnschrift SemiBold" pitchFamily="34" charset="-120"/>
              </a:rPr>
              <a:t>7.7×</a:t>
            </a:r>
            <a:endParaRPr lang="en-US" sz="2200" dirty="0"/>
          </a:p>
        </p:txBody>
      </p:sp>
      <p:sp>
        <p:nvSpPr>
          <p:cNvPr id="27" name="Text 25"/>
          <p:cNvSpPr/>
          <p:nvPr/>
        </p:nvSpPr>
        <p:spPr>
          <a:xfrm>
            <a:off x="8412480" y="4645152"/>
            <a:ext cx="15544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1-in-15 yr</a:t>
            </a:r>
            <a:endParaRPr lang="en-US" sz="950" dirty="0"/>
          </a:p>
        </p:txBody>
      </p:sp>
      <p:sp>
        <p:nvSpPr>
          <p:cNvPr id="28" name="Text 26"/>
          <p:cNvSpPr/>
          <p:nvPr/>
        </p:nvSpPr>
        <p:spPr>
          <a:xfrm>
            <a:off x="10104120" y="4160520"/>
            <a:ext cx="1554480" cy="457200"/>
          </a:xfrm>
          <a:prstGeom prst="rect">
            <a:avLst/>
          </a:prstGeom>
          <a:noFill/>
          <a:ln/>
        </p:spPr>
        <p:txBody>
          <a:bodyPr wrap="square" lIns="0" tIns="0" rIns="0" bIns="0" rtlCol="0" anchor="t"/>
          <a:lstStyle/>
          <a:p>
            <a:pPr indent="0" marL="0">
              <a:buNone/>
            </a:pPr>
            <a:r>
              <a:rPr lang="en-US" sz="2200" dirty="0">
                <a:solidFill>
                  <a:srgbClr val="FF6A1A"/>
                </a:solidFill>
                <a:latin typeface="Bahnschrift SemiBold" pitchFamily="34" charset="0"/>
                <a:ea typeface="Bahnschrift SemiBold" pitchFamily="34" charset="-122"/>
                <a:cs typeface="Bahnschrift SemiBold" pitchFamily="34" charset="-120"/>
              </a:rPr>
              <a:t>14.4×</a:t>
            </a:r>
            <a:endParaRPr lang="en-US" sz="2200" dirty="0"/>
          </a:p>
        </p:txBody>
      </p:sp>
      <p:sp>
        <p:nvSpPr>
          <p:cNvPr id="29" name="Text 27"/>
          <p:cNvSpPr/>
          <p:nvPr/>
        </p:nvSpPr>
        <p:spPr>
          <a:xfrm>
            <a:off x="10104120" y="4645152"/>
            <a:ext cx="15544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1-in-8 yr</a:t>
            </a:r>
            <a:endParaRPr lang="en-US" sz="950" dirty="0"/>
          </a:p>
        </p:txBody>
      </p:sp>
      <p:sp>
        <p:nvSpPr>
          <p:cNvPr id="30" name="Shape 28"/>
          <p:cNvSpPr/>
          <p:nvPr/>
        </p:nvSpPr>
        <p:spPr>
          <a:xfrm>
            <a:off x="6720840" y="5166360"/>
            <a:ext cx="4693615" cy="0"/>
          </a:xfrm>
          <a:prstGeom prst="line">
            <a:avLst/>
          </a:prstGeom>
          <a:noFill/>
          <a:ln w="12700">
            <a:solidFill>
              <a:srgbClr val="2A2118"/>
            </a:solidFill>
            <a:prstDash val="solid"/>
          </a:ln>
        </p:spPr>
      </p:sp>
      <p:sp>
        <p:nvSpPr>
          <p:cNvPr id="31" name="Text 29"/>
          <p:cNvSpPr/>
          <p:nvPr/>
        </p:nvSpPr>
        <p:spPr>
          <a:xfrm>
            <a:off x="6720840" y="5285232"/>
            <a:ext cx="4693615" cy="6400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 insurance lever: a recurring ₹0.4–1.2 Cr/yr premium reduction (5–15% for continuous monitoring) offsets the platform cost whether or not an incident ever occurs.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14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GO TO MARKET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A wedge, a buyer, a trigger</a:t>
            </a:r>
            <a:endParaRPr lang="en-US" sz="3300" dirty="0"/>
          </a:p>
        </p:txBody>
      </p:sp>
      <p:sp>
        <p:nvSpPr>
          <p:cNvPr id="9" name="Shape 7"/>
          <p:cNvSpPr/>
          <p:nvPr/>
        </p:nvSpPr>
        <p:spPr>
          <a:xfrm>
            <a:off x="777240" y="2194560"/>
            <a:ext cx="10637215" cy="0"/>
          </a:xfrm>
          <a:prstGeom prst="line">
            <a:avLst/>
          </a:prstGeom>
          <a:noFill/>
          <a:ln w="12700">
            <a:solidFill>
              <a:srgbClr val="2A2118"/>
            </a:solidFill>
            <a:prstDash val="solid"/>
          </a:ln>
        </p:spPr>
      </p:sp>
      <p:sp>
        <p:nvSpPr>
          <p:cNvPr id="10" name="Text 8"/>
          <p:cNvSpPr/>
          <p:nvPr/>
        </p:nvSpPr>
        <p:spPr>
          <a:xfrm>
            <a:off x="777240" y="2322576"/>
            <a:ext cx="1828800" cy="457200"/>
          </a:xfrm>
          <a:prstGeom prst="rect">
            <a:avLst/>
          </a:prstGeom>
          <a:noFill/>
          <a:ln/>
        </p:spPr>
        <p:txBody>
          <a:bodyPr wrap="square" lIns="0" tIns="0" rIns="0" bIns="0" rtlCol="0" anchor="t"/>
          <a:lstStyle/>
          <a:p>
            <a:pPr indent="0" marL="0">
              <a:buNone/>
            </a:pPr>
            <a:r>
              <a:rPr lang="en-US" sz="1500" dirty="0">
                <a:solidFill>
                  <a:srgbClr val="FF6A1A"/>
                </a:solidFill>
                <a:latin typeface="Bahnschrift" pitchFamily="34" charset="0"/>
                <a:ea typeface="Bahnschrift" pitchFamily="34" charset="-122"/>
                <a:cs typeface="Bahnschrift" pitchFamily="34" charset="-120"/>
              </a:rPr>
              <a:t>BUYER</a:t>
            </a:r>
            <a:endParaRPr lang="en-US" sz="1500" dirty="0"/>
          </a:p>
        </p:txBody>
      </p:sp>
      <p:sp>
        <p:nvSpPr>
          <p:cNvPr id="11" name="Text 9"/>
          <p:cNvSpPr/>
          <p:nvPr/>
        </p:nvSpPr>
        <p:spPr>
          <a:xfrm>
            <a:off x="2788920" y="2304288"/>
            <a:ext cx="8625535" cy="548640"/>
          </a:xfrm>
          <a:prstGeom prst="rect">
            <a:avLst/>
          </a:prstGeom>
          <a:noFill/>
          <a:ln/>
        </p:spPr>
        <p:txBody>
          <a:bodyPr wrap="square" lIns="0" tIns="0" rIns="0" bIns="0" rtlCol="0" anchor="ctr"/>
          <a:lstStyle/>
          <a:p>
            <a:pPr indent="0" marL="0">
              <a:lnSpc>
                <a:spcPct val="112000"/>
              </a:lnSpc>
              <a:buNone/>
            </a:pPr>
            <a:r>
              <a:rPr lang="en-US" sz="1350" dirty="0">
                <a:solidFill>
                  <a:srgbClr val="C6B9A6"/>
                </a:solidFill>
                <a:latin typeface="Segoe UI" pitchFamily="34" charset="0"/>
                <a:ea typeface="Segoe UI" pitchFamily="34" charset="-122"/>
                <a:cs typeface="Segoe UI" pitchFamily="34" charset="-120"/>
              </a:rPr>
              <a:t>Plant process-safety head / safety officer — owns permit-to-work and statutory compliance, carries the fatality risk.</a:t>
            </a:r>
            <a:endParaRPr lang="en-US" sz="1350" dirty="0"/>
          </a:p>
        </p:txBody>
      </p:sp>
      <p:sp>
        <p:nvSpPr>
          <p:cNvPr id="12" name="Shape 10"/>
          <p:cNvSpPr/>
          <p:nvPr/>
        </p:nvSpPr>
        <p:spPr>
          <a:xfrm>
            <a:off x="777240" y="2980944"/>
            <a:ext cx="10637215" cy="0"/>
          </a:xfrm>
          <a:prstGeom prst="line">
            <a:avLst/>
          </a:prstGeom>
          <a:noFill/>
          <a:ln w="12700">
            <a:solidFill>
              <a:srgbClr val="2A2118"/>
            </a:solidFill>
            <a:prstDash val="solid"/>
          </a:ln>
        </p:spPr>
      </p:sp>
      <p:sp>
        <p:nvSpPr>
          <p:cNvPr id="13" name="Text 11"/>
          <p:cNvSpPr/>
          <p:nvPr/>
        </p:nvSpPr>
        <p:spPr>
          <a:xfrm>
            <a:off x="777240" y="3108960"/>
            <a:ext cx="1828800"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WEDGE</a:t>
            </a:r>
            <a:endParaRPr lang="en-US" sz="1500" dirty="0"/>
          </a:p>
        </p:txBody>
      </p:sp>
      <p:sp>
        <p:nvSpPr>
          <p:cNvPr id="14" name="Text 12"/>
          <p:cNvSpPr/>
          <p:nvPr/>
        </p:nvSpPr>
        <p:spPr>
          <a:xfrm>
            <a:off x="2788920" y="3090672"/>
            <a:ext cx="8625535" cy="548640"/>
          </a:xfrm>
          <a:prstGeom prst="rect">
            <a:avLst/>
          </a:prstGeom>
          <a:noFill/>
          <a:ln/>
        </p:spPr>
        <p:txBody>
          <a:bodyPr wrap="square" lIns="0" tIns="0" rIns="0" bIns="0" rtlCol="0" anchor="ctr"/>
          <a:lstStyle/>
          <a:p>
            <a:pPr indent="0" marL="0">
              <a:lnSpc>
                <a:spcPct val="112000"/>
              </a:lnSpc>
              <a:buNone/>
            </a:pPr>
            <a:r>
              <a:rPr lang="en-US" sz="1350" dirty="0">
                <a:solidFill>
                  <a:srgbClr val="C6B9A6"/>
                </a:solidFill>
                <a:latin typeface="Segoe UI" pitchFamily="34" charset="0"/>
                <a:ea typeface="Segoe UI" pitchFamily="34" charset="-122"/>
                <a:cs typeface="Segoe UI" pitchFamily="34" charset="-120"/>
              </a:rPr>
              <a:t>Permit-to-work intelligence — one discrete, fundable pain — then expand to full gas + permit + CCTV + shift fusion.</a:t>
            </a:r>
            <a:endParaRPr lang="en-US" sz="1350" dirty="0"/>
          </a:p>
        </p:txBody>
      </p:sp>
      <p:sp>
        <p:nvSpPr>
          <p:cNvPr id="15" name="Shape 13"/>
          <p:cNvSpPr/>
          <p:nvPr/>
        </p:nvSpPr>
        <p:spPr>
          <a:xfrm>
            <a:off x="777240" y="3767328"/>
            <a:ext cx="10637215" cy="0"/>
          </a:xfrm>
          <a:prstGeom prst="line">
            <a:avLst/>
          </a:prstGeom>
          <a:noFill/>
          <a:ln w="12700">
            <a:solidFill>
              <a:srgbClr val="2A2118"/>
            </a:solidFill>
            <a:prstDash val="solid"/>
          </a:ln>
        </p:spPr>
      </p:sp>
      <p:sp>
        <p:nvSpPr>
          <p:cNvPr id="16" name="Text 14"/>
          <p:cNvSpPr/>
          <p:nvPr/>
        </p:nvSpPr>
        <p:spPr>
          <a:xfrm>
            <a:off x="777240" y="3895344"/>
            <a:ext cx="1828800"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PRICING</a:t>
            </a:r>
            <a:endParaRPr lang="en-US" sz="1500" dirty="0"/>
          </a:p>
        </p:txBody>
      </p:sp>
      <p:sp>
        <p:nvSpPr>
          <p:cNvPr id="17" name="Text 15"/>
          <p:cNvSpPr/>
          <p:nvPr/>
        </p:nvSpPr>
        <p:spPr>
          <a:xfrm>
            <a:off x="2788920" y="3877056"/>
            <a:ext cx="8625535" cy="548640"/>
          </a:xfrm>
          <a:prstGeom prst="rect">
            <a:avLst/>
          </a:prstGeom>
          <a:noFill/>
          <a:ln/>
        </p:spPr>
        <p:txBody>
          <a:bodyPr wrap="square" lIns="0" tIns="0" rIns="0" bIns="0" rtlCol="0" anchor="ctr"/>
          <a:lstStyle/>
          <a:p>
            <a:pPr indent="0" marL="0">
              <a:lnSpc>
                <a:spcPct val="112000"/>
              </a:lnSpc>
              <a:buNone/>
            </a:pPr>
            <a:r>
              <a:rPr lang="en-US" sz="1350" dirty="0">
                <a:solidFill>
                  <a:srgbClr val="C6B9A6"/>
                </a:solidFill>
                <a:latin typeface="Segoe UI" pitchFamily="34" charset="0"/>
                <a:ea typeface="Segoe UI" pitchFamily="34" charset="-122"/>
                <a:cs typeface="Segoe UI" pitchFamily="34" charset="-120"/>
              </a:rPr>
              <a:t>~₹1 Cr / plant / yr — justified against a single downtime-day (~₹3 Cr) or one OISD / NGT penalty.</a:t>
            </a:r>
            <a:endParaRPr lang="en-US" sz="1350" dirty="0"/>
          </a:p>
        </p:txBody>
      </p:sp>
      <p:sp>
        <p:nvSpPr>
          <p:cNvPr id="18" name="Shape 16"/>
          <p:cNvSpPr/>
          <p:nvPr/>
        </p:nvSpPr>
        <p:spPr>
          <a:xfrm>
            <a:off x="777240" y="4553712"/>
            <a:ext cx="10637215" cy="0"/>
          </a:xfrm>
          <a:prstGeom prst="line">
            <a:avLst/>
          </a:prstGeom>
          <a:noFill/>
          <a:ln w="12700">
            <a:solidFill>
              <a:srgbClr val="2A2118"/>
            </a:solidFill>
            <a:prstDash val="solid"/>
          </a:ln>
        </p:spPr>
      </p:sp>
      <p:sp>
        <p:nvSpPr>
          <p:cNvPr id="19" name="Text 17"/>
          <p:cNvSpPr/>
          <p:nvPr/>
        </p:nvSpPr>
        <p:spPr>
          <a:xfrm>
            <a:off x="777240" y="4681728"/>
            <a:ext cx="1828800" cy="457200"/>
          </a:xfrm>
          <a:prstGeom prst="rect">
            <a:avLst/>
          </a:prstGeom>
          <a:noFill/>
          <a:ln/>
        </p:spPr>
        <p:txBody>
          <a:bodyPr wrap="square" lIns="0" tIns="0" rIns="0" bIns="0" rtlCol="0" anchor="t"/>
          <a:lstStyle/>
          <a:p>
            <a:pPr indent="0" marL="0">
              <a:buNone/>
            </a:pPr>
            <a:r>
              <a:rPr lang="en-US" sz="1500" dirty="0">
                <a:solidFill>
                  <a:srgbClr val="F5902B"/>
                </a:solidFill>
                <a:latin typeface="Bahnschrift" pitchFamily="34" charset="0"/>
                <a:ea typeface="Bahnschrift" pitchFamily="34" charset="-122"/>
                <a:cs typeface="Bahnschrift" pitchFamily="34" charset="-120"/>
              </a:rPr>
              <a:t>TRIGGER</a:t>
            </a:r>
            <a:endParaRPr lang="en-US" sz="1500" dirty="0"/>
          </a:p>
        </p:txBody>
      </p:sp>
      <p:sp>
        <p:nvSpPr>
          <p:cNvPr id="20" name="Text 18"/>
          <p:cNvSpPr/>
          <p:nvPr/>
        </p:nvSpPr>
        <p:spPr>
          <a:xfrm>
            <a:off x="2788920" y="4663440"/>
            <a:ext cx="8625535" cy="548640"/>
          </a:xfrm>
          <a:prstGeom prst="rect">
            <a:avLst/>
          </a:prstGeom>
          <a:noFill/>
          <a:ln/>
        </p:spPr>
        <p:txBody>
          <a:bodyPr wrap="square" lIns="0" tIns="0" rIns="0" bIns="0" rtlCol="0" anchor="ctr"/>
          <a:lstStyle/>
          <a:p>
            <a:pPr indent="0" marL="0">
              <a:lnSpc>
                <a:spcPct val="112000"/>
              </a:lnSpc>
              <a:buNone/>
            </a:pPr>
            <a:r>
              <a:rPr lang="en-US" sz="1350" dirty="0">
                <a:solidFill>
                  <a:srgbClr val="C6B9A6"/>
                </a:solidFill>
                <a:latin typeface="Segoe UI" pitchFamily="34" charset="0"/>
                <a:ea typeface="Segoe UI" pitchFamily="34" charset="-122"/>
                <a:cs typeface="Segoe UI" pitchFamily="34" charset="-120"/>
              </a:rPr>
              <a:t>Post-LG-Polymers / Vizag regulatory pressure — DGMS scrutiny and mandatory near-miss reporting.</a:t>
            </a:r>
            <a:endParaRPr lang="en-US" sz="1350" dirty="0"/>
          </a:p>
        </p:txBody>
      </p:sp>
      <p:sp>
        <p:nvSpPr>
          <p:cNvPr id="21" name="Shape 19"/>
          <p:cNvSpPr/>
          <p:nvPr/>
        </p:nvSpPr>
        <p:spPr>
          <a:xfrm>
            <a:off x="777240" y="5340096"/>
            <a:ext cx="10637215" cy="0"/>
          </a:xfrm>
          <a:prstGeom prst="line">
            <a:avLst/>
          </a:prstGeom>
          <a:noFill/>
          <a:ln w="12700">
            <a:solidFill>
              <a:srgbClr val="2A2118"/>
            </a:solidFill>
            <a:prstDash val="solid"/>
          </a:ln>
        </p:spPr>
      </p:sp>
      <p:sp>
        <p:nvSpPr>
          <p:cNvPr id="22" name="Shape 20"/>
          <p:cNvSpPr/>
          <p:nvPr/>
        </p:nvSpPr>
        <p:spPr>
          <a:xfrm>
            <a:off x="777240" y="5532120"/>
            <a:ext cx="10637215" cy="548640"/>
          </a:xfrm>
          <a:prstGeom prst="rect">
            <a:avLst/>
          </a:prstGeom>
          <a:solidFill>
            <a:srgbClr val="FF6A1A"/>
          </a:solidFill>
          <a:ln/>
        </p:spPr>
      </p:sp>
      <p:sp>
        <p:nvSpPr>
          <p:cNvPr id="23" name="Text 21"/>
          <p:cNvSpPr/>
          <p:nvPr/>
        </p:nvSpPr>
        <p:spPr>
          <a:xfrm>
            <a:off x="1097280" y="5532120"/>
            <a:ext cx="9997135" cy="548640"/>
          </a:xfrm>
          <a:prstGeom prst="rect">
            <a:avLst/>
          </a:prstGeom>
          <a:noFill/>
          <a:ln/>
        </p:spPr>
        <p:txBody>
          <a:bodyPr wrap="square" lIns="0" tIns="0" rIns="0" bIns="0" rtlCol="0" anchor="ctr"/>
          <a:lstStyle/>
          <a:p>
            <a:pPr indent="0" marL="0">
              <a:buNone/>
            </a:pPr>
            <a:r>
              <a:rPr lang="en-US" sz="1100" b="1" dirty="0">
                <a:solidFill>
                  <a:srgbClr val="0B0908"/>
                </a:solidFill>
                <a:latin typeface="Cascadia Mono" pitchFamily="34" charset="0"/>
                <a:ea typeface="Cascadia Mono" pitchFamily="34" charset="-122"/>
                <a:cs typeface="Cascadia Mono" pitchFamily="34" charset="-120"/>
              </a:rPr>
              <a:t>THE ASK    </a:t>
            </a:r>
            <a:pPr indent="0" marL="0">
              <a:buNone/>
            </a:pPr>
            <a:r>
              <a:rPr lang="en-US" sz="1500" dirty="0">
                <a:solidFill>
                  <a:srgbClr val="0B0908"/>
                </a:solidFill>
                <a:latin typeface="Bahnschrift" pitchFamily="34" charset="0"/>
                <a:ea typeface="Bahnschrift" pitchFamily="34" charset="-122"/>
                <a:cs typeface="Bahnschrift" pitchFamily="34" charset="-120"/>
              </a:rPr>
              <a:t>1–2 design partners (steel / refining) for a 90-day pilot on a live permit-to-work + gas feed.</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15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WHY AN INCUMBENT CAN'T JUST SHIP IT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000" dirty="0">
                <a:solidFill>
                  <a:srgbClr val="FBF6EC"/>
                </a:solidFill>
                <a:latin typeface="Bahnschrift SemiBold" pitchFamily="34" charset="0"/>
                <a:ea typeface="Bahnschrift SemiBold" pitchFamily="34" charset="-122"/>
                <a:cs typeface="Bahnschrift SemiBold" pitchFamily="34" charset="-120"/>
              </a:rPr>
              <a:t>The moat is the fusion, not the sensors</a:t>
            </a:r>
            <a:endParaRPr lang="en-US" sz="3000" dirty="0"/>
          </a:p>
        </p:txBody>
      </p:sp>
      <p:sp>
        <p:nvSpPr>
          <p:cNvPr id="9" name="Shape 7"/>
          <p:cNvSpPr/>
          <p:nvPr/>
        </p:nvSpPr>
        <p:spPr>
          <a:xfrm>
            <a:off x="777240" y="2148840"/>
            <a:ext cx="10637215" cy="0"/>
          </a:xfrm>
          <a:prstGeom prst="line">
            <a:avLst/>
          </a:prstGeom>
          <a:noFill/>
          <a:ln w="12700">
            <a:solidFill>
              <a:srgbClr val="2A2118"/>
            </a:solidFill>
            <a:prstDash val="solid"/>
          </a:ln>
        </p:spPr>
      </p:sp>
      <p:sp>
        <p:nvSpPr>
          <p:cNvPr id="10" name="Shape 8"/>
          <p:cNvSpPr/>
          <p:nvPr/>
        </p:nvSpPr>
        <p:spPr>
          <a:xfrm>
            <a:off x="777240" y="2276856"/>
            <a:ext cx="45720" cy="502920"/>
          </a:xfrm>
          <a:prstGeom prst="rect">
            <a:avLst/>
          </a:prstGeom>
          <a:solidFill>
            <a:srgbClr val="FF2B4E"/>
          </a:solidFill>
          <a:ln/>
        </p:spPr>
      </p:sp>
      <p:sp>
        <p:nvSpPr>
          <p:cNvPr id="11" name="Text 9"/>
          <p:cNvSpPr/>
          <p:nvPr/>
        </p:nvSpPr>
        <p:spPr>
          <a:xfrm>
            <a:off x="960120" y="2267712"/>
            <a:ext cx="3383280" cy="566928"/>
          </a:xfrm>
          <a:prstGeom prst="rect">
            <a:avLst/>
          </a:prstGeom>
          <a:noFill/>
          <a:ln/>
        </p:spPr>
        <p:txBody>
          <a:bodyPr wrap="square" lIns="0" tIns="0" rIns="0" bIns="0" rtlCol="0" anchor="ctr"/>
          <a:lstStyle/>
          <a:p>
            <a:pPr indent="0" marL="0">
              <a:lnSpc>
                <a:spcPct val="100000"/>
              </a:lnSpc>
              <a:buNone/>
            </a:pPr>
            <a:r>
              <a:rPr lang="en-US" sz="1350" dirty="0">
                <a:solidFill>
                  <a:srgbClr val="FF2B4E"/>
                </a:solidFill>
                <a:latin typeface="Bahnschrift" pitchFamily="34" charset="0"/>
                <a:ea typeface="Bahnschrift" pitchFamily="34" charset="-122"/>
                <a:cs typeface="Bahnschrift" pitchFamily="34" charset="-120"/>
              </a:rPr>
              <a:t>INCUMBENTS SELL SILOS</a:t>
            </a:r>
            <a:endParaRPr lang="en-US" sz="1350" dirty="0"/>
          </a:p>
        </p:txBody>
      </p:sp>
      <p:sp>
        <p:nvSpPr>
          <p:cNvPr id="12" name="Text 10"/>
          <p:cNvSpPr/>
          <p:nvPr/>
        </p:nvSpPr>
        <p:spPr>
          <a:xfrm>
            <a:off x="4434840" y="2249424"/>
            <a:ext cx="6979615" cy="603504"/>
          </a:xfrm>
          <a:prstGeom prst="rect">
            <a:avLst/>
          </a:prstGeom>
          <a:noFill/>
          <a:ln/>
        </p:spPr>
        <p:txBody>
          <a:bodyPr wrap="square" lIns="0" tIns="0" rIns="0" bIns="0" rtlCol="0" anchor="ctr"/>
          <a:lstStyle/>
          <a:p>
            <a:pPr indent="0" marL="0">
              <a:lnSpc>
                <a:spcPct val="112000"/>
              </a:lnSpc>
              <a:buNone/>
            </a:pPr>
            <a:r>
              <a:rPr lang="en-US" sz="1200" dirty="0">
                <a:solidFill>
                  <a:srgbClr val="C6B9A6"/>
                </a:solidFill>
                <a:latin typeface="Segoe UI" pitchFamily="34" charset="0"/>
                <a:ea typeface="Segoe UI" pitchFamily="34" charset="-122"/>
                <a:cs typeface="Segoe UI" pitchFamily="34" charset="-120"/>
              </a:rPr>
              <a:t>Honeywell, Dräger, MSA, Hexagon sell gas detection, permit-to-work and CCTV as SEPARATE products. The danger lives in the seam BETWEEN them — exactly what no one owns end to end.</a:t>
            </a:r>
            <a:endParaRPr lang="en-US" sz="1200" dirty="0"/>
          </a:p>
        </p:txBody>
      </p:sp>
      <p:sp>
        <p:nvSpPr>
          <p:cNvPr id="13" name="Shape 11"/>
          <p:cNvSpPr/>
          <p:nvPr/>
        </p:nvSpPr>
        <p:spPr>
          <a:xfrm>
            <a:off x="777240" y="2990088"/>
            <a:ext cx="10637215" cy="0"/>
          </a:xfrm>
          <a:prstGeom prst="line">
            <a:avLst/>
          </a:prstGeom>
          <a:noFill/>
          <a:ln w="12700">
            <a:solidFill>
              <a:srgbClr val="2A2118"/>
            </a:solidFill>
            <a:prstDash val="solid"/>
          </a:ln>
        </p:spPr>
      </p:sp>
      <p:sp>
        <p:nvSpPr>
          <p:cNvPr id="14" name="Shape 12"/>
          <p:cNvSpPr/>
          <p:nvPr/>
        </p:nvSpPr>
        <p:spPr>
          <a:xfrm>
            <a:off x="777240" y="3118104"/>
            <a:ext cx="45720" cy="502920"/>
          </a:xfrm>
          <a:prstGeom prst="rect">
            <a:avLst/>
          </a:prstGeom>
          <a:solidFill>
            <a:srgbClr val="FF6A1A"/>
          </a:solidFill>
          <a:ln/>
        </p:spPr>
      </p:sp>
      <p:sp>
        <p:nvSpPr>
          <p:cNvPr id="15" name="Text 13"/>
          <p:cNvSpPr/>
          <p:nvPr/>
        </p:nvSpPr>
        <p:spPr>
          <a:xfrm>
            <a:off x="960120" y="3108960"/>
            <a:ext cx="3383280" cy="566928"/>
          </a:xfrm>
          <a:prstGeom prst="rect">
            <a:avLst/>
          </a:prstGeom>
          <a:noFill/>
          <a:ln/>
        </p:spPr>
        <p:txBody>
          <a:bodyPr wrap="square" lIns="0" tIns="0" rIns="0" bIns="0" rtlCol="0" anchor="ctr"/>
          <a:lstStyle/>
          <a:p>
            <a:pPr indent="0" marL="0">
              <a:lnSpc>
                <a:spcPct val="100000"/>
              </a:lnSpc>
              <a:buNone/>
            </a:pPr>
            <a:r>
              <a:rPr lang="en-US" sz="1350" dirty="0">
                <a:solidFill>
                  <a:srgbClr val="FF6A1A"/>
                </a:solidFill>
                <a:latin typeface="Bahnschrift" pitchFamily="34" charset="0"/>
                <a:ea typeface="Bahnschrift" pitchFamily="34" charset="-122"/>
                <a:cs typeface="Bahnschrift" pitchFamily="34" charset="-120"/>
              </a:rPr>
              <a:t>A DETERMINISTIC PATTERN LIBRARY</a:t>
            </a:r>
            <a:endParaRPr lang="en-US" sz="1350" dirty="0"/>
          </a:p>
        </p:txBody>
      </p:sp>
      <p:sp>
        <p:nvSpPr>
          <p:cNvPr id="16" name="Text 14"/>
          <p:cNvSpPr/>
          <p:nvPr/>
        </p:nvSpPr>
        <p:spPr>
          <a:xfrm>
            <a:off x="4434840" y="3090672"/>
            <a:ext cx="6979615" cy="603504"/>
          </a:xfrm>
          <a:prstGeom prst="rect">
            <a:avLst/>
          </a:prstGeom>
          <a:noFill/>
          <a:ln/>
        </p:spPr>
        <p:txBody>
          <a:bodyPr wrap="square" lIns="0" tIns="0" rIns="0" bIns="0" rtlCol="0" anchor="ctr"/>
          <a:lstStyle/>
          <a:p>
            <a:pPr indent="0" marL="0">
              <a:lnSpc>
                <a:spcPct val="112000"/>
              </a:lnSpc>
              <a:buNone/>
            </a:pPr>
            <a:r>
              <a:rPr lang="en-US" sz="1200" dirty="0">
                <a:solidFill>
                  <a:srgbClr val="C6B9A6"/>
                </a:solidFill>
                <a:latin typeface="Segoe UI" pitchFamily="34" charset="0"/>
                <a:ea typeface="Segoe UI" pitchFamily="34" charset="-122"/>
                <a:cs typeface="Segoe UI" pitchFamily="34" charset="-120"/>
              </a:rPr>
              <a:t>Compound rules — flammable × ignition × personnel × oxidizer × blast-radius, encoded to real OISD / Factory-Act thresholds — are domain IP, not a model cloned from a public dataset.</a:t>
            </a:r>
            <a:endParaRPr lang="en-US" sz="1200" dirty="0"/>
          </a:p>
        </p:txBody>
      </p:sp>
      <p:sp>
        <p:nvSpPr>
          <p:cNvPr id="17" name="Shape 15"/>
          <p:cNvSpPr/>
          <p:nvPr/>
        </p:nvSpPr>
        <p:spPr>
          <a:xfrm>
            <a:off x="777240" y="3831336"/>
            <a:ext cx="10637215" cy="0"/>
          </a:xfrm>
          <a:prstGeom prst="line">
            <a:avLst/>
          </a:prstGeom>
          <a:noFill/>
          <a:ln w="12700">
            <a:solidFill>
              <a:srgbClr val="2A2118"/>
            </a:solidFill>
            <a:prstDash val="solid"/>
          </a:ln>
        </p:spPr>
      </p:sp>
      <p:sp>
        <p:nvSpPr>
          <p:cNvPr id="18" name="Shape 16"/>
          <p:cNvSpPr/>
          <p:nvPr/>
        </p:nvSpPr>
        <p:spPr>
          <a:xfrm>
            <a:off x="777240" y="3959352"/>
            <a:ext cx="45720" cy="502920"/>
          </a:xfrm>
          <a:prstGeom prst="rect">
            <a:avLst/>
          </a:prstGeom>
          <a:solidFill>
            <a:srgbClr val="FF6A1A"/>
          </a:solidFill>
          <a:ln/>
        </p:spPr>
      </p:sp>
      <p:sp>
        <p:nvSpPr>
          <p:cNvPr id="19" name="Text 17"/>
          <p:cNvSpPr/>
          <p:nvPr/>
        </p:nvSpPr>
        <p:spPr>
          <a:xfrm>
            <a:off x="960120" y="3950208"/>
            <a:ext cx="3383280" cy="566928"/>
          </a:xfrm>
          <a:prstGeom prst="rect">
            <a:avLst/>
          </a:prstGeom>
          <a:noFill/>
          <a:ln/>
        </p:spPr>
        <p:txBody>
          <a:bodyPr wrap="square" lIns="0" tIns="0" rIns="0" bIns="0" rtlCol="0" anchor="ctr"/>
          <a:lstStyle/>
          <a:p>
            <a:pPr indent="0" marL="0">
              <a:lnSpc>
                <a:spcPct val="100000"/>
              </a:lnSpc>
              <a:buNone/>
            </a:pPr>
            <a:r>
              <a:rPr lang="en-US" sz="1350" dirty="0">
                <a:solidFill>
                  <a:srgbClr val="FF6A1A"/>
                </a:solidFill>
                <a:latin typeface="Bahnschrift" pitchFamily="34" charset="0"/>
                <a:ea typeface="Bahnschrift" pitchFamily="34" charset="-122"/>
                <a:cs typeface="Bahnschrift" pitchFamily="34" charset="-120"/>
              </a:rPr>
              <a:t>A PER-PLANT DATA MOAT</a:t>
            </a:r>
            <a:endParaRPr lang="en-US" sz="1350" dirty="0"/>
          </a:p>
        </p:txBody>
      </p:sp>
      <p:sp>
        <p:nvSpPr>
          <p:cNvPr id="20" name="Text 18"/>
          <p:cNvSpPr/>
          <p:nvPr/>
        </p:nvSpPr>
        <p:spPr>
          <a:xfrm>
            <a:off x="4434840" y="3931920"/>
            <a:ext cx="6979615" cy="603504"/>
          </a:xfrm>
          <a:prstGeom prst="rect">
            <a:avLst/>
          </a:prstGeom>
          <a:noFill/>
          <a:ln/>
        </p:spPr>
        <p:txBody>
          <a:bodyPr wrap="square" lIns="0" tIns="0" rIns="0" bIns="0" rtlCol="0" anchor="ctr"/>
          <a:lstStyle/>
          <a:p>
            <a:pPr indent="0" marL="0">
              <a:lnSpc>
                <a:spcPct val="112000"/>
              </a:lnSpc>
              <a:buNone/>
            </a:pPr>
            <a:r>
              <a:rPr lang="en-US" sz="1200" dirty="0">
                <a:solidFill>
                  <a:srgbClr val="C6B9A6"/>
                </a:solidFill>
                <a:latin typeface="Segoe UI" pitchFamily="34" charset="0"/>
                <a:ea typeface="Segoe UI" pitchFamily="34" charset="-122"/>
                <a:cs typeface="Segoe UI" pitchFamily="34" charset="-120"/>
              </a:rPr>
              <a:t>Each plant's operator feedback tunes its own nuisance profile — proprietary data that compounds per site and raises switching cost. An incumbent's fixed hardware doesn't learn.</a:t>
            </a:r>
            <a:endParaRPr lang="en-US" sz="1200" dirty="0"/>
          </a:p>
        </p:txBody>
      </p:sp>
      <p:sp>
        <p:nvSpPr>
          <p:cNvPr id="21" name="Shape 19"/>
          <p:cNvSpPr/>
          <p:nvPr/>
        </p:nvSpPr>
        <p:spPr>
          <a:xfrm>
            <a:off x="777240" y="4672584"/>
            <a:ext cx="10637215" cy="0"/>
          </a:xfrm>
          <a:prstGeom prst="line">
            <a:avLst/>
          </a:prstGeom>
          <a:noFill/>
          <a:ln w="12700">
            <a:solidFill>
              <a:srgbClr val="2A2118"/>
            </a:solidFill>
            <a:prstDash val="solid"/>
          </a:ln>
        </p:spPr>
      </p:sp>
      <p:sp>
        <p:nvSpPr>
          <p:cNvPr id="22" name="Shape 20"/>
          <p:cNvSpPr/>
          <p:nvPr/>
        </p:nvSpPr>
        <p:spPr>
          <a:xfrm>
            <a:off x="777240" y="4800600"/>
            <a:ext cx="45720" cy="502920"/>
          </a:xfrm>
          <a:prstGeom prst="rect">
            <a:avLst/>
          </a:prstGeom>
          <a:solidFill>
            <a:srgbClr val="F5902B"/>
          </a:solidFill>
          <a:ln/>
        </p:spPr>
      </p:sp>
      <p:sp>
        <p:nvSpPr>
          <p:cNvPr id="23" name="Text 21"/>
          <p:cNvSpPr/>
          <p:nvPr/>
        </p:nvSpPr>
        <p:spPr>
          <a:xfrm>
            <a:off x="960120" y="4791456"/>
            <a:ext cx="3383280" cy="566928"/>
          </a:xfrm>
          <a:prstGeom prst="rect">
            <a:avLst/>
          </a:prstGeom>
          <a:noFill/>
          <a:ln/>
        </p:spPr>
        <p:txBody>
          <a:bodyPr wrap="square" lIns="0" tIns="0" rIns="0" bIns="0" rtlCol="0" anchor="ctr"/>
          <a:lstStyle/>
          <a:p>
            <a:pPr indent="0" marL="0">
              <a:lnSpc>
                <a:spcPct val="100000"/>
              </a:lnSpc>
              <a:buNone/>
            </a:pPr>
            <a:r>
              <a:rPr lang="en-US" sz="1350" dirty="0">
                <a:solidFill>
                  <a:srgbClr val="F5902B"/>
                </a:solidFill>
                <a:latin typeface="Bahnschrift" pitchFamily="34" charset="0"/>
                <a:ea typeface="Bahnschrift" pitchFamily="34" charset="-122"/>
                <a:cs typeface="Bahnschrift" pitchFamily="34" charset="-120"/>
              </a:rPr>
              <a:t>AUDIT-GRADE BY CONSTRUCTION</a:t>
            </a:r>
            <a:endParaRPr lang="en-US" sz="1350" dirty="0"/>
          </a:p>
        </p:txBody>
      </p:sp>
      <p:sp>
        <p:nvSpPr>
          <p:cNvPr id="24" name="Text 22"/>
          <p:cNvSpPr/>
          <p:nvPr/>
        </p:nvSpPr>
        <p:spPr>
          <a:xfrm>
            <a:off x="4434840" y="4773168"/>
            <a:ext cx="6979615" cy="603504"/>
          </a:xfrm>
          <a:prstGeom prst="rect">
            <a:avLst/>
          </a:prstGeom>
          <a:noFill/>
          <a:ln/>
        </p:spPr>
        <p:txBody>
          <a:bodyPr wrap="square" lIns="0" tIns="0" rIns="0" bIns="0" rtlCol="0" anchor="ctr"/>
          <a:lstStyle/>
          <a:p>
            <a:pPr indent="0" marL="0">
              <a:lnSpc>
                <a:spcPct val="112000"/>
              </a:lnSpc>
              <a:buNone/>
            </a:pPr>
            <a:r>
              <a:rPr lang="en-US" sz="1200" dirty="0">
                <a:solidFill>
                  <a:srgbClr val="C6B9A6"/>
                </a:solidFill>
                <a:latin typeface="Segoe UI" pitchFamily="34" charset="0"/>
                <a:ea typeface="Segoe UI" pitchFamily="34" charset="-122"/>
                <a:cs typeface="Segoe UI" pitchFamily="34" charset="-120"/>
              </a:rPr>
              <a:t>A transparent, deterministic core a safety officer can defend in a statutory audit. A pure-LLM bolt-on can't make a life-safety call a regulator will accept.</a:t>
            </a:r>
            <a:endParaRPr lang="en-US" sz="1200" dirty="0"/>
          </a:p>
        </p:txBody>
      </p:sp>
      <p:sp>
        <p:nvSpPr>
          <p:cNvPr id="25" name="Shape 23"/>
          <p:cNvSpPr/>
          <p:nvPr/>
        </p:nvSpPr>
        <p:spPr>
          <a:xfrm>
            <a:off x="777240" y="5513832"/>
            <a:ext cx="10637215" cy="0"/>
          </a:xfrm>
          <a:prstGeom prst="line">
            <a:avLst/>
          </a:prstGeom>
          <a:noFill/>
          <a:ln w="12700">
            <a:solidFill>
              <a:srgbClr val="2A2118"/>
            </a:solidFill>
            <a:prstDash val="solid"/>
          </a:ln>
        </p:spPr>
      </p:sp>
      <p:sp>
        <p:nvSpPr>
          <p:cNvPr id="26" name="Text 24"/>
          <p:cNvSpPr/>
          <p:nvPr/>
        </p:nvSpPr>
        <p:spPr>
          <a:xfrm>
            <a:off x="777240" y="5715000"/>
            <a:ext cx="10637215" cy="365760"/>
          </a:xfrm>
          <a:prstGeom prst="rect">
            <a:avLst/>
          </a:prstGeom>
          <a:noFill/>
          <a:ln/>
        </p:spPr>
        <p:txBody>
          <a:bodyPr wrap="square" lIns="0" tIns="0" rIns="0" bIns="0" rtlCol="0" anchor="ctr"/>
          <a:lstStyle/>
          <a:p>
            <a:pPr indent="0" marL="0">
              <a:buNone/>
            </a:pPr>
            <a:r>
              <a:rPr lang="en-US" sz="1250" b="1" dirty="0">
                <a:solidFill>
                  <a:srgbClr val="FF6A1A"/>
                </a:solidFill>
                <a:latin typeface="Bahnschrift" pitchFamily="34" charset="0"/>
                <a:ea typeface="Bahnschrift" pitchFamily="34" charset="-122"/>
                <a:cs typeface="Bahnschrift" pitchFamily="34" charset="-120"/>
              </a:rPr>
              <a:t>The wedge:  </a:t>
            </a:r>
            <a:pPr indent="0" marL="0">
              <a:buNone/>
            </a:pPr>
            <a:r>
              <a:rPr lang="en-US" sz="1250" dirty="0">
                <a:solidFill>
                  <a:srgbClr val="C6B9A6"/>
                </a:solidFill>
                <a:latin typeface="Segoe UI" pitchFamily="34" charset="0"/>
                <a:ea typeface="Segoe UI" pitchFamily="34" charset="-122"/>
                <a:cs typeface="Segoe UI" pitchFamily="34" charset="-120"/>
              </a:rPr>
              <a:t>land on permit-to-work intelligence — one fundable pain — then own the fused layer the incumbents are structurally unable to assemble.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16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SCALES HORIZONTALLY</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One engine. Every plant.</a:t>
            </a:r>
            <a:endParaRPr lang="en-US" sz="3300" dirty="0"/>
          </a:p>
        </p:txBody>
      </p:sp>
      <p:sp>
        <p:nvSpPr>
          <p:cNvPr id="9" name="Shape 7"/>
          <p:cNvSpPr/>
          <p:nvPr/>
        </p:nvSpPr>
        <p:spPr>
          <a:xfrm>
            <a:off x="777240" y="2194560"/>
            <a:ext cx="2384984" cy="0"/>
          </a:xfrm>
          <a:prstGeom prst="line">
            <a:avLst/>
          </a:prstGeom>
          <a:noFill/>
          <a:ln w="12700">
            <a:solidFill>
              <a:srgbClr val="473726"/>
            </a:solidFill>
            <a:prstDash val="solid"/>
          </a:ln>
        </p:spPr>
      </p:sp>
      <p:sp>
        <p:nvSpPr>
          <p:cNvPr id="10" name="Text 8"/>
          <p:cNvSpPr/>
          <p:nvPr/>
        </p:nvSpPr>
        <p:spPr>
          <a:xfrm>
            <a:off x="777240" y="2331720"/>
            <a:ext cx="2430704" cy="868680"/>
          </a:xfrm>
          <a:prstGeom prst="rect">
            <a:avLst/>
          </a:prstGeom>
          <a:noFill/>
          <a:ln/>
        </p:spPr>
        <p:txBody>
          <a:bodyPr wrap="square" lIns="0" tIns="0" rIns="0" bIns="0" rtlCol="0" anchor="ctr"/>
          <a:lstStyle/>
          <a:p>
            <a:pPr indent="0" marL="0">
              <a:buNone/>
            </a:pPr>
            <a:r>
              <a:rPr lang="en-US" sz="4800" dirty="0">
                <a:solidFill>
                  <a:srgbClr val="FBF6EC"/>
                </a:solidFill>
                <a:latin typeface="Bahnschrift SemiBold" pitchFamily="34" charset="0"/>
                <a:ea typeface="Bahnschrift SemiBold" pitchFamily="34" charset="-122"/>
                <a:cs typeface="Bahnschrift SemiBold" pitchFamily="34" charset="-120"/>
              </a:rPr>
              <a:t>100</a:t>
            </a:r>
            <a:endParaRPr lang="en-US" sz="4800" dirty="0"/>
          </a:p>
        </p:txBody>
      </p:sp>
      <p:sp>
        <p:nvSpPr>
          <p:cNvPr id="11" name="Text 9"/>
          <p:cNvSpPr/>
          <p:nvPr/>
        </p:nvSpPr>
        <p:spPr>
          <a:xfrm>
            <a:off x="777240" y="3246120"/>
            <a:ext cx="2384984" cy="45720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plants · one engine</a:t>
            </a:r>
            <a:endParaRPr lang="en-US" sz="1200" dirty="0"/>
          </a:p>
        </p:txBody>
      </p:sp>
      <p:sp>
        <p:nvSpPr>
          <p:cNvPr id="12" name="Shape 10"/>
          <p:cNvSpPr/>
          <p:nvPr/>
        </p:nvSpPr>
        <p:spPr>
          <a:xfrm>
            <a:off x="3436544" y="2194560"/>
            <a:ext cx="2384984" cy="0"/>
          </a:xfrm>
          <a:prstGeom prst="line">
            <a:avLst/>
          </a:prstGeom>
          <a:noFill/>
          <a:ln w="12700">
            <a:solidFill>
              <a:srgbClr val="473726"/>
            </a:solidFill>
            <a:prstDash val="solid"/>
          </a:ln>
        </p:spPr>
      </p:sp>
      <p:sp>
        <p:nvSpPr>
          <p:cNvPr id="13" name="Text 11"/>
          <p:cNvSpPr/>
          <p:nvPr/>
        </p:nvSpPr>
        <p:spPr>
          <a:xfrm>
            <a:off x="3436544" y="2331720"/>
            <a:ext cx="2430704" cy="868680"/>
          </a:xfrm>
          <a:prstGeom prst="rect">
            <a:avLst/>
          </a:prstGeom>
          <a:noFill/>
          <a:ln/>
        </p:spPr>
        <p:txBody>
          <a:bodyPr wrap="square" lIns="0" tIns="0" rIns="0" bIns="0" rtlCol="0" anchor="ctr"/>
          <a:lstStyle/>
          <a:p>
            <a:pPr indent="0" marL="0">
              <a:buNone/>
            </a:pPr>
            <a:r>
              <a:rPr lang="en-US" sz="4800" dirty="0">
                <a:solidFill>
                  <a:srgbClr val="3FC77D"/>
                </a:solidFill>
                <a:latin typeface="Bahnschrift SemiBold" pitchFamily="34" charset="0"/>
                <a:ea typeface="Bahnschrift SemiBold" pitchFamily="34" charset="-122"/>
                <a:cs typeface="Bahnschrift SemiBold" pitchFamily="34" charset="-120"/>
              </a:rPr>
              <a:t>$0.30</a:t>
            </a:r>
            <a:endParaRPr lang="en-US" sz="4800" dirty="0"/>
          </a:p>
        </p:txBody>
      </p:sp>
      <p:sp>
        <p:nvSpPr>
          <p:cNvPr id="14" name="Text 12"/>
          <p:cNvSpPr/>
          <p:nvPr/>
        </p:nvSpPr>
        <p:spPr>
          <a:xfrm>
            <a:off x="3436544" y="3246120"/>
            <a:ext cx="2384984" cy="45720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per plant / month</a:t>
            </a:r>
            <a:endParaRPr lang="en-US" sz="1200" dirty="0"/>
          </a:p>
        </p:txBody>
      </p:sp>
      <p:sp>
        <p:nvSpPr>
          <p:cNvPr id="15" name="Shape 13"/>
          <p:cNvSpPr/>
          <p:nvPr/>
        </p:nvSpPr>
        <p:spPr>
          <a:xfrm>
            <a:off x="6095848" y="2194560"/>
            <a:ext cx="2384984" cy="0"/>
          </a:xfrm>
          <a:prstGeom prst="line">
            <a:avLst/>
          </a:prstGeom>
          <a:noFill/>
          <a:ln w="12700">
            <a:solidFill>
              <a:srgbClr val="473726"/>
            </a:solidFill>
            <a:prstDash val="solid"/>
          </a:ln>
        </p:spPr>
      </p:sp>
      <p:sp>
        <p:nvSpPr>
          <p:cNvPr id="16" name="Text 14"/>
          <p:cNvSpPr/>
          <p:nvPr/>
        </p:nvSpPr>
        <p:spPr>
          <a:xfrm>
            <a:off x="6095848" y="2331720"/>
            <a:ext cx="2430704" cy="868680"/>
          </a:xfrm>
          <a:prstGeom prst="rect">
            <a:avLst/>
          </a:prstGeom>
          <a:noFill/>
          <a:ln/>
        </p:spPr>
        <p:txBody>
          <a:bodyPr wrap="square" lIns="0" tIns="0" rIns="0" bIns="0" rtlCol="0" anchor="ctr"/>
          <a:lstStyle/>
          <a:p>
            <a:pPr indent="0" marL="0">
              <a:buNone/>
            </a:pPr>
            <a:r>
              <a:rPr lang="en-US" sz="3400" dirty="0">
                <a:solidFill>
                  <a:srgbClr val="FBF6EC"/>
                </a:solidFill>
                <a:latin typeface="Bahnschrift SemiBold" pitchFamily="34" charset="0"/>
                <a:ea typeface="Bahnschrift SemiBold" pitchFamily="34" charset="-122"/>
                <a:cs typeface="Bahnschrift SemiBold" pitchFamily="34" charset="-120"/>
              </a:rPr>
              <a:t>thousands</a:t>
            </a:r>
            <a:endParaRPr lang="en-US" sz="3400" dirty="0"/>
          </a:p>
        </p:txBody>
      </p:sp>
      <p:sp>
        <p:nvSpPr>
          <p:cNvPr id="17" name="Text 15"/>
          <p:cNvSpPr/>
          <p:nvPr/>
        </p:nvSpPr>
        <p:spPr>
          <a:xfrm>
            <a:off x="6095848" y="3246120"/>
            <a:ext cx="2384984" cy="45720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plants per core</a:t>
            </a:r>
            <a:endParaRPr lang="en-US" sz="1200" dirty="0"/>
          </a:p>
        </p:txBody>
      </p:sp>
      <p:sp>
        <p:nvSpPr>
          <p:cNvPr id="18" name="Shape 16"/>
          <p:cNvSpPr/>
          <p:nvPr/>
        </p:nvSpPr>
        <p:spPr>
          <a:xfrm>
            <a:off x="8755151" y="2194560"/>
            <a:ext cx="2384984" cy="0"/>
          </a:xfrm>
          <a:prstGeom prst="line">
            <a:avLst/>
          </a:prstGeom>
          <a:noFill/>
          <a:ln w="12700">
            <a:solidFill>
              <a:srgbClr val="473726"/>
            </a:solidFill>
            <a:prstDash val="solid"/>
          </a:ln>
        </p:spPr>
      </p:sp>
      <p:sp>
        <p:nvSpPr>
          <p:cNvPr id="19" name="Text 17"/>
          <p:cNvSpPr/>
          <p:nvPr/>
        </p:nvSpPr>
        <p:spPr>
          <a:xfrm>
            <a:off x="8755151" y="2331720"/>
            <a:ext cx="2430704" cy="868680"/>
          </a:xfrm>
          <a:prstGeom prst="rect">
            <a:avLst/>
          </a:prstGeom>
          <a:noFill/>
          <a:ln/>
        </p:spPr>
        <p:txBody>
          <a:bodyPr wrap="square" lIns="0" tIns="0" rIns="0" bIns="0" rtlCol="0" anchor="ctr"/>
          <a:lstStyle/>
          <a:p>
            <a:pPr indent="0" marL="0">
              <a:buNone/>
            </a:pPr>
            <a:r>
              <a:rPr lang="en-US" sz="3400" dirty="0">
                <a:solidFill>
                  <a:srgbClr val="FF6A1A"/>
                </a:solidFill>
                <a:latin typeface="Bahnschrift SemiBold" pitchFamily="34" charset="0"/>
                <a:ea typeface="Bahnschrift SemiBold" pitchFamily="34" charset="-122"/>
                <a:cs typeface="Bahnschrift SemiBold" pitchFamily="34" charset="-120"/>
              </a:rPr>
              <a:t>0.05 ms</a:t>
            </a:r>
            <a:endParaRPr lang="en-US" sz="3400" dirty="0"/>
          </a:p>
        </p:txBody>
      </p:sp>
      <p:sp>
        <p:nvSpPr>
          <p:cNvPr id="20" name="Text 18"/>
          <p:cNvSpPr/>
          <p:nvPr/>
        </p:nvSpPr>
        <p:spPr>
          <a:xfrm>
            <a:off x="8755151" y="3246120"/>
            <a:ext cx="2384984" cy="45720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p50 per assessment</a:t>
            </a:r>
            <a:endParaRPr lang="en-US" sz="1200" dirty="0"/>
          </a:p>
        </p:txBody>
      </p:sp>
      <p:sp>
        <p:nvSpPr>
          <p:cNvPr id="21" name="Text 19"/>
          <p:cNvSpPr/>
          <p:nvPr/>
        </p:nvSpPr>
        <p:spPr>
          <a:xfrm>
            <a:off x="777240" y="4114800"/>
            <a:ext cx="731520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MEASURED $/PLANT/MONTH — FALLS WITH SCALE</a:t>
            </a:r>
            <a:endParaRPr lang="en-US" sz="1000" dirty="0"/>
          </a:p>
        </p:txBody>
      </p:sp>
      <p:sp>
        <p:nvSpPr>
          <p:cNvPr id="22" name="Text 20"/>
          <p:cNvSpPr/>
          <p:nvPr/>
        </p:nvSpPr>
        <p:spPr>
          <a:xfrm>
            <a:off x="777240" y="4434840"/>
            <a:ext cx="2560320" cy="502920"/>
          </a:xfrm>
          <a:prstGeom prst="rect">
            <a:avLst/>
          </a:prstGeom>
          <a:noFill/>
          <a:ln/>
        </p:spPr>
        <p:txBody>
          <a:bodyPr wrap="square" lIns="0" tIns="0" rIns="0" bIns="0" rtlCol="0" anchor="t"/>
          <a:lstStyle/>
          <a:p>
            <a:pPr indent="0" marL="0">
              <a:buNone/>
            </a:pPr>
            <a:r>
              <a:rPr lang="en-US" sz="2600" dirty="0">
                <a:solidFill>
                  <a:srgbClr val="FBF6EC"/>
                </a:solidFill>
                <a:latin typeface="Bahnschrift SemiBold" pitchFamily="34" charset="0"/>
                <a:ea typeface="Bahnschrift SemiBold" pitchFamily="34" charset="-122"/>
                <a:cs typeface="Bahnschrift SemiBold" pitchFamily="34" charset="-120"/>
              </a:rPr>
              <a:t>$3.00</a:t>
            </a:r>
            <a:endParaRPr lang="en-US" sz="2600" dirty="0"/>
          </a:p>
        </p:txBody>
      </p:sp>
      <p:sp>
        <p:nvSpPr>
          <p:cNvPr id="23" name="Text 21"/>
          <p:cNvSpPr/>
          <p:nvPr/>
        </p:nvSpPr>
        <p:spPr>
          <a:xfrm>
            <a:off x="777240" y="4983480"/>
            <a:ext cx="25603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10 plants</a:t>
            </a:r>
            <a:endParaRPr lang="en-US" sz="1000" dirty="0"/>
          </a:p>
        </p:txBody>
      </p:sp>
      <p:sp>
        <p:nvSpPr>
          <p:cNvPr id="24" name="Text 22"/>
          <p:cNvSpPr/>
          <p:nvPr/>
        </p:nvSpPr>
        <p:spPr>
          <a:xfrm>
            <a:off x="3108960" y="4434840"/>
            <a:ext cx="365760" cy="502920"/>
          </a:xfrm>
          <a:prstGeom prst="rect">
            <a:avLst/>
          </a:prstGeom>
          <a:noFill/>
          <a:ln/>
        </p:spPr>
        <p:txBody>
          <a:bodyPr wrap="square" lIns="0" tIns="0" rIns="0" bIns="0" rtlCol="0" anchor="t"/>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25" name="Text 23"/>
          <p:cNvSpPr/>
          <p:nvPr/>
        </p:nvSpPr>
        <p:spPr>
          <a:xfrm>
            <a:off x="3566160" y="4434840"/>
            <a:ext cx="2560320" cy="502920"/>
          </a:xfrm>
          <a:prstGeom prst="rect">
            <a:avLst/>
          </a:prstGeom>
          <a:noFill/>
          <a:ln/>
        </p:spPr>
        <p:txBody>
          <a:bodyPr wrap="square" lIns="0" tIns="0" rIns="0" bIns="0" rtlCol="0" anchor="t"/>
          <a:lstStyle/>
          <a:p>
            <a:pPr indent="0" marL="0">
              <a:buNone/>
            </a:pPr>
            <a:r>
              <a:rPr lang="en-US" sz="2600" dirty="0">
                <a:solidFill>
                  <a:srgbClr val="FBF6EC"/>
                </a:solidFill>
                <a:latin typeface="Bahnschrift SemiBold" pitchFamily="34" charset="0"/>
                <a:ea typeface="Bahnschrift SemiBold" pitchFamily="34" charset="-122"/>
                <a:cs typeface="Bahnschrift SemiBold" pitchFamily="34" charset="-120"/>
              </a:rPr>
              <a:t>$0.30</a:t>
            </a:r>
            <a:endParaRPr lang="en-US" sz="2600" dirty="0"/>
          </a:p>
        </p:txBody>
      </p:sp>
      <p:sp>
        <p:nvSpPr>
          <p:cNvPr id="26" name="Text 24"/>
          <p:cNvSpPr/>
          <p:nvPr/>
        </p:nvSpPr>
        <p:spPr>
          <a:xfrm>
            <a:off x="3566160" y="4983480"/>
            <a:ext cx="25603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100 plants</a:t>
            </a:r>
            <a:endParaRPr lang="en-US" sz="1000" dirty="0"/>
          </a:p>
        </p:txBody>
      </p:sp>
      <p:sp>
        <p:nvSpPr>
          <p:cNvPr id="27" name="Text 25"/>
          <p:cNvSpPr/>
          <p:nvPr/>
        </p:nvSpPr>
        <p:spPr>
          <a:xfrm>
            <a:off x="5897880" y="4434840"/>
            <a:ext cx="365760" cy="502920"/>
          </a:xfrm>
          <a:prstGeom prst="rect">
            <a:avLst/>
          </a:prstGeom>
          <a:noFill/>
          <a:ln/>
        </p:spPr>
        <p:txBody>
          <a:bodyPr wrap="square" lIns="0" tIns="0" rIns="0" bIns="0" rtlCol="0" anchor="t"/>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28" name="Text 26"/>
          <p:cNvSpPr/>
          <p:nvPr/>
        </p:nvSpPr>
        <p:spPr>
          <a:xfrm>
            <a:off x="6355080" y="4434840"/>
            <a:ext cx="2560320" cy="502920"/>
          </a:xfrm>
          <a:prstGeom prst="rect">
            <a:avLst/>
          </a:prstGeom>
          <a:noFill/>
          <a:ln/>
        </p:spPr>
        <p:txBody>
          <a:bodyPr wrap="square" lIns="0" tIns="0" rIns="0" bIns="0" rtlCol="0" anchor="t"/>
          <a:lstStyle/>
          <a:p>
            <a:pPr indent="0" marL="0">
              <a:buNone/>
            </a:pPr>
            <a:r>
              <a:rPr lang="en-US" sz="2600" dirty="0">
                <a:solidFill>
                  <a:srgbClr val="FBF6EC"/>
                </a:solidFill>
                <a:latin typeface="Bahnschrift SemiBold" pitchFamily="34" charset="0"/>
                <a:ea typeface="Bahnschrift SemiBold" pitchFamily="34" charset="-122"/>
                <a:cs typeface="Bahnschrift SemiBold" pitchFamily="34" charset="-120"/>
              </a:rPr>
              <a:t>$0.03</a:t>
            </a:r>
            <a:endParaRPr lang="en-US" sz="2600" dirty="0"/>
          </a:p>
        </p:txBody>
      </p:sp>
      <p:sp>
        <p:nvSpPr>
          <p:cNvPr id="29" name="Text 27"/>
          <p:cNvSpPr/>
          <p:nvPr/>
        </p:nvSpPr>
        <p:spPr>
          <a:xfrm>
            <a:off x="6355080" y="4983480"/>
            <a:ext cx="25603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1,000 plants</a:t>
            </a:r>
            <a:endParaRPr lang="en-US" sz="1000" dirty="0"/>
          </a:p>
        </p:txBody>
      </p:sp>
      <p:sp>
        <p:nvSpPr>
          <p:cNvPr id="30" name="Text 28"/>
          <p:cNvSpPr/>
          <p:nvPr/>
        </p:nvSpPr>
        <p:spPr>
          <a:xfrm>
            <a:off x="8686800" y="4434840"/>
            <a:ext cx="365760" cy="502920"/>
          </a:xfrm>
          <a:prstGeom prst="rect">
            <a:avLst/>
          </a:prstGeom>
          <a:noFill/>
          <a:ln/>
        </p:spPr>
        <p:txBody>
          <a:bodyPr wrap="square" lIns="0" tIns="0" rIns="0" bIns="0" rtlCol="0" anchor="t"/>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31" name="Text 29"/>
          <p:cNvSpPr/>
          <p:nvPr/>
        </p:nvSpPr>
        <p:spPr>
          <a:xfrm>
            <a:off x="9144000" y="4434840"/>
            <a:ext cx="2560320" cy="502920"/>
          </a:xfrm>
          <a:prstGeom prst="rect">
            <a:avLst/>
          </a:prstGeom>
          <a:noFill/>
          <a:ln/>
        </p:spPr>
        <p:txBody>
          <a:bodyPr wrap="square" lIns="0" tIns="0" rIns="0" bIns="0" rtlCol="0" anchor="t"/>
          <a:lstStyle/>
          <a:p>
            <a:pPr indent="0" marL="0">
              <a:buNone/>
            </a:pPr>
            <a:r>
              <a:rPr lang="en-US" sz="2600" dirty="0">
                <a:solidFill>
                  <a:srgbClr val="FBF6EC"/>
                </a:solidFill>
                <a:latin typeface="Bahnschrift SemiBold" pitchFamily="34" charset="0"/>
                <a:ea typeface="Bahnschrift SemiBold" pitchFamily="34" charset="-122"/>
                <a:cs typeface="Bahnschrift SemiBold" pitchFamily="34" charset="-120"/>
              </a:rPr>
              <a:t>$0.009</a:t>
            </a:r>
            <a:endParaRPr lang="en-US" sz="2600" dirty="0"/>
          </a:p>
        </p:txBody>
      </p:sp>
      <p:sp>
        <p:nvSpPr>
          <p:cNvPr id="32" name="Text 30"/>
          <p:cNvSpPr/>
          <p:nvPr/>
        </p:nvSpPr>
        <p:spPr>
          <a:xfrm>
            <a:off x="9144000" y="4983480"/>
            <a:ext cx="25603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10,000 plants</a:t>
            </a:r>
            <a:endParaRPr lang="en-US" sz="1000" dirty="0"/>
          </a:p>
        </p:txBody>
      </p:sp>
      <p:sp>
        <p:nvSpPr>
          <p:cNvPr id="33" name="Shape 31"/>
          <p:cNvSpPr/>
          <p:nvPr/>
        </p:nvSpPr>
        <p:spPr>
          <a:xfrm>
            <a:off x="777240" y="5486400"/>
            <a:ext cx="10637215" cy="548640"/>
          </a:xfrm>
          <a:prstGeom prst="rect">
            <a:avLst/>
          </a:prstGeom>
          <a:solidFill>
            <a:srgbClr val="151009"/>
          </a:solidFill>
          <a:ln w="12700">
            <a:solidFill>
              <a:srgbClr val="2A2118"/>
            </a:solidFill>
            <a:prstDash val="solid"/>
          </a:ln>
        </p:spPr>
      </p:sp>
      <p:sp>
        <p:nvSpPr>
          <p:cNvPr id="34" name="Text 32"/>
          <p:cNvSpPr/>
          <p:nvPr/>
        </p:nvSpPr>
        <p:spPr>
          <a:xfrm>
            <a:off x="1097280" y="5486400"/>
            <a:ext cx="9997135" cy="548640"/>
          </a:xfrm>
          <a:prstGeom prst="rect">
            <a:avLst/>
          </a:prstGeom>
          <a:noFill/>
          <a:ln/>
        </p:spPr>
        <p:txBody>
          <a:bodyPr wrap="square" lIns="0" tIns="0" rIns="0" bIns="0" rtlCol="0" anchor="ctr"/>
          <a:lstStyle/>
          <a:p>
            <a:pPr indent="0" marL="0">
              <a:lnSpc>
                <a:spcPct val="112000"/>
              </a:lnSpc>
              <a:buNone/>
            </a:pPr>
            <a:r>
              <a:rPr lang="en-US" sz="1100" b="1" dirty="0">
                <a:solidFill>
                  <a:srgbClr val="FF6A1A"/>
                </a:solidFill>
                <a:latin typeface="Bahnschrift" pitchFamily="34" charset="0"/>
                <a:ea typeface="Bahnschrift" pitchFamily="34" charset="-122"/>
                <a:cs typeface="Bahnschrift" pitchFamily="34" charset="-120"/>
              </a:rPr>
              <a:t>Stateless shards.  </a:t>
            </a:r>
            <a:pPr indent="0" marL="0">
              <a:lnSpc>
                <a:spcPct val="112000"/>
              </a:lnSpc>
              <a:buNone/>
            </a:pPr>
            <a:r>
              <a:rPr lang="en-US" sz="1100" dirty="0">
                <a:solidFill>
                  <a:srgbClr val="C6B9A6"/>
                </a:solidFill>
                <a:latin typeface="Segoe UI" pitchFamily="34" charset="0"/>
                <a:ea typeface="Segoe UI" pitchFamily="34" charset="-122"/>
                <a:cs typeface="Segoe UI" pitchFamily="34" charset="-120"/>
              </a:rPr>
              <a:t>Each plant is independent — no shared state, no per-site model. The engine is O(zones); the fleet scales by adding plain workers. Digital-twin sites stand in for live OPC-UA / MQTT feeds — ingesting real data is a connector, not a rewrite.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17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IT EARNS ITS TRUST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2800" dirty="0">
                <a:solidFill>
                  <a:srgbClr val="FBF6EC"/>
                </a:solidFill>
                <a:latin typeface="Bahnschrift SemiBold" pitchFamily="34" charset="0"/>
                <a:ea typeface="Bahnschrift SemiBold" pitchFamily="34" charset="-122"/>
                <a:cs typeface="Bahnschrift SemiBold" pitchFamily="34" charset="-120"/>
              </a:rPr>
              <a:t>Every plant learns its own nuisance profile</a:t>
            </a:r>
            <a:endParaRPr lang="en-US" sz="2800" dirty="0"/>
          </a:p>
        </p:txBody>
      </p:sp>
      <p:sp>
        <p:nvSpPr>
          <p:cNvPr id="9" name="Shape 7"/>
          <p:cNvSpPr/>
          <p:nvPr/>
        </p:nvSpPr>
        <p:spPr>
          <a:xfrm>
            <a:off x="777240" y="2240280"/>
            <a:ext cx="2384984" cy="731520"/>
          </a:xfrm>
          <a:prstGeom prst="rect">
            <a:avLst/>
          </a:prstGeom>
          <a:solidFill>
            <a:srgbClr val="151009"/>
          </a:solidFill>
          <a:ln w="12700">
            <a:solidFill>
              <a:srgbClr val="2A2118"/>
            </a:solidFill>
            <a:prstDash val="solid"/>
          </a:ln>
        </p:spPr>
      </p:sp>
      <p:sp>
        <p:nvSpPr>
          <p:cNvPr id="10" name="Text 8"/>
          <p:cNvSpPr/>
          <p:nvPr/>
        </p:nvSpPr>
        <p:spPr>
          <a:xfrm>
            <a:off x="886968"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Operator verdict</a:t>
            </a:r>
            <a:endParaRPr lang="en-US" sz="1300" dirty="0"/>
          </a:p>
        </p:txBody>
      </p:sp>
      <p:sp>
        <p:nvSpPr>
          <p:cNvPr id="11" name="Text 9"/>
          <p:cNvSpPr/>
          <p:nvPr/>
        </p:nvSpPr>
        <p:spPr>
          <a:xfrm>
            <a:off x="3162224" y="2240280"/>
            <a:ext cx="365760" cy="731520"/>
          </a:xfrm>
          <a:prstGeom prst="rect">
            <a:avLst/>
          </a:prstGeom>
          <a:noFill/>
          <a:ln/>
        </p:spPr>
        <p:txBody>
          <a:bodyPr wrap="square" lIns="0" tIns="0" rIns="0" bIns="0" rtlCol="0" anchor="ctr"/>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12" name="Shape 10"/>
          <p:cNvSpPr/>
          <p:nvPr/>
        </p:nvSpPr>
        <p:spPr>
          <a:xfrm>
            <a:off x="3527984" y="2240280"/>
            <a:ext cx="2384984" cy="731520"/>
          </a:xfrm>
          <a:prstGeom prst="rect">
            <a:avLst/>
          </a:prstGeom>
          <a:solidFill>
            <a:srgbClr val="151009"/>
          </a:solidFill>
          <a:ln w="12700">
            <a:solidFill>
              <a:srgbClr val="2A2118"/>
            </a:solidFill>
            <a:prstDash val="solid"/>
          </a:ln>
        </p:spPr>
      </p:sp>
      <p:sp>
        <p:nvSpPr>
          <p:cNvPr id="13" name="Text 11"/>
          <p:cNvSpPr/>
          <p:nvPr/>
        </p:nvSpPr>
        <p:spPr>
          <a:xfrm>
            <a:off x="3637712"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Per-plant threshold</a:t>
            </a:r>
            <a:endParaRPr lang="en-US" sz="1300" dirty="0"/>
          </a:p>
        </p:txBody>
      </p:sp>
      <p:sp>
        <p:nvSpPr>
          <p:cNvPr id="14" name="Text 12"/>
          <p:cNvSpPr/>
          <p:nvPr/>
        </p:nvSpPr>
        <p:spPr>
          <a:xfrm>
            <a:off x="5912968" y="2240280"/>
            <a:ext cx="365760" cy="731520"/>
          </a:xfrm>
          <a:prstGeom prst="rect">
            <a:avLst/>
          </a:prstGeom>
          <a:noFill/>
          <a:ln/>
        </p:spPr>
        <p:txBody>
          <a:bodyPr wrap="square" lIns="0" tIns="0" rIns="0" bIns="0" rtlCol="0" anchor="ctr"/>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15" name="Shape 13"/>
          <p:cNvSpPr/>
          <p:nvPr/>
        </p:nvSpPr>
        <p:spPr>
          <a:xfrm>
            <a:off x="6278728" y="2240280"/>
            <a:ext cx="2384984" cy="731520"/>
          </a:xfrm>
          <a:prstGeom prst="rect">
            <a:avLst/>
          </a:prstGeom>
          <a:solidFill>
            <a:srgbClr val="151009"/>
          </a:solidFill>
          <a:ln w="12700">
            <a:solidFill>
              <a:srgbClr val="2A2118"/>
            </a:solidFill>
            <a:prstDash val="solid"/>
          </a:ln>
        </p:spPr>
      </p:sp>
      <p:sp>
        <p:nvSpPr>
          <p:cNvPr id="16" name="Text 14"/>
          <p:cNvSpPr/>
          <p:nvPr/>
        </p:nvSpPr>
        <p:spPr>
          <a:xfrm>
            <a:off x="6388456"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Fewer nuisance pages</a:t>
            </a:r>
            <a:endParaRPr lang="en-US" sz="1300" dirty="0"/>
          </a:p>
        </p:txBody>
      </p:sp>
      <p:sp>
        <p:nvSpPr>
          <p:cNvPr id="17" name="Text 15"/>
          <p:cNvSpPr/>
          <p:nvPr/>
        </p:nvSpPr>
        <p:spPr>
          <a:xfrm>
            <a:off x="8663711" y="2240280"/>
            <a:ext cx="365760" cy="731520"/>
          </a:xfrm>
          <a:prstGeom prst="rect">
            <a:avLst/>
          </a:prstGeom>
          <a:noFill/>
          <a:ln/>
        </p:spPr>
        <p:txBody>
          <a:bodyPr wrap="square" lIns="0" tIns="0" rIns="0" bIns="0" rtlCol="0" anchor="ctr"/>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18" name="Shape 16"/>
          <p:cNvSpPr/>
          <p:nvPr/>
        </p:nvSpPr>
        <p:spPr>
          <a:xfrm>
            <a:off x="9029471" y="2240280"/>
            <a:ext cx="2384984" cy="731520"/>
          </a:xfrm>
          <a:prstGeom prst="rect">
            <a:avLst/>
          </a:prstGeom>
          <a:solidFill>
            <a:srgbClr val="151009"/>
          </a:solidFill>
          <a:ln w="12700">
            <a:solidFill>
              <a:srgbClr val="2A2118"/>
            </a:solidFill>
            <a:prstDash val="solid"/>
          </a:ln>
        </p:spPr>
      </p:sp>
      <p:sp>
        <p:nvSpPr>
          <p:cNvPr id="19" name="Text 17"/>
          <p:cNvSpPr/>
          <p:nvPr/>
        </p:nvSpPr>
        <p:spPr>
          <a:xfrm>
            <a:off x="9139199"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Trust ↑ · faster action</a:t>
            </a:r>
            <a:endParaRPr lang="en-US" sz="1300" dirty="0"/>
          </a:p>
        </p:txBody>
      </p:sp>
      <p:sp>
        <p:nvSpPr>
          <p:cNvPr id="20" name="Shape 18"/>
          <p:cNvSpPr/>
          <p:nvPr/>
        </p:nvSpPr>
        <p:spPr>
          <a:xfrm>
            <a:off x="777240" y="3337560"/>
            <a:ext cx="5349240" cy="1828800"/>
          </a:xfrm>
          <a:prstGeom prst="rect">
            <a:avLst/>
          </a:prstGeom>
          <a:solidFill>
            <a:srgbClr val="151009"/>
          </a:solidFill>
          <a:ln w="12700">
            <a:solidFill>
              <a:srgbClr val="FF2B4E"/>
            </a:solidFill>
            <a:prstDash val="solid"/>
          </a:ln>
        </p:spPr>
      </p:sp>
      <p:sp>
        <p:nvSpPr>
          <p:cNvPr id="21" name="Shape 19"/>
          <p:cNvSpPr/>
          <p:nvPr/>
        </p:nvSpPr>
        <p:spPr>
          <a:xfrm>
            <a:off x="777240" y="3337560"/>
            <a:ext cx="45720" cy="1828800"/>
          </a:xfrm>
          <a:prstGeom prst="rect">
            <a:avLst/>
          </a:prstGeom>
          <a:solidFill>
            <a:srgbClr val="FF2B4E"/>
          </a:solidFill>
          <a:ln/>
        </p:spPr>
      </p:sp>
      <p:sp>
        <p:nvSpPr>
          <p:cNvPr id="22" name="Text 20"/>
          <p:cNvSpPr/>
          <p:nvPr/>
        </p:nvSpPr>
        <p:spPr>
          <a:xfrm>
            <a:off x="1097280" y="3520440"/>
            <a:ext cx="4846320" cy="274320"/>
          </a:xfrm>
          <a:prstGeom prst="rect">
            <a:avLst/>
          </a:prstGeom>
          <a:noFill/>
          <a:ln/>
        </p:spPr>
        <p:txBody>
          <a:bodyPr wrap="square" lIns="0" tIns="0" rIns="0" bIns="0" rtlCol="0" anchor="t"/>
          <a:lstStyle/>
          <a:p>
            <a:pPr indent="0" marL="0">
              <a:buNone/>
            </a:pPr>
            <a:r>
              <a:rPr lang="en-US" sz="1000" spc="100" kern="0" dirty="0">
                <a:solidFill>
                  <a:srgbClr val="FF2B4E"/>
                </a:solidFill>
                <a:latin typeface="Cascadia Mono" pitchFamily="34" charset="0"/>
                <a:ea typeface="Cascadia Mono" pitchFamily="34" charset="-122"/>
                <a:cs typeface="Cascadia Mono" pitchFamily="34" charset="-120"/>
              </a:rPr>
              <a:t>RECALL GUARDRAIL</a:t>
            </a:r>
            <a:endParaRPr lang="en-US" sz="1000" dirty="0"/>
          </a:p>
        </p:txBody>
      </p:sp>
      <p:sp>
        <p:nvSpPr>
          <p:cNvPr id="23" name="Text 21"/>
          <p:cNvSpPr/>
          <p:nvPr/>
        </p:nvSpPr>
        <p:spPr>
          <a:xfrm>
            <a:off x="1097280" y="3840480"/>
            <a:ext cx="4800600" cy="1188720"/>
          </a:xfrm>
          <a:prstGeom prst="rect">
            <a:avLst/>
          </a:prstGeom>
          <a:noFill/>
          <a:ln/>
        </p:spPr>
        <p:txBody>
          <a:bodyPr wrap="square" lIns="0" tIns="0" rIns="0" bIns="0" rtlCol="0" anchor="t"/>
          <a:lstStyle/>
          <a:p>
            <a:pPr indent="0" marL="0">
              <a:lnSpc>
                <a:spcPct val="122000"/>
              </a:lnSpc>
              <a:buNone/>
            </a:pPr>
            <a:r>
              <a:rPr lang="en-US" sz="1350" dirty="0">
                <a:solidFill>
                  <a:srgbClr val="C6B9A6"/>
                </a:solidFill>
                <a:latin typeface="Segoe UI" pitchFamily="34" charset="0"/>
                <a:ea typeface="Segoe UI" pitchFamily="34" charset="-122"/>
                <a:cs typeface="Segoe UI" pitchFamily="34" charset="-120"/>
              </a:rPr>
              <a:t>Compound, HIGH and CRITICAL alerts bypass the threshold entirely. Feedback can only ever damp non-compound nuisance pages — never reduce recall.</a:t>
            </a:r>
            <a:endParaRPr lang="en-US" sz="1350" dirty="0"/>
          </a:p>
        </p:txBody>
      </p:sp>
      <p:sp>
        <p:nvSpPr>
          <p:cNvPr id="24" name="Shape 22"/>
          <p:cNvSpPr/>
          <p:nvPr/>
        </p:nvSpPr>
        <p:spPr>
          <a:xfrm>
            <a:off x="6309360" y="3337560"/>
            <a:ext cx="5105095" cy="1828800"/>
          </a:xfrm>
          <a:prstGeom prst="rect">
            <a:avLst/>
          </a:prstGeom>
          <a:solidFill>
            <a:srgbClr val="151009"/>
          </a:solidFill>
          <a:ln w="12700">
            <a:solidFill>
              <a:srgbClr val="2A2118"/>
            </a:solidFill>
            <a:prstDash val="solid"/>
          </a:ln>
        </p:spPr>
      </p:sp>
      <p:sp>
        <p:nvSpPr>
          <p:cNvPr id="25" name="Shape 23"/>
          <p:cNvSpPr/>
          <p:nvPr/>
        </p:nvSpPr>
        <p:spPr>
          <a:xfrm>
            <a:off x="6309360" y="3337560"/>
            <a:ext cx="45720" cy="1828800"/>
          </a:xfrm>
          <a:prstGeom prst="rect">
            <a:avLst/>
          </a:prstGeom>
          <a:solidFill>
            <a:srgbClr val="FF6A1A"/>
          </a:solidFill>
          <a:ln/>
        </p:spPr>
      </p:sp>
      <p:sp>
        <p:nvSpPr>
          <p:cNvPr id="26" name="Text 24"/>
          <p:cNvSpPr/>
          <p:nvPr/>
        </p:nvSpPr>
        <p:spPr>
          <a:xfrm>
            <a:off x="6629400" y="3520440"/>
            <a:ext cx="457200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THE FLYWHEEL</a:t>
            </a:r>
            <a:endParaRPr lang="en-US" sz="1000" dirty="0"/>
          </a:p>
        </p:txBody>
      </p:sp>
      <p:sp>
        <p:nvSpPr>
          <p:cNvPr id="27" name="Text 25"/>
          <p:cNvSpPr/>
          <p:nvPr/>
        </p:nvSpPr>
        <p:spPr>
          <a:xfrm>
            <a:off x="6629400" y="3840480"/>
            <a:ext cx="4785055" cy="1188720"/>
          </a:xfrm>
          <a:prstGeom prst="rect">
            <a:avLst/>
          </a:prstGeom>
          <a:noFill/>
          <a:ln/>
        </p:spPr>
        <p:txBody>
          <a:bodyPr wrap="square" lIns="0" tIns="0" rIns="0" bIns="0" rtlCol="0" anchor="t"/>
          <a:lstStyle/>
          <a:p>
            <a:pPr indent="0" marL="0">
              <a:lnSpc>
                <a:spcPct val="122000"/>
              </a:lnSpc>
              <a:buNone/>
            </a:pPr>
            <a:r>
              <a:rPr lang="en-US" sz="1350" dirty="0">
                <a:solidFill>
                  <a:srgbClr val="C6B9A6"/>
                </a:solidFill>
                <a:latin typeface="Segoe UI" pitchFamily="34" charset="0"/>
                <a:ea typeface="Segoe UI" pitchFamily="34" charset="-122"/>
                <a:cs typeface="Segoe UI" pitchFamily="34" charset="-120"/>
              </a:rPr>
              <a:t>A confirmed false alarm raises the threshold; a confirmed alert relaxes it. Each plant quietly auto-acknowledges its own routine excursions — fewer nuisance pages, faster action on the ones that matter.</a:t>
            </a:r>
            <a:endParaRPr lang="en-US" sz="1350" dirty="0"/>
          </a:p>
        </p:txBody>
      </p:sp>
      <p:sp>
        <p:nvSpPr>
          <p:cNvPr id="28" name="Text 26"/>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The default engine is untouched — the benchmark (100% recall / 0% false-positive) is byte-identical with or without feedback.</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18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SCALE &amp; DEPLOY</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000" dirty="0">
                <a:solidFill>
                  <a:srgbClr val="FBF6EC"/>
                </a:solidFill>
                <a:latin typeface="Bahnschrift SemiBold" pitchFamily="34" charset="0"/>
                <a:ea typeface="Bahnschrift SemiBold" pitchFamily="34" charset="-122"/>
                <a:cs typeface="Bahnschrift SemiBold" pitchFamily="34" charset="-120"/>
              </a:rPr>
              <a:t>Sits over the sensors you already have</a:t>
            </a:r>
            <a:endParaRPr lang="en-US" sz="3000" dirty="0"/>
          </a:p>
        </p:txBody>
      </p:sp>
      <p:sp>
        <p:nvSpPr>
          <p:cNvPr id="9" name="Shape 7"/>
          <p:cNvSpPr/>
          <p:nvPr/>
        </p:nvSpPr>
        <p:spPr>
          <a:xfrm>
            <a:off x="777240" y="2286000"/>
            <a:ext cx="6035040" cy="0"/>
          </a:xfrm>
          <a:prstGeom prst="line">
            <a:avLst/>
          </a:prstGeom>
          <a:noFill/>
          <a:ln w="12700">
            <a:solidFill>
              <a:srgbClr val="2A2118"/>
            </a:solidFill>
            <a:prstDash val="solid"/>
          </a:ln>
        </p:spPr>
      </p:sp>
      <p:sp>
        <p:nvSpPr>
          <p:cNvPr id="10" name="Shape 8"/>
          <p:cNvSpPr/>
          <p:nvPr/>
        </p:nvSpPr>
        <p:spPr>
          <a:xfrm>
            <a:off x="804672" y="2679192"/>
            <a:ext cx="128016" cy="128016"/>
          </a:xfrm>
          <a:prstGeom prst="ellipse">
            <a:avLst/>
          </a:prstGeom>
          <a:solidFill>
            <a:srgbClr val="FF6A1A"/>
          </a:solidFill>
          <a:ln/>
        </p:spPr>
      </p:sp>
      <p:sp>
        <p:nvSpPr>
          <p:cNvPr id="11" name="Text 9"/>
          <p:cNvSpPr/>
          <p:nvPr/>
        </p:nvSpPr>
        <p:spPr>
          <a:xfrm>
            <a:off x="1097280" y="2487168"/>
            <a:ext cx="5669280" cy="365760"/>
          </a:xfrm>
          <a:prstGeom prst="rect">
            <a:avLst/>
          </a:prstGeom>
          <a:noFill/>
          <a:ln/>
        </p:spPr>
        <p:txBody>
          <a:bodyPr wrap="square" lIns="0" tIns="0" rIns="0" bIns="0" rtlCol="0" anchor="t"/>
          <a:lstStyle/>
          <a:p>
            <a:pPr indent="0" marL="0">
              <a:buNone/>
            </a:pPr>
            <a:r>
              <a:rPr lang="en-US" sz="1700" dirty="0">
                <a:solidFill>
                  <a:srgbClr val="FBF6EC"/>
                </a:solidFill>
                <a:latin typeface="Bahnschrift" pitchFamily="34" charset="0"/>
                <a:ea typeface="Bahnschrift" pitchFamily="34" charset="-122"/>
                <a:cs typeface="Bahnschrift" pitchFamily="34" charset="-120"/>
              </a:rPr>
              <a:t>Standard formats</a:t>
            </a:r>
            <a:endParaRPr lang="en-US" sz="1700" dirty="0"/>
          </a:p>
        </p:txBody>
      </p:sp>
      <p:sp>
        <p:nvSpPr>
          <p:cNvPr id="12" name="Text 10"/>
          <p:cNvSpPr/>
          <p:nvPr/>
        </p:nvSpPr>
        <p:spPr>
          <a:xfrm>
            <a:off x="1097280" y="2889504"/>
            <a:ext cx="5669280" cy="457200"/>
          </a:xfrm>
          <a:prstGeom prst="rect">
            <a:avLst/>
          </a:prstGeom>
          <a:noFill/>
          <a:ln/>
        </p:spPr>
        <p:txBody>
          <a:bodyPr wrap="square" lIns="0" tIns="0" rIns="0" bIns="0" rtlCol="0" anchor="t"/>
          <a:lstStyle/>
          <a:p>
            <a:pPr indent="0" marL="0">
              <a:buNone/>
            </a:pPr>
            <a:r>
              <a:rPr lang="en-US" sz="1300" dirty="0">
                <a:solidFill>
                  <a:srgbClr val="C6B9A6"/>
                </a:solidFill>
                <a:latin typeface="Segoe UI" pitchFamily="34" charset="0"/>
                <a:ea typeface="Segoe UI" pitchFamily="34" charset="-122"/>
                <a:cs typeface="Segoe UI" pitchFamily="34" charset="-120"/>
              </a:rPr>
              <a:t>Ingests SCADA / IoT / permit-to-work data as-is</a:t>
            </a:r>
            <a:endParaRPr lang="en-US" sz="1300" dirty="0"/>
          </a:p>
        </p:txBody>
      </p:sp>
      <p:sp>
        <p:nvSpPr>
          <p:cNvPr id="13" name="Shape 11"/>
          <p:cNvSpPr/>
          <p:nvPr/>
        </p:nvSpPr>
        <p:spPr>
          <a:xfrm>
            <a:off x="777240" y="3383280"/>
            <a:ext cx="6035040" cy="0"/>
          </a:xfrm>
          <a:prstGeom prst="line">
            <a:avLst/>
          </a:prstGeom>
          <a:noFill/>
          <a:ln w="12700">
            <a:solidFill>
              <a:srgbClr val="2A2118"/>
            </a:solidFill>
            <a:prstDash val="solid"/>
          </a:ln>
        </p:spPr>
      </p:sp>
      <p:sp>
        <p:nvSpPr>
          <p:cNvPr id="14" name="Shape 12"/>
          <p:cNvSpPr/>
          <p:nvPr/>
        </p:nvSpPr>
        <p:spPr>
          <a:xfrm>
            <a:off x="804672" y="3776472"/>
            <a:ext cx="128016" cy="128016"/>
          </a:xfrm>
          <a:prstGeom prst="ellipse">
            <a:avLst/>
          </a:prstGeom>
          <a:solidFill>
            <a:srgbClr val="FF6A1A"/>
          </a:solidFill>
          <a:ln/>
        </p:spPr>
      </p:sp>
      <p:sp>
        <p:nvSpPr>
          <p:cNvPr id="15" name="Text 13"/>
          <p:cNvSpPr/>
          <p:nvPr/>
        </p:nvSpPr>
        <p:spPr>
          <a:xfrm>
            <a:off x="1097280" y="3584448"/>
            <a:ext cx="5669280" cy="365760"/>
          </a:xfrm>
          <a:prstGeom prst="rect">
            <a:avLst/>
          </a:prstGeom>
          <a:noFill/>
          <a:ln/>
        </p:spPr>
        <p:txBody>
          <a:bodyPr wrap="square" lIns="0" tIns="0" rIns="0" bIns="0" rtlCol="0" anchor="t"/>
          <a:lstStyle/>
          <a:p>
            <a:pPr indent="0" marL="0">
              <a:buNone/>
            </a:pPr>
            <a:r>
              <a:rPr lang="en-US" sz="1700" dirty="0">
                <a:solidFill>
                  <a:srgbClr val="FBF6EC"/>
                </a:solidFill>
                <a:latin typeface="Bahnschrift" pitchFamily="34" charset="0"/>
                <a:ea typeface="Bahnschrift" pitchFamily="34" charset="-122"/>
                <a:cs typeface="Bahnschrift" pitchFamily="34" charset="-120"/>
              </a:rPr>
              <a:t>A connector, not a rewrite</a:t>
            </a:r>
            <a:endParaRPr lang="en-US" sz="1700" dirty="0"/>
          </a:p>
        </p:txBody>
      </p:sp>
      <p:sp>
        <p:nvSpPr>
          <p:cNvPr id="16" name="Text 14"/>
          <p:cNvSpPr/>
          <p:nvPr/>
        </p:nvSpPr>
        <p:spPr>
          <a:xfrm>
            <a:off x="1097280" y="3986784"/>
            <a:ext cx="5669280" cy="457200"/>
          </a:xfrm>
          <a:prstGeom prst="rect">
            <a:avLst/>
          </a:prstGeom>
          <a:noFill/>
          <a:ln/>
        </p:spPr>
        <p:txBody>
          <a:bodyPr wrap="square" lIns="0" tIns="0" rIns="0" bIns="0" rtlCol="0" anchor="t"/>
          <a:lstStyle/>
          <a:p>
            <a:pPr indent="0" marL="0">
              <a:buNone/>
            </a:pPr>
            <a:r>
              <a:rPr lang="en-US" sz="1300" dirty="0">
                <a:solidFill>
                  <a:srgbClr val="C6B9A6"/>
                </a:solidFill>
                <a:latin typeface="Segoe UI" pitchFamily="34" charset="0"/>
                <a:ea typeface="Segoe UI" pitchFamily="34" charset="-122"/>
                <a:cs typeface="Segoe UI" pitchFamily="34" charset="-120"/>
              </a:rPr>
              <a:t>Digital twin → live plant swaps the data source, not the brain</a:t>
            </a:r>
            <a:endParaRPr lang="en-US" sz="1300" dirty="0"/>
          </a:p>
        </p:txBody>
      </p:sp>
      <p:sp>
        <p:nvSpPr>
          <p:cNvPr id="17" name="Shape 15"/>
          <p:cNvSpPr/>
          <p:nvPr/>
        </p:nvSpPr>
        <p:spPr>
          <a:xfrm>
            <a:off x="777240" y="4480560"/>
            <a:ext cx="6035040" cy="0"/>
          </a:xfrm>
          <a:prstGeom prst="line">
            <a:avLst/>
          </a:prstGeom>
          <a:noFill/>
          <a:ln w="12700">
            <a:solidFill>
              <a:srgbClr val="2A2118"/>
            </a:solidFill>
            <a:prstDash val="solid"/>
          </a:ln>
        </p:spPr>
      </p:sp>
      <p:sp>
        <p:nvSpPr>
          <p:cNvPr id="18" name="Shape 16"/>
          <p:cNvSpPr/>
          <p:nvPr/>
        </p:nvSpPr>
        <p:spPr>
          <a:xfrm>
            <a:off x="804672" y="4873752"/>
            <a:ext cx="128016" cy="128016"/>
          </a:xfrm>
          <a:prstGeom prst="ellipse">
            <a:avLst/>
          </a:prstGeom>
          <a:solidFill>
            <a:srgbClr val="FF6A1A"/>
          </a:solidFill>
          <a:ln/>
        </p:spPr>
      </p:sp>
      <p:sp>
        <p:nvSpPr>
          <p:cNvPr id="19" name="Text 17"/>
          <p:cNvSpPr/>
          <p:nvPr/>
        </p:nvSpPr>
        <p:spPr>
          <a:xfrm>
            <a:off x="1097280" y="4681728"/>
            <a:ext cx="5669280" cy="365760"/>
          </a:xfrm>
          <a:prstGeom prst="rect">
            <a:avLst/>
          </a:prstGeom>
          <a:noFill/>
          <a:ln/>
        </p:spPr>
        <p:txBody>
          <a:bodyPr wrap="square" lIns="0" tIns="0" rIns="0" bIns="0" rtlCol="0" anchor="t"/>
          <a:lstStyle/>
          <a:p>
            <a:pPr indent="0" marL="0">
              <a:buNone/>
            </a:pPr>
            <a:r>
              <a:rPr lang="en-US" sz="1700" dirty="0">
                <a:solidFill>
                  <a:srgbClr val="FBF6EC"/>
                </a:solidFill>
                <a:latin typeface="Bahnschrift" pitchFamily="34" charset="0"/>
                <a:ea typeface="Bahnschrift" pitchFamily="34" charset="-122"/>
                <a:cs typeface="Bahnschrift" pitchFamily="34" charset="-120"/>
              </a:rPr>
              <a:t>Auditable &amp; hybrid</a:t>
            </a:r>
            <a:endParaRPr lang="en-US" sz="1700" dirty="0"/>
          </a:p>
        </p:txBody>
      </p:sp>
      <p:sp>
        <p:nvSpPr>
          <p:cNvPr id="20" name="Text 18"/>
          <p:cNvSpPr/>
          <p:nvPr/>
        </p:nvSpPr>
        <p:spPr>
          <a:xfrm>
            <a:off x="1097280" y="5084064"/>
            <a:ext cx="5669280" cy="457200"/>
          </a:xfrm>
          <a:prstGeom prst="rect">
            <a:avLst/>
          </a:prstGeom>
          <a:noFill/>
          <a:ln/>
        </p:spPr>
        <p:txBody>
          <a:bodyPr wrap="square" lIns="0" tIns="0" rIns="0" bIns="0" rtlCol="0" anchor="t"/>
          <a:lstStyle/>
          <a:p>
            <a:pPr indent="0" marL="0">
              <a:buNone/>
            </a:pPr>
            <a:r>
              <a:rPr lang="en-US" sz="1300" dirty="0">
                <a:solidFill>
                  <a:srgbClr val="C6B9A6"/>
                </a:solidFill>
                <a:latin typeface="Segoe UI" pitchFamily="34" charset="0"/>
                <a:ea typeface="Segoe UI" pitchFamily="34" charset="-122"/>
                <a:cs typeface="Segoe UI" pitchFamily="34" charset="-120"/>
              </a:rPr>
              <a:t>Deterministic decisions a safety officer can defend in an audit</a:t>
            </a:r>
            <a:endParaRPr lang="en-US" sz="1300" dirty="0"/>
          </a:p>
        </p:txBody>
      </p:sp>
      <p:sp>
        <p:nvSpPr>
          <p:cNvPr id="21" name="Shape 19"/>
          <p:cNvSpPr/>
          <p:nvPr/>
        </p:nvSpPr>
        <p:spPr>
          <a:xfrm>
            <a:off x="777240" y="5577840"/>
            <a:ext cx="6035040" cy="0"/>
          </a:xfrm>
          <a:prstGeom prst="line">
            <a:avLst/>
          </a:prstGeom>
          <a:noFill/>
          <a:ln w="12700">
            <a:solidFill>
              <a:srgbClr val="2A2118"/>
            </a:solidFill>
            <a:prstDash val="solid"/>
          </a:ln>
        </p:spPr>
      </p:sp>
      <p:sp>
        <p:nvSpPr>
          <p:cNvPr id="22" name="Shape 20"/>
          <p:cNvSpPr/>
          <p:nvPr/>
        </p:nvSpPr>
        <p:spPr>
          <a:xfrm>
            <a:off x="7040880" y="2286000"/>
            <a:ext cx="0" cy="3291840"/>
          </a:xfrm>
          <a:prstGeom prst="line">
            <a:avLst/>
          </a:prstGeom>
          <a:noFill/>
          <a:ln w="12700">
            <a:solidFill>
              <a:srgbClr val="2A2118"/>
            </a:solidFill>
            <a:prstDash val="solid"/>
          </a:ln>
        </p:spPr>
      </p:sp>
      <p:sp>
        <p:nvSpPr>
          <p:cNvPr id="23" name="Text 21"/>
          <p:cNvSpPr/>
          <p:nvPr/>
        </p:nvSpPr>
        <p:spPr>
          <a:xfrm>
            <a:off x="7315200" y="2286000"/>
            <a:ext cx="3657600" cy="274320"/>
          </a:xfrm>
          <a:prstGeom prst="rect">
            <a:avLst/>
          </a:prstGeom>
          <a:noFill/>
          <a:ln/>
        </p:spPr>
        <p:txBody>
          <a:bodyPr wrap="square" lIns="0" tIns="0" rIns="0" bIns="0" rtlCol="0" anchor="t"/>
          <a:lstStyle/>
          <a:p>
            <a:pPr indent="0" marL="0">
              <a:buNone/>
            </a:pPr>
            <a:r>
              <a:rPr lang="en-US" sz="1000" spc="200" kern="0" dirty="0">
                <a:solidFill>
                  <a:srgbClr val="FF6A1A"/>
                </a:solidFill>
                <a:latin typeface="Cascadia Mono" pitchFamily="34" charset="0"/>
                <a:ea typeface="Cascadia Mono" pitchFamily="34" charset="-122"/>
                <a:cs typeface="Cascadia Mono" pitchFamily="34" charset="-120"/>
              </a:rPr>
              <a:t>WHERE IT DEPLOYS</a:t>
            </a:r>
            <a:endParaRPr lang="en-US" sz="1000" dirty="0"/>
          </a:p>
        </p:txBody>
      </p:sp>
      <p:sp>
        <p:nvSpPr>
          <p:cNvPr id="24" name="Text 22"/>
          <p:cNvSpPr/>
          <p:nvPr/>
        </p:nvSpPr>
        <p:spPr>
          <a:xfrm>
            <a:off x="7315200" y="2788920"/>
            <a:ext cx="4114800"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Steel</a:t>
            </a:r>
            <a:endParaRPr lang="en-US" sz="1600" dirty="0"/>
          </a:p>
        </p:txBody>
      </p:sp>
      <p:sp>
        <p:nvSpPr>
          <p:cNvPr id="25" name="Text 23"/>
          <p:cNvSpPr/>
          <p:nvPr/>
        </p:nvSpPr>
        <p:spPr>
          <a:xfrm>
            <a:off x="7315200" y="3099816"/>
            <a:ext cx="4114800" cy="320040"/>
          </a:xfrm>
          <a:prstGeom prst="rect">
            <a:avLst/>
          </a:prstGeom>
          <a:noFill/>
          <a:ln/>
        </p:spPr>
        <p:txBody>
          <a:bodyPr wrap="square" lIns="0" tIns="0" rIns="0" bIns="0" rtlCol="0" anchor="t"/>
          <a:lstStyle/>
          <a:p>
            <a:pPr indent="0" marL="0">
              <a:buNone/>
            </a:pPr>
            <a:r>
              <a:rPr lang="en-US" sz="1200" dirty="0">
                <a:solidFill>
                  <a:srgbClr val="C6B9A6"/>
                </a:solidFill>
                <a:latin typeface="Segoe UI" pitchFamily="34" charset="0"/>
                <a:ea typeface="Segoe UI" pitchFamily="34" charset="-122"/>
                <a:cs typeface="Segoe UI" pitchFamily="34" charset="-120"/>
              </a:rPr>
              <a:t>coke ovens, blast furnaces</a:t>
            </a:r>
            <a:endParaRPr lang="en-US" sz="1200" dirty="0"/>
          </a:p>
        </p:txBody>
      </p:sp>
      <p:sp>
        <p:nvSpPr>
          <p:cNvPr id="26" name="Text 24"/>
          <p:cNvSpPr/>
          <p:nvPr/>
        </p:nvSpPr>
        <p:spPr>
          <a:xfrm>
            <a:off x="7315200" y="3520440"/>
            <a:ext cx="4114800"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Refining &amp; Petrochem</a:t>
            </a:r>
            <a:endParaRPr lang="en-US" sz="1600" dirty="0"/>
          </a:p>
        </p:txBody>
      </p:sp>
      <p:sp>
        <p:nvSpPr>
          <p:cNvPr id="27" name="Text 25"/>
          <p:cNvSpPr/>
          <p:nvPr/>
        </p:nvSpPr>
        <p:spPr>
          <a:xfrm>
            <a:off x="7315200" y="3831336"/>
            <a:ext cx="4114800" cy="320040"/>
          </a:xfrm>
          <a:prstGeom prst="rect">
            <a:avLst/>
          </a:prstGeom>
          <a:noFill/>
          <a:ln/>
        </p:spPr>
        <p:txBody>
          <a:bodyPr wrap="square" lIns="0" tIns="0" rIns="0" bIns="0" rtlCol="0" anchor="t"/>
          <a:lstStyle/>
          <a:p>
            <a:pPr indent="0" marL="0">
              <a:buNone/>
            </a:pPr>
            <a:r>
              <a:rPr lang="en-US" sz="1200" dirty="0">
                <a:solidFill>
                  <a:srgbClr val="C6B9A6"/>
                </a:solidFill>
                <a:latin typeface="Segoe UI" pitchFamily="34" charset="0"/>
                <a:ea typeface="Segoe UI" pitchFamily="34" charset="-122"/>
                <a:cs typeface="Segoe UI" pitchFamily="34" charset="-120"/>
              </a:rPr>
              <a:t>OISD permit-to-work regimes</a:t>
            </a:r>
            <a:endParaRPr lang="en-US" sz="1200" dirty="0"/>
          </a:p>
        </p:txBody>
      </p:sp>
      <p:sp>
        <p:nvSpPr>
          <p:cNvPr id="28" name="Text 26"/>
          <p:cNvSpPr/>
          <p:nvPr/>
        </p:nvSpPr>
        <p:spPr>
          <a:xfrm>
            <a:off x="7315200" y="4251960"/>
            <a:ext cx="4114800"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Mining</a:t>
            </a:r>
            <a:endParaRPr lang="en-US" sz="1600" dirty="0"/>
          </a:p>
        </p:txBody>
      </p:sp>
      <p:sp>
        <p:nvSpPr>
          <p:cNvPr id="29" name="Text 27"/>
          <p:cNvSpPr/>
          <p:nvPr/>
        </p:nvSpPr>
        <p:spPr>
          <a:xfrm>
            <a:off x="7315200" y="4562856"/>
            <a:ext cx="4114800" cy="320040"/>
          </a:xfrm>
          <a:prstGeom prst="rect">
            <a:avLst/>
          </a:prstGeom>
          <a:noFill/>
          <a:ln/>
        </p:spPr>
        <p:txBody>
          <a:bodyPr wrap="square" lIns="0" tIns="0" rIns="0" bIns="0" rtlCol="0" anchor="t"/>
          <a:lstStyle/>
          <a:p>
            <a:pPr indent="0" marL="0">
              <a:buNone/>
            </a:pPr>
            <a:r>
              <a:rPr lang="en-US" sz="1200" dirty="0">
                <a:solidFill>
                  <a:srgbClr val="C6B9A6"/>
                </a:solidFill>
                <a:latin typeface="Segoe UI" pitchFamily="34" charset="0"/>
                <a:ea typeface="Segoe UI" pitchFamily="34" charset="-122"/>
                <a:cs typeface="Segoe UI" pitchFamily="34" charset="-120"/>
              </a:rPr>
              <a:t>confined-space &amp; gas hazards</a:t>
            </a:r>
            <a:endParaRPr lang="en-US" sz="1200" dirty="0"/>
          </a:p>
        </p:txBody>
      </p:sp>
      <p:sp>
        <p:nvSpPr>
          <p:cNvPr id="30" name="Text 28"/>
          <p:cNvSpPr/>
          <p:nvPr/>
        </p:nvSpPr>
        <p:spPr>
          <a:xfrm>
            <a:off x="7315200" y="4983480"/>
            <a:ext cx="4114800"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Power &amp; Chemicals</a:t>
            </a:r>
            <a:endParaRPr lang="en-US" sz="1600" dirty="0"/>
          </a:p>
        </p:txBody>
      </p:sp>
      <p:sp>
        <p:nvSpPr>
          <p:cNvPr id="31" name="Text 29"/>
          <p:cNvSpPr/>
          <p:nvPr/>
        </p:nvSpPr>
        <p:spPr>
          <a:xfrm>
            <a:off x="7315200" y="5294376"/>
            <a:ext cx="4114800" cy="320040"/>
          </a:xfrm>
          <a:prstGeom prst="rect">
            <a:avLst/>
          </a:prstGeom>
          <a:noFill/>
          <a:ln/>
        </p:spPr>
        <p:txBody>
          <a:bodyPr wrap="square" lIns="0" tIns="0" rIns="0" bIns="0" rtlCol="0" anchor="t"/>
          <a:lstStyle/>
          <a:p>
            <a:pPr indent="0" marL="0">
              <a:buNone/>
            </a:pPr>
            <a:r>
              <a:rPr lang="en-US" sz="1200" dirty="0">
                <a:solidFill>
                  <a:srgbClr val="C6B9A6"/>
                </a:solidFill>
                <a:latin typeface="Segoe UI" pitchFamily="34" charset="0"/>
                <a:ea typeface="Segoe UI" pitchFamily="34" charset="-122"/>
                <a:cs typeface="Segoe UI" pitchFamily="34" charset="-120"/>
              </a:rPr>
              <a:t>asset-intensive operations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19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DEPLOYS OVER YOUR STACK</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A connector, not a rewrite</a:t>
            </a:r>
            <a:endParaRPr lang="en-US" sz="3300" dirty="0"/>
          </a:p>
        </p:txBody>
      </p:sp>
      <p:sp>
        <p:nvSpPr>
          <p:cNvPr id="9" name="Shape 7"/>
          <p:cNvSpPr/>
          <p:nvPr/>
        </p:nvSpPr>
        <p:spPr>
          <a:xfrm>
            <a:off x="777240" y="2286000"/>
            <a:ext cx="2384984" cy="1691640"/>
          </a:xfrm>
          <a:prstGeom prst="rect">
            <a:avLst/>
          </a:prstGeom>
          <a:solidFill>
            <a:srgbClr val="151009"/>
          </a:solidFill>
          <a:ln w="12700">
            <a:solidFill>
              <a:srgbClr val="2A2118"/>
            </a:solidFill>
            <a:prstDash val="solid"/>
          </a:ln>
        </p:spPr>
      </p:sp>
      <p:sp>
        <p:nvSpPr>
          <p:cNvPr id="10" name="Text 8"/>
          <p:cNvSpPr/>
          <p:nvPr/>
        </p:nvSpPr>
        <p:spPr>
          <a:xfrm>
            <a:off x="960120" y="2487168"/>
            <a:ext cx="2019224"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Plant historian</a:t>
            </a:r>
            <a:endParaRPr lang="en-US" sz="1500" dirty="0"/>
          </a:p>
        </p:txBody>
      </p:sp>
      <p:sp>
        <p:nvSpPr>
          <p:cNvPr id="11" name="Text 9"/>
          <p:cNvSpPr/>
          <p:nvPr/>
        </p:nvSpPr>
        <p:spPr>
          <a:xfrm>
            <a:off x="960120" y="3017520"/>
            <a:ext cx="2019224" cy="8686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OPC-UA / MQTT / PI</a:t>
            </a:r>
            <a:endParaRPr lang="en-US" sz="1150" dirty="0"/>
          </a:p>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permits · CCTV</a:t>
            </a:r>
            <a:endParaRPr lang="en-US" sz="1150" dirty="0"/>
          </a:p>
        </p:txBody>
      </p:sp>
      <p:sp>
        <p:nvSpPr>
          <p:cNvPr id="12" name="Text 10"/>
          <p:cNvSpPr/>
          <p:nvPr/>
        </p:nvSpPr>
        <p:spPr>
          <a:xfrm>
            <a:off x="3162224" y="2286000"/>
            <a:ext cx="365760" cy="1691640"/>
          </a:xfrm>
          <a:prstGeom prst="rect">
            <a:avLst/>
          </a:prstGeom>
          <a:noFill/>
          <a:ln/>
        </p:spPr>
        <p:txBody>
          <a:bodyPr wrap="square" lIns="0" tIns="0" rIns="0" bIns="0" rtlCol="0" anchor="ctr"/>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13" name="Shape 11"/>
          <p:cNvSpPr/>
          <p:nvPr/>
        </p:nvSpPr>
        <p:spPr>
          <a:xfrm>
            <a:off x="3527984" y="2286000"/>
            <a:ext cx="2384984" cy="1691640"/>
          </a:xfrm>
          <a:prstGeom prst="rect">
            <a:avLst/>
          </a:prstGeom>
          <a:solidFill>
            <a:srgbClr val="151009"/>
          </a:solidFill>
          <a:ln w="12700">
            <a:solidFill>
              <a:srgbClr val="2A2118"/>
            </a:solidFill>
            <a:prstDash val="solid"/>
          </a:ln>
        </p:spPr>
      </p:sp>
      <p:sp>
        <p:nvSpPr>
          <p:cNvPr id="14" name="Text 12"/>
          <p:cNvSpPr/>
          <p:nvPr/>
        </p:nvSpPr>
        <p:spPr>
          <a:xfrm>
            <a:off x="3710864" y="2487168"/>
            <a:ext cx="2019224"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Edge pre-filter</a:t>
            </a:r>
            <a:endParaRPr lang="en-US" sz="1500" dirty="0"/>
          </a:p>
        </p:txBody>
      </p:sp>
      <p:sp>
        <p:nvSpPr>
          <p:cNvPr id="15" name="Text 13"/>
          <p:cNvSpPr/>
          <p:nvPr/>
        </p:nvSpPr>
        <p:spPr>
          <a:xfrm>
            <a:off x="3710864" y="3017520"/>
            <a:ext cx="2019224" cy="8686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debounce + normalise</a:t>
            </a:r>
            <a:endParaRPr lang="en-US" sz="1150" dirty="0"/>
          </a:p>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at the plant edge</a:t>
            </a:r>
            <a:endParaRPr lang="en-US" sz="1150" dirty="0"/>
          </a:p>
        </p:txBody>
      </p:sp>
      <p:sp>
        <p:nvSpPr>
          <p:cNvPr id="16" name="Text 14"/>
          <p:cNvSpPr/>
          <p:nvPr/>
        </p:nvSpPr>
        <p:spPr>
          <a:xfrm>
            <a:off x="5912968" y="2286000"/>
            <a:ext cx="365760" cy="1691640"/>
          </a:xfrm>
          <a:prstGeom prst="rect">
            <a:avLst/>
          </a:prstGeom>
          <a:noFill/>
          <a:ln/>
        </p:spPr>
        <p:txBody>
          <a:bodyPr wrap="square" lIns="0" tIns="0" rIns="0" bIns="0" rtlCol="0" anchor="ctr"/>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17" name="Shape 15"/>
          <p:cNvSpPr/>
          <p:nvPr/>
        </p:nvSpPr>
        <p:spPr>
          <a:xfrm>
            <a:off x="6278728" y="2286000"/>
            <a:ext cx="2384984" cy="1691640"/>
          </a:xfrm>
          <a:prstGeom prst="rect">
            <a:avLst/>
          </a:prstGeom>
          <a:solidFill>
            <a:srgbClr val="1C140C"/>
          </a:solidFill>
          <a:ln w="12700">
            <a:solidFill>
              <a:srgbClr val="FF6A1A"/>
            </a:solidFill>
            <a:prstDash val="solid"/>
          </a:ln>
        </p:spPr>
      </p:sp>
      <p:sp>
        <p:nvSpPr>
          <p:cNvPr id="18" name="Shape 16"/>
          <p:cNvSpPr/>
          <p:nvPr/>
        </p:nvSpPr>
        <p:spPr>
          <a:xfrm>
            <a:off x="6278728" y="2286000"/>
            <a:ext cx="2384984" cy="45720"/>
          </a:xfrm>
          <a:prstGeom prst="rect">
            <a:avLst/>
          </a:prstGeom>
          <a:solidFill>
            <a:srgbClr val="FF6A1A"/>
          </a:solidFill>
          <a:ln/>
        </p:spPr>
      </p:sp>
      <p:sp>
        <p:nvSpPr>
          <p:cNvPr id="19" name="Text 17"/>
          <p:cNvSpPr/>
          <p:nvPr/>
        </p:nvSpPr>
        <p:spPr>
          <a:xfrm>
            <a:off x="6461608" y="2487168"/>
            <a:ext cx="2019224" cy="457200"/>
          </a:xfrm>
          <a:prstGeom prst="rect">
            <a:avLst/>
          </a:prstGeom>
          <a:noFill/>
          <a:ln/>
        </p:spPr>
        <p:txBody>
          <a:bodyPr wrap="square" lIns="0" tIns="0" rIns="0" bIns="0" rtlCol="0" anchor="t"/>
          <a:lstStyle/>
          <a:p>
            <a:pPr indent="0" marL="0">
              <a:buNone/>
            </a:pPr>
            <a:r>
              <a:rPr lang="en-US" sz="1500" dirty="0">
                <a:solidFill>
                  <a:srgbClr val="FF6A1A"/>
                </a:solidFill>
                <a:latin typeface="Bahnschrift" pitchFamily="34" charset="0"/>
                <a:ea typeface="Bahnschrift" pitchFamily="34" charset="-122"/>
                <a:cs typeface="Bahnschrift" pitchFamily="34" charset="-120"/>
              </a:rPr>
              <a:t>Compound engine</a:t>
            </a:r>
            <a:endParaRPr lang="en-US" sz="1500" dirty="0"/>
          </a:p>
        </p:txBody>
      </p:sp>
      <p:sp>
        <p:nvSpPr>
          <p:cNvPr id="20" name="Text 18"/>
          <p:cNvSpPr/>
          <p:nvPr/>
        </p:nvSpPr>
        <p:spPr>
          <a:xfrm>
            <a:off x="6461608" y="3017520"/>
            <a:ext cx="2019224" cy="8686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deterministic, O(zones)</a:t>
            </a:r>
            <a:endParaRPr lang="en-US" sz="1150" dirty="0"/>
          </a:p>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the safety decision</a:t>
            </a:r>
            <a:endParaRPr lang="en-US" sz="1150" dirty="0"/>
          </a:p>
        </p:txBody>
      </p:sp>
      <p:sp>
        <p:nvSpPr>
          <p:cNvPr id="21" name="Text 19"/>
          <p:cNvSpPr/>
          <p:nvPr/>
        </p:nvSpPr>
        <p:spPr>
          <a:xfrm>
            <a:off x="8663711" y="2286000"/>
            <a:ext cx="365760" cy="1691640"/>
          </a:xfrm>
          <a:prstGeom prst="rect">
            <a:avLst/>
          </a:prstGeom>
          <a:noFill/>
          <a:ln/>
        </p:spPr>
        <p:txBody>
          <a:bodyPr wrap="square" lIns="0" tIns="0" rIns="0" bIns="0" rtlCol="0" anchor="ctr"/>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22" name="Shape 20"/>
          <p:cNvSpPr/>
          <p:nvPr/>
        </p:nvSpPr>
        <p:spPr>
          <a:xfrm>
            <a:off x="9029471" y="2286000"/>
            <a:ext cx="2384984" cy="1691640"/>
          </a:xfrm>
          <a:prstGeom prst="rect">
            <a:avLst/>
          </a:prstGeom>
          <a:solidFill>
            <a:srgbClr val="151009"/>
          </a:solidFill>
          <a:ln w="12700">
            <a:solidFill>
              <a:srgbClr val="2A2118"/>
            </a:solidFill>
            <a:prstDash val="solid"/>
          </a:ln>
        </p:spPr>
      </p:sp>
      <p:sp>
        <p:nvSpPr>
          <p:cNvPr id="23" name="Text 21"/>
          <p:cNvSpPr/>
          <p:nvPr/>
        </p:nvSpPr>
        <p:spPr>
          <a:xfrm>
            <a:off x="9212351" y="2487168"/>
            <a:ext cx="2019224"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Control-room HMI</a:t>
            </a:r>
            <a:endParaRPr lang="en-US" sz="1500" dirty="0"/>
          </a:p>
        </p:txBody>
      </p:sp>
      <p:sp>
        <p:nvSpPr>
          <p:cNvPr id="24" name="Text 22"/>
          <p:cNvSpPr/>
          <p:nvPr/>
        </p:nvSpPr>
        <p:spPr>
          <a:xfrm>
            <a:off x="9212351" y="3017520"/>
            <a:ext cx="2019224" cy="8686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split-reality view +</a:t>
            </a:r>
            <a:endParaRPr lang="en-US" sz="1150" dirty="0"/>
          </a:p>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autonomous response</a:t>
            </a:r>
            <a:endParaRPr lang="en-US" sz="1150" dirty="0"/>
          </a:p>
        </p:txBody>
      </p:sp>
      <p:sp>
        <p:nvSpPr>
          <p:cNvPr id="25" name="Shape 23"/>
          <p:cNvSpPr/>
          <p:nvPr/>
        </p:nvSpPr>
        <p:spPr>
          <a:xfrm>
            <a:off x="777240" y="4434840"/>
            <a:ext cx="10637215" cy="0"/>
          </a:xfrm>
          <a:prstGeom prst="line">
            <a:avLst/>
          </a:prstGeom>
          <a:noFill/>
          <a:ln w="12700">
            <a:solidFill>
              <a:srgbClr val="473726"/>
            </a:solidFill>
            <a:prstDash val="solid"/>
          </a:ln>
        </p:spPr>
      </p:sp>
      <p:sp>
        <p:nvSpPr>
          <p:cNvPr id="26" name="Text 24"/>
          <p:cNvSpPr/>
          <p:nvPr/>
        </p:nvSpPr>
        <p:spPr>
          <a:xfrm>
            <a:off x="777240" y="4617720"/>
            <a:ext cx="4572000" cy="274320"/>
          </a:xfrm>
          <a:prstGeom prst="rect">
            <a:avLst/>
          </a:prstGeom>
          <a:noFill/>
          <a:ln/>
        </p:spPr>
        <p:txBody>
          <a:bodyPr wrap="square" lIns="0" tIns="0" rIns="0" bIns="0" rtlCol="0" anchor="t"/>
          <a:lstStyle/>
          <a:p>
            <a:pPr indent="0" marL="0">
              <a:buNone/>
            </a:pPr>
            <a:r>
              <a:rPr lang="en-US" sz="1000" spc="200" kern="0" dirty="0">
                <a:solidFill>
                  <a:srgbClr val="FF6A1A"/>
                </a:solidFill>
                <a:latin typeface="Cascadia Mono" pitchFamily="34" charset="0"/>
                <a:ea typeface="Cascadia Mono" pitchFamily="34" charset="-122"/>
                <a:cs typeface="Cascadia Mono" pitchFamily="34" charset="-120"/>
              </a:rPr>
              <a:t>THROUGHPUT</a:t>
            </a:r>
            <a:endParaRPr lang="en-US" sz="1000" dirty="0"/>
          </a:p>
        </p:txBody>
      </p:sp>
      <p:sp>
        <p:nvSpPr>
          <p:cNvPr id="27" name="Text 25"/>
          <p:cNvSpPr/>
          <p:nvPr/>
        </p:nvSpPr>
        <p:spPr>
          <a:xfrm>
            <a:off x="777240" y="4937760"/>
            <a:ext cx="5486400" cy="548640"/>
          </a:xfrm>
          <a:prstGeom prst="rect">
            <a:avLst/>
          </a:prstGeom>
          <a:noFill/>
          <a:ln/>
        </p:spPr>
        <p:txBody>
          <a:bodyPr wrap="square" lIns="0" tIns="0" rIns="0" bIns="0" rtlCol="0" anchor="b"/>
          <a:lstStyle/>
          <a:p>
            <a:pPr indent="0" marL="0">
              <a:buNone/>
            </a:pPr>
            <a:r>
              <a:rPr lang="en-US" sz="3400" dirty="0">
                <a:solidFill>
                  <a:srgbClr val="FBF6EC"/>
                </a:solidFill>
                <a:latin typeface="Bahnschrift SemiBold" pitchFamily="34" charset="0"/>
                <a:ea typeface="Bahnschrift SemiBold" pitchFamily="34" charset="-122"/>
                <a:cs typeface="Bahnschrift SemiBold" pitchFamily="34" charset="-120"/>
              </a:rPr>
              <a:t>~0.65M</a:t>
            </a:r>
            <a:pPr indent="0" marL="0">
              <a:buNone/>
            </a:pPr>
            <a:r>
              <a:rPr lang="en-US" sz="1400" dirty="0">
                <a:solidFill>
                  <a:srgbClr val="C6B9A6"/>
                </a:solidFill>
                <a:latin typeface="Cascadia Mono" pitchFamily="34" charset="0"/>
                <a:ea typeface="Cascadia Mono" pitchFamily="34" charset="-122"/>
                <a:cs typeface="Cascadia Mono" pitchFamily="34" charset="-120"/>
              </a:rPr>
              <a:t>  tags / sec</a:t>
            </a:r>
            <a:endParaRPr lang="en-US" sz="3400" dirty="0"/>
          </a:p>
        </p:txBody>
      </p:sp>
      <p:sp>
        <p:nvSpPr>
          <p:cNvPr id="28" name="Text 26"/>
          <p:cNvSpPr/>
          <p:nvPr/>
        </p:nvSpPr>
        <p:spPr>
          <a:xfrm>
            <a:off x="777240" y="5577840"/>
            <a:ext cx="5669280" cy="548640"/>
          </a:xfrm>
          <a:prstGeom prst="rect">
            <a:avLst/>
          </a:prstGeom>
          <a:noFill/>
          <a:ln/>
        </p:spPr>
        <p:txBody>
          <a:bodyPr wrap="square" lIns="0" tIns="0" rIns="0" bIns="0" rtlCol="0" anchor="t"/>
          <a:lstStyle/>
          <a:p>
            <a:pPr indent="0" marL="0">
              <a:lnSpc>
                <a:spcPct val="115000"/>
              </a:lnSpc>
              <a:buNone/>
            </a:pPr>
            <a:r>
              <a:rPr lang="en-US" sz="1200" dirty="0">
                <a:solidFill>
                  <a:srgbClr val="C6B9A6"/>
                </a:solidFill>
                <a:latin typeface="Segoe UI" pitchFamily="34" charset="0"/>
                <a:ea typeface="Segoe UI" pitchFamily="34" charset="-122"/>
                <a:cs typeface="Segoe UI" pitchFamily="34" charset="-120"/>
              </a:rPr>
              <a:t>single-core, measured — a 10,000-tag plant assesses in ~15 ms per 1 Hz frame (~65× real-time). No GPU in the life-safety path.</a:t>
            </a:r>
            <a:endParaRPr lang="en-US" sz="1200" dirty="0"/>
          </a:p>
        </p:txBody>
      </p:sp>
      <p:sp>
        <p:nvSpPr>
          <p:cNvPr id="29" name="Shape 27"/>
          <p:cNvSpPr/>
          <p:nvPr/>
        </p:nvSpPr>
        <p:spPr>
          <a:xfrm>
            <a:off x="6492240" y="4617720"/>
            <a:ext cx="0" cy="1417320"/>
          </a:xfrm>
          <a:prstGeom prst="line">
            <a:avLst/>
          </a:prstGeom>
          <a:noFill/>
          <a:ln w="12700">
            <a:solidFill>
              <a:srgbClr val="2A2118"/>
            </a:solidFill>
            <a:prstDash val="solid"/>
          </a:ln>
        </p:spPr>
      </p:sp>
      <p:sp>
        <p:nvSpPr>
          <p:cNvPr id="30" name="Shape 28"/>
          <p:cNvSpPr/>
          <p:nvPr/>
        </p:nvSpPr>
        <p:spPr>
          <a:xfrm>
            <a:off x="6757416" y="4718304"/>
            <a:ext cx="109728" cy="109728"/>
          </a:xfrm>
          <a:prstGeom prst="ellipse">
            <a:avLst/>
          </a:prstGeom>
          <a:solidFill>
            <a:srgbClr val="FF6A1A"/>
          </a:solidFill>
          <a:ln/>
        </p:spPr>
      </p:sp>
      <p:sp>
        <p:nvSpPr>
          <p:cNvPr id="31" name="Text 29"/>
          <p:cNvSpPr/>
          <p:nvPr/>
        </p:nvSpPr>
        <p:spPr>
          <a:xfrm>
            <a:off x="7040880" y="4663440"/>
            <a:ext cx="4572000" cy="274320"/>
          </a:xfrm>
          <a:prstGeom prst="rect">
            <a:avLst/>
          </a:prstGeom>
          <a:noFill/>
          <a:ln/>
        </p:spPr>
        <p:txBody>
          <a:bodyPr wrap="square" lIns="0" tIns="0" rIns="0" bIns="0" rtlCol="0" anchor="t"/>
          <a:lstStyle/>
          <a:p>
            <a:pPr indent="0" marL="0">
              <a:buNone/>
            </a:pPr>
            <a:r>
              <a:rPr lang="en-US" sz="1300" dirty="0">
                <a:solidFill>
                  <a:srgbClr val="FBF6EC"/>
                </a:solidFill>
                <a:latin typeface="Bahnschrift" pitchFamily="34" charset="0"/>
                <a:ea typeface="Bahnschrift" pitchFamily="34" charset="-122"/>
                <a:cs typeface="Bahnschrift" pitchFamily="34" charset="-120"/>
              </a:rPr>
              <a:t>Standard formats</a:t>
            </a:r>
            <a:endParaRPr lang="en-US" sz="1300" dirty="0"/>
          </a:p>
        </p:txBody>
      </p:sp>
      <p:sp>
        <p:nvSpPr>
          <p:cNvPr id="32" name="Text 30"/>
          <p:cNvSpPr/>
          <p:nvPr/>
        </p:nvSpPr>
        <p:spPr>
          <a:xfrm>
            <a:off x="7040880" y="4892040"/>
            <a:ext cx="4572000" cy="274320"/>
          </a:xfrm>
          <a:prstGeom prst="rect">
            <a:avLst/>
          </a:prstGeom>
          <a:noFill/>
          <a:ln/>
        </p:spPr>
        <p:txBody>
          <a:bodyPr wrap="square" lIns="0" tIns="0" rIns="0" bIns="0" rtlCol="0" anchor="t"/>
          <a:lstStyle/>
          <a:p>
            <a:pPr indent="0" marL="0">
              <a:buNone/>
            </a:pPr>
            <a:r>
              <a:rPr lang="en-US" sz="1050" dirty="0">
                <a:solidFill>
                  <a:srgbClr val="C6B9A6"/>
                </a:solidFill>
                <a:latin typeface="Segoe UI" pitchFamily="34" charset="0"/>
                <a:ea typeface="Segoe UI" pitchFamily="34" charset="-122"/>
                <a:cs typeface="Segoe UI" pitchFamily="34" charset="-120"/>
              </a:rPr>
              <a:t>ingests SCADA / IoT / permit data as-is</a:t>
            </a:r>
            <a:endParaRPr lang="en-US" sz="1050" dirty="0"/>
          </a:p>
        </p:txBody>
      </p:sp>
      <p:sp>
        <p:nvSpPr>
          <p:cNvPr id="33" name="Shape 31"/>
          <p:cNvSpPr/>
          <p:nvPr/>
        </p:nvSpPr>
        <p:spPr>
          <a:xfrm>
            <a:off x="6757416" y="5193792"/>
            <a:ext cx="109728" cy="109728"/>
          </a:xfrm>
          <a:prstGeom prst="ellipse">
            <a:avLst/>
          </a:prstGeom>
          <a:solidFill>
            <a:srgbClr val="FF6A1A"/>
          </a:solidFill>
          <a:ln/>
        </p:spPr>
      </p:sp>
      <p:sp>
        <p:nvSpPr>
          <p:cNvPr id="34" name="Text 32"/>
          <p:cNvSpPr/>
          <p:nvPr/>
        </p:nvSpPr>
        <p:spPr>
          <a:xfrm>
            <a:off x="7040880" y="5138928"/>
            <a:ext cx="4572000" cy="274320"/>
          </a:xfrm>
          <a:prstGeom prst="rect">
            <a:avLst/>
          </a:prstGeom>
          <a:noFill/>
          <a:ln/>
        </p:spPr>
        <p:txBody>
          <a:bodyPr wrap="square" lIns="0" tIns="0" rIns="0" bIns="0" rtlCol="0" anchor="t"/>
          <a:lstStyle/>
          <a:p>
            <a:pPr indent="0" marL="0">
              <a:buNone/>
            </a:pPr>
            <a:r>
              <a:rPr lang="en-US" sz="1300" dirty="0">
                <a:solidFill>
                  <a:srgbClr val="FBF6EC"/>
                </a:solidFill>
                <a:latin typeface="Bahnschrift" pitchFamily="34" charset="0"/>
                <a:ea typeface="Bahnschrift" pitchFamily="34" charset="-122"/>
                <a:cs typeface="Bahnschrift" pitchFamily="34" charset="-120"/>
              </a:rPr>
              <a:t>Edge or on-prem</a:t>
            </a:r>
            <a:endParaRPr lang="en-US" sz="1300" dirty="0"/>
          </a:p>
        </p:txBody>
      </p:sp>
      <p:sp>
        <p:nvSpPr>
          <p:cNvPr id="35" name="Text 33"/>
          <p:cNvSpPr/>
          <p:nvPr/>
        </p:nvSpPr>
        <p:spPr>
          <a:xfrm>
            <a:off x="7040880" y="5367528"/>
            <a:ext cx="4572000" cy="274320"/>
          </a:xfrm>
          <a:prstGeom prst="rect">
            <a:avLst/>
          </a:prstGeom>
          <a:noFill/>
          <a:ln/>
        </p:spPr>
        <p:txBody>
          <a:bodyPr wrap="square" lIns="0" tIns="0" rIns="0" bIns="0" rtlCol="0" anchor="t"/>
          <a:lstStyle/>
          <a:p>
            <a:pPr indent="0" marL="0">
              <a:buNone/>
            </a:pPr>
            <a:r>
              <a:rPr lang="en-US" sz="1050" dirty="0">
                <a:solidFill>
                  <a:srgbClr val="C6B9A6"/>
                </a:solidFill>
                <a:latin typeface="Segoe UI" pitchFamily="34" charset="0"/>
                <a:ea typeface="Segoe UI" pitchFamily="34" charset="-122"/>
                <a:cs typeface="Segoe UI" pitchFamily="34" charset="-120"/>
              </a:rPr>
              <a:t>data never has to leave the plant</a:t>
            </a:r>
            <a:endParaRPr lang="en-US" sz="1050" dirty="0"/>
          </a:p>
        </p:txBody>
      </p:sp>
      <p:sp>
        <p:nvSpPr>
          <p:cNvPr id="36" name="Shape 34"/>
          <p:cNvSpPr/>
          <p:nvPr/>
        </p:nvSpPr>
        <p:spPr>
          <a:xfrm>
            <a:off x="6757416" y="5669280"/>
            <a:ext cx="109728" cy="109728"/>
          </a:xfrm>
          <a:prstGeom prst="ellipse">
            <a:avLst/>
          </a:prstGeom>
          <a:solidFill>
            <a:srgbClr val="FF6A1A"/>
          </a:solidFill>
          <a:ln/>
        </p:spPr>
      </p:sp>
      <p:sp>
        <p:nvSpPr>
          <p:cNvPr id="37" name="Text 35"/>
          <p:cNvSpPr/>
          <p:nvPr/>
        </p:nvSpPr>
        <p:spPr>
          <a:xfrm>
            <a:off x="7040880" y="5614416"/>
            <a:ext cx="4572000" cy="274320"/>
          </a:xfrm>
          <a:prstGeom prst="rect">
            <a:avLst/>
          </a:prstGeom>
          <a:noFill/>
          <a:ln/>
        </p:spPr>
        <p:txBody>
          <a:bodyPr wrap="square" lIns="0" tIns="0" rIns="0" bIns="0" rtlCol="0" anchor="t"/>
          <a:lstStyle/>
          <a:p>
            <a:pPr indent="0" marL="0">
              <a:buNone/>
            </a:pPr>
            <a:r>
              <a:rPr lang="en-US" sz="1300" dirty="0">
                <a:solidFill>
                  <a:srgbClr val="FBF6EC"/>
                </a:solidFill>
                <a:latin typeface="Bahnschrift" pitchFamily="34" charset="0"/>
                <a:ea typeface="Bahnschrift" pitchFamily="34" charset="-122"/>
                <a:cs typeface="Bahnschrift" pitchFamily="34" charset="-120"/>
              </a:rPr>
              <a:t>Deterministic core</a:t>
            </a:r>
            <a:endParaRPr lang="en-US" sz="1300" dirty="0"/>
          </a:p>
        </p:txBody>
      </p:sp>
      <p:sp>
        <p:nvSpPr>
          <p:cNvPr id="38" name="Text 36"/>
          <p:cNvSpPr/>
          <p:nvPr/>
        </p:nvSpPr>
        <p:spPr>
          <a:xfrm>
            <a:off x="7040880" y="5843016"/>
            <a:ext cx="4572000" cy="274320"/>
          </a:xfrm>
          <a:prstGeom prst="rect">
            <a:avLst/>
          </a:prstGeom>
          <a:noFill/>
          <a:ln/>
        </p:spPr>
        <p:txBody>
          <a:bodyPr wrap="square" lIns="0" tIns="0" rIns="0" bIns="0" rtlCol="0" anchor="t"/>
          <a:lstStyle/>
          <a:p>
            <a:pPr indent="0" marL="0">
              <a:buNone/>
            </a:pPr>
            <a:r>
              <a:rPr lang="en-US" sz="1050" dirty="0">
                <a:solidFill>
                  <a:srgbClr val="C6B9A6"/>
                </a:solidFill>
                <a:latin typeface="Segoe UI" pitchFamily="34" charset="0"/>
                <a:ea typeface="Segoe UI" pitchFamily="34" charset="-122"/>
                <a:cs typeface="Segoe UI" pitchFamily="34" charset="-120"/>
              </a:rPr>
              <a:t>an auditable decision an officer can defend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6095848" y="950976"/>
            <a:ext cx="420624" cy="841248"/>
          </a:xfrm>
          <a:prstGeom prst="line">
            <a:avLst/>
          </a:prstGeom>
          <a:noFill/>
          <a:ln w="28575">
            <a:solidFill>
              <a:srgbClr val="FF6A1A"/>
            </a:solidFill>
            <a:prstDash val="solid"/>
          </a:ln>
        </p:spPr>
      </p:sp>
      <p:sp>
        <p:nvSpPr>
          <p:cNvPr id="3" name="Shape 1"/>
          <p:cNvSpPr/>
          <p:nvPr/>
        </p:nvSpPr>
        <p:spPr>
          <a:xfrm>
            <a:off x="5675224" y="1792224"/>
            <a:ext cx="841248" cy="0"/>
          </a:xfrm>
          <a:prstGeom prst="line">
            <a:avLst/>
          </a:prstGeom>
          <a:noFill/>
          <a:ln w="28575">
            <a:solidFill>
              <a:srgbClr val="FF6A1A"/>
            </a:solidFill>
            <a:prstDash val="solid"/>
          </a:ln>
        </p:spPr>
      </p:sp>
      <p:sp>
        <p:nvSpPr>
          <p:cNvPr id="4" name="Shape 2"/>
          <p:cNvSpPr/>
          <p:nvPr/>
        </p:nvSpPr>
        <p:spPr>
          <a:xfrm flipH="1">
            <a:off x="5675224" y="950976"/>
            <a:ext cx="420624" cy="841248"/>
          </a:xfrm>
          <a:prstGeom prst="line">
            <a:avLst/>
          </a:prstGeom>
          <a:noFill/>
          <a:ln w="28575">
            <a:solidFill>
              <a:srgbClr val="FF6A1A"/>
            </a:solidFill>
            <a:prstDash val="solid"/>
          </a:ln>
        </p:spPr>
      </p:sp>
      <p:sp>
        <p:nvSpPr>
          <p:cNvPr id="5" name="Shape 3"/>
          <p:cNvSpPr/>
          <p:nvPr/>
        </p:nvSpPr>
        <p:spPr>
          <a:xfrm>
            <a:off x="5919186" y="1396837"/>
            <a:ext cx="353324" cy="218724"/>
          </a:xfrm>
          <a:prstGeom prst="ellipse">
            <a:avLst/>
          </a:prstGeom>
          <a:ln w="22225">
            <a:solidFill>
              <a:srgbClr val="FF6A1A"/>
            </a:solidFill>
            <a:prstDash val="solid"/>
          </a:ln>
        </p:spPr>
      </p:sp>
      <p:sp>
        <p:nvSpPr>
          <p:cNvPr id="6" name="Shape 4"/>
          <p:cNvSpPr/>
          <p:nvPr/>
        </p:nvSpPr>
        <p:spPr>
          <a:xfrm>
            <a:off x="6060095" y="1470447"/>
            <a:ext cx="71506" cy="71506"/>
          </a:xfrm>
          <a:prstGeom prst="ellipse">
            <a:avLst/>
          </a:prstGeom>
          <a:solidFill>
            <a:srgbClr val="FF6A1A"/>
          </a:solidFill>
          <a:ln/>
        </p:spPr>
      </p:sp>
      <p:sp>
        <p:nvSpPr>
          <p:cNvPr id="7" name="Text 5"/>
          <p:cNvSpPr/>
          <p:nvPr/>
        </p:nvSpPr>
        <p:spPr>
          <a:xfrm>
            <a:off x="0" y="2286000"/>
            <a:ext cx="12191695" cy="1554480"/>
          </a:xfrm>
          <a:prstGeom prst="rect">
            <a:avLst/>
          </a:prstGeom>
          <a:noFill/>
          <a:ln/>
        </p:spPr>
        <p:txBody>
          <a:bodyPr wrap="square" lIns="0" tIns="0" rIns="0" bIns="0" rtlCol="0" anchor="t"/>
          <a:lstStyle/>
          <a:p>
            <a:pPr algn="ctr" indent="0" marL="0">
              <a:lnSpc>
                <a:spcPct val="106000"/>
              </a:lnSpc>
              <a:buNone/>
            </a:pPr>
            <a:r>
              <a:rPr lang="en-US" sz="4200" dirty="0">
                <a:solidFill>
                  <a:srgbClr val="FBF6EC"/>
                </a:solidFill>
                <a:latin typeface="Bahnschrift SemiBold" pitchFamily="34" charset="0"/>
                <a:ea typeface="Bahnschrift SemiBold" pitchFamily="34" charset="-122"/>
                <a:cs typeface="Bahnschrift SemiBold" pitchFamily="34" charset="-120"/>
              </a:rPr>
              <a:t>Three workers a day.</a:t>
            </a:r>
            <a:endParaRPr lang="en-US" sz="4200" dirty="0"/>
          </a:p>
          <a:p>
            <a:pPr algn="ctr" indent="0" marL="0">
              <a:lnSpc>
                <a:spcPct val="106000"/>
              </a:lnSpc>
              <a:buNone/>
            </a:pPr>
            <a:r>
              <a:rPr lang="en-US" sz="4200" dirty="0">
                <a:solidFill>
                  <a:srgbClr val="FBF6EC"/>
                </a:solidFill>
                <a:latin typeface="Bahnschrift SemiBold" pitchFamily="34" charset="0"/>
                <a:ea typeface="Bahnschrift SemiBold" pitchFamily="34" charset="-122"/>
                <a:cs typeface="Bahnschrift SemiBold" pitchFamily="34" charset="-120"/>
              </a:rPr>
              <a:t>The data already exists.</a:t>
            </a:r>
            <a:endParaRPr lang="en-US" sz="4200" dirty="0"/>
          </a:p>
        </p:txBody>
      </p:sp>
      <p:sp>
        <p:nvSpPr>
          <p:cNvPr id="8" name="Shape 6"/>
          <p:cNvSpPr/>
          <p:nvPr/>
        </p:nvSpPr>
        <p:spPr>
          <a:xfrm>
            <a:off x="5090008" y="3977640"/>
            <a:ext cx="2011680" cy="27432"/>
          </a:xfrm>
          <a:prstGeom prst="rect">
            <a:avLst/>
          </a:prstGeom>
          <a:solidFill>
            <a:srgbClr val="FF6A1A"/>
          </a:solidFill>
          <a:ln/>
        </p:spPr>
      </p:sp>
      <p:sp>
        <p:nvSpPr>
          <p:cNvPr id="9" name="Text 7"/>
          <p:cNvSpPr/>
          <p:nvPr/>
        </p:nvSpPr>
        <p:spPr>
          <a:xfrm>
            <a:off x="0" y="4224528"/>
            <a:ext cx="12191695" cy="548640"/>
          </a:xfrm>
          <a:prstGeom prst="rect">
            <a:avLst/>
          </a:prstGeom>
          <a:noFill/>
          <a:ln/>
        </p:spPr>
        <p:txBody>
          <a:bodyPr wrap="square" lIns="0" tIns="0" rIns="0" bIns="0" rtlCol="0" anchor="t"/>
          <a:lstStyle/>
          <a:p>
            <a:pPr algn="ctr" indent="0" marL="0">
              <a:buNone/>
            </a:pPr>
            <a:r>
              <a:rPr lang="en-US" sz="2600" dirty="0">
                <a:solidFill>
                  <a:srgbClr val="FF6A1A"/>
                </a:solidFill>
                <a:latin typeface="Bahnschrift Light" pitchFamily="34" charset="0"/>
                <a:ea typeface="Bahnschrift Light" pitchFamily="34" charset="-122"/>
                <a:cs typeface="Bahnschrift Light" pitchFamily="34" charset="-120"/>
              </a:rPr>
              <a:t>Trinetra is the layer that acts — before, not after.</a:t>
            </a:r>
            <a:endParaRPr lang="en-US" sz="2600" dirty="0"/>
          </a:p>
        </p:txBody>
      </p:sp>
      <p:sp>
        <p:nvSpPr>
          <p:cNvPr id="10" name="Text 8"/>
          <p:cNvSpPr/>
          <p:nvPr/>
        </p:nvSpPr>
        <p:spPr>
          <a:xfrm>
            <a:off x="0" y="5257800"/>
            <a:ext cx="12191695" cy="365760"/>
          </a:xfrm>
          <a:prstGeom prst="rect">
            <a:avLst/>
          </a:prstGeom>
          <a:noFill/>
          <a:ln/>
        </p:spPr>
        <p:txBody>
          <a:bodyPr wrap="square" lIns="0" tIns="0" rIns="0" bIns="0" rtlCol="0" anchor="t"/>
          <a:lstStyle/>
          <a:p>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100%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recall</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false-positive</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7.4</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min lead</a:t>
            </a:r>
            <a:endParaRPr lang="en-US" sz="1400" dirty="0"/>
          </a:p>
        </p:txBody>
      </p:sp>
      <p:sp>
        <p:nvSpPr>
          <p:cNvPr id="11" name="Text 9"/>
          <p:cNvSpPr/>
          <p:nvPr/>
        </p:nvSpPr>
        <p:spPr>
          <a:xfrm>
            <a:off x="0" y="6263640"/>
            <a:ext cx="12191695" cy="274320"/>
          </a:xfrm>
          <a:prstGeom prst="rect">
            <a:avLst/>
          </a:prstGeom>
          <a:noFill/>
          <a:ln/>
        </p:spPr>
        <p:txBody>
          <a:bodyPr wrap="square" lIns="0" tIns="0" rIns="0" bIns="0" rtlCol="0" anchor="t"/>
          <a:lstStyle/>
          <a:p>
            <a:pPr algn="ctr" indent="0" marL="0">
              <a:buNone/>
            </a:pPr>
            <a:r>
              <a:rPr lang="en-US" sz="950" spc="200" kern="0" dirty="0">
                <a:solidFill>
                  <a:srgbClr val="8A7B68"/>
                </a:solidFill>
                <a:latin typeface="Cascadia Mono" pitchFamily="34" charset="0"/>
                <a:ea typeface="Cascadia Mono" pitchFamily="34" charset="-122"/>
                <a:cs typeface="Cascadia Mono" pitchFamily="34" charset="-120"/>
              </a:rPr>
              <a:t>TRINETRA   ·   SAUD SATOPAY</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Trinetra</dc:title>
  <dc:subject>PptxGenJS Presentation</dc:subject>
  <dc:creator>Saud Satopay</dc:creator>
  <cp:lastModifiedBy>Saud Satopay</cp:lastModifiedBy>
  <cp:revision>1</cp:revision>
  <dcterms:created xsi:type="dcterms:W3CDTF">2026-06-25T17:23:23Z</dcterms:created>
  <dcterms:modified xsi:type="dcterms:W3CDTF">2026-06-25T17:23:23Z</dcterms:modified>
</cp:coreProperties>
</file>